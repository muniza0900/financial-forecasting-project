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70" r:id="rId4"/>
    <p:sldId id="315" r:id="rId5"/>
    <p:sldId id="314" r:id="rId6"/>
    <p:sldId id="316" r:id="rId7"/>
    <p:sldId id="317" r:id="rId8"/>
    <p:sldId id="318" r:id="rId9"/>
    <p:sldId id="259" r:id="rId10"/>
    <p:sldId id="289" r:id="rId11"/>
    <p:sldId id="301" r:id="rId12"/>
    <p:sldId id="261" r:id="rId13"/>
    <p:sldId id="290" r:id="rId14"/>
    <p:sldId id="262" r:id="rId15"/>
    <p:sldId id="302" r:id="rId16"/>
    <p:sldId id="291" r:id="rId17"/>
    <p:sldId id="263" r:id="rId18"/>
    <p:sldId id="303" r:id="rId19"/>
    <p:sldId id="304" r:id="rId20"/>
    <p:sldId id="264" r:id="rId21"/>
    <p:sldId id="267" r:id="rId22"/>
    <p:sldId id="306" r:id="rId23"/>
    <p:sldId id="319" r:id="rId24"/>
    <p:sldId id="305" r:id="rId25"/>
    <p:sldId id="268" r:id="rId26"/>
    <p:sldId id="284" r:id="rId27"/>
    <p:sldId id="271" r:id="rId28"/>
    <p:sldId id="293" r:id="rId29"/>
    <p:sldId id="272" r:id="rId30"/>
    <p:sldId id="273" r:id="rId31"/>
    <p:sldId id="274" r:id="rId32"/>
    <p:sldId id="294" r:id="rId33"/>
    <p:sldId id="320" r:id="rId34"/>
    <p:sldId id="275" r:id="rId35"/>
    <p:sldId id="276" r:id="rId36"/>
    <p:sldId id="295" r:id="rId37"/>
    <p:sldId id="321" r:id="rId38"/>
    <p:sldId id="277" r:id="rId39"/>
    <p:sldId id="285" r:id="rId40"/>
    <p:sldId id="296" r:id="rId41"/>
    <p:sldId id="278" r:id="rId42"/>
    <p:sldId id="279" r:id="rId43"/>
    <p:sldId id="297" r:id="rId44"/>
    <p:sldId id="280" r:id="rId45"/>
    <p:sldId id="282" r:id="rId46"/>
    <p:sldId id="298" r:id="rId47"/>
    <p:sldId id="286" r:id="rId48"/>
    <p:sldId id="322" r:id="rId49"/>
    <p:sldId id="299" r:id="rId50"/>
    <p:sldId id="283" r:id="rId51"/>
    <p:sldId id="307" r:id="rId52"/>
    <p:sldId id="300" r:id="rId53"/>
    <p:sldId id="287" r:id="rId54"/>
    <p:sldId id="313" r:id="rId55"/>
    <p:sldId id="308" r:id="rId56"/>
    <p:sldId id="310" r:id="rId57"/>
    <p:sldId id="288" r:id="rId58"/>
    <p:sldId id="309" r:id="rId59"/>
    <p:sldId id="311" r:id="rId60"/>
    <p:sldId id="312" r:id="rId61"/>
    <p:sldId id="260" r:id="rId6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3399FF"/>
    <a:srgbClr val="FFCC00"/>
    <a:srgbClr val="5C3C2F"/>
    <a:srgbClr val="FF00FF"/>
    <a:srgbClr val="66FF99"/>
    <a:srgbClr val="006600"/>
    <a:srgbClr val="004C00"/>
    <a:srgbClr val="00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>
      <p:cViewPr varScale="1">
        <p:scale>
          <a:sx n="93" d="100"/>
          <a:sy n="93" d="100"/>
        </p:scale>
        <p:origin x="516" y="1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85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1172" y="2930709"/>
            <a:ext cx="7779529" cy="1315651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490" y="4192811"/>
            <a:ext cx="7789240" cy="574452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tx2">
                    <a:lumMod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/>
          <a:lstStyle>
            <a:lvl1pPr algn="l"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6B10CD-659C-282A-21F4-FB69DA57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17700"/>
            <a:ext cx="8229599" cy="763525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575" y="317700"/>
            <a:ext cx="6544225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575" y="1076896"/>
            <a:ext cx="6544225" cy="3694697"/>
          </a:xfrm>
        </p:spPr>
        <p:txBody>
          <a:bodyPr/>
          <a:lstStyle>
            <a:lvl1pPr algn="l"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7" y="1392286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222" y="1995719"/>
            <a:ext cx="4041775" cy="2771541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392286"/>
            <a:ext cx="4041775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95719"/>
            <a:ext cx="4041775" cy="277154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F6862A-1920-9176-6FDB-E2673959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17700"/>
            <a:ext cx="8229599" cy="763525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5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49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7867" y="3335275"/>
            <a:ext cx="8293863" cy="1315651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COURSE INSTRUCTOR</a:t>
            </a:r>
            <a:br>
              <a:rPr lang="en-US" sz="2800" b="1" dirty="0" smtClean="0"/>
            </a:br>
            <a:r>
              <a:rPr lang="en-US" sz="2800" b="1" dirty="0" smtClean="0"/>
              <a:t>SIR DANIYAL HUSSAIN</a:t>
            </a:r>
            <a:br>
              <a:rPr lang="en-US" sz="2800" b="1" dirty="0" smtClean="0"/>
            </a:br>
            <a:r>
              <a:rPr lang="en-US" sz="2800" b="1" dirty="0" smtClean="0"/>
              <a:t>COURSE NO 617 </a:t>
            </a:r>
            <a:br>
              <a:rPr lang="en-US" sz="2800" b="1" dirty="0" smtClean="0"/>
            </a:br>
            <a:r>
              <a:rPr lang="en-US" sz="2800" b="1" dirty="0" smtClean="0"/>
              <a:t>FINANCIAL STIMULATION(I)</a:t>
            </a:r>
            <a:endParaRPr lang="en-US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490" y="3793390"/>
            <a:ext cx="7789240" cy="97387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MUNIZA BASHIR                        </a:t>
            </a:r>
          </a:p>
          <a:p>
            <a:r>
              <a:rPr lang="en-US" sz="2400" b="1" dirty="0" smtClean="0"/>
              <a:t>B21120206035</a:t>
            </a:r>
            <a:endParaRPr lang="en-US" sz="2400" b="1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48965" y="1117278"/>
            <a:ext cx="8293863" cy="13156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r" defTabSz="91437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FINANCIAL FORECASTING PIPELINE</a:t>
            </a:r>
            <a:endParaRPr lang="en-US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17700"/>
            <a:ext cx="8229599" cy="763525"/>
          </a:xfrm>
        </p:spPr>
        <p:txBody>
          <a:bodyPr>
            <a:noAutofit/>
          </a:bodyPr>
          <a:lstStyle/>
          <a:p>
            <a:r>
              <a:rPr lang="en-US" dirty="0"/>
              <a:t>Financial Forecasting Pipeline 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7200" y="1170184"/>
            <a:ext cx="741126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acquisition from Yahoo Finance.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techniques.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Modeling approaches (Linear Regression and ARIMA).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of actual vs. predicted prices.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Interpretations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/>
          <a:lstStyle/>
          <a:p>
            <a:r>
              <a:rPr lang="en-US" sz="3600" b="1" dirty="0"/>
              <a:t>Objective: </a:t>
            </a:r>
            <a:endParaRPr lang="en-US" sz="3600" b="1" dirty="0" smtClean="0"/>
          </a:p>
          <a:p>
            <a:r>
              <a:rPr lang="en-US" dirty="0" smtClean="0"/>
              <a:t>Forecast </a:t>
            </a:r>
            <a:r>
              <a:rPr lang="en-US" dirty="0"/>
              <a:t>financial indicators for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FFC (FAUJI FERTILIZER COMPANY)</a:t>
            </a:r>
            <a:endParaRPr lang="en-US" dirty="0"/>
          </a:p>
          <a:p>
            <a:r>
              <a:rPr lang="en-US" sz="3600" b="1" dirty="0"/>
              <a:t>Approach: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Collection ➔ Preprocessing ➔ Modeling ➔ Evaluation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31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/>
          <a:lstStyle/>
          <a:p>
            <a:endParaRPr lang="en-US" dirty="0"/>
          </a:p>
          <a:p>
            <a:pPr marL="0" indent="0" algn="ctr">
              <a:lnSpc>
                <a:spcPct val="25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9874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COLLECTION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529286"/>
            <a:ext cx="783099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Data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Downloaded using </a:t>
            </a:r>
            <a:r>
              <a:rPr lang="en-US" altLang="en-US" b="1" dirty="0" err="1">
                <a:solidFill>
                  <a:srgbClr val="0070C0"/>
                </a:solidFill>
              </a:rPr>
              <a:t>yfinance</a:t>
            </a:r>
            <a:endParaRPr lang="en-US" altLang="en-US" b="1" dirty="0">
              <a:solidFill>
                <a:srgbClr val="0070C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Credit Risk Data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Generated using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numpy</a:t>
            </a: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Revenue/Expense Data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Generated for time series forecasting</a:t>
            </a:r>
          </a:p>
        </p:txBody>
      </p:sp>
    </p:spTree>
    <p:extLst>
      <p:ext uri="{BB962C8B-B14F-4D97-AF65-F5344CB8AC3E}">
        <p14:creationId xmlns:p14="http://schemas.microsoft.com/office/powerpoint/2010/main" val="43657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566219"/>
            <a:ext cx="6710785" cy="103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Calculated </a:t>
            </a:r>
            <a:r>
              <a:rPr lang="en-US" sz="1800" b="1" dirty="0">
                <a:solidFill>
                  <a:schemeClr val="tx2"/>
                </a:solidFill>
              </a:rPr>
              <a:t>Log Returns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b="1" dirty="0">
                <a:solidFill>
                  <a:schemeClr val="tx2"/>
                </a:solidFill>
              </a:rPr>
              <a:t>SMA_30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b="1" dirty="0">
                <a:solidFill>
                  <a:schemeClr val="tx2"/>
                </a:solidFill>
              </a:rPr>
              <a:t>Volatility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for stocks</a:t>
            </a:r>
          </a:p>
          <a:p>
            <a:r>
              <a:rPr lang="en-US" sz="1800" dirty="0">
                <a:solidFill>
                  <a:schemeClr val="tx1"/>
                </a:solidFill>
              </a:rPr>
              <a:t>Created features for credit and revenue datasets</a:t>
            </a:r>
          </a:p>
          <a:p>
            <a:r>
              <a:rPr lang="en-US" sz="1800" dirty="0">
                <a:solidFill>
                  <a:schemeClr val="tx1"/>
                </a:solidFill>
              </a:rPr>
              <a:t>Train-Test split for all models</a:t>
            </a:r>
          </a:p>
        </p:txBody>
      </p:sp>
    </p:spTree>
    <p:extLst>
      <p:ext uri="{BB962C8B-B14F-4D97-AF65-F5344CB8AC3E}">
        <p14:creationId xmlns:p14="http://schemas.microsoft.com/office/powerpoint/2010/main" val="16347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TECHNIQUES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400020"/>
            <a:ext cx="6750246" cy="136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Linear Regression</a:t>
            </a:r>
            <a:r>
              <a:rPr lang="en-US" sz="1800" dirty="0">
                <a:solidFill>
                  <a:schemeClr val="tx1"/>
                </a:solidFill>
              </a:rPr>
              <a:t> for Stock Closing Prices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ARIMA</a:t>
            </a:r>
            <a:r>
              <a:rPr lang="en-US" sz="1800" dirty="0">
                <a:solidFill>
                  <a:schemeClr val="tx1"/>
                </a:solidFill>
              </a:rPr>
              <a:t> for Stock Price Forecasting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Logistic Regression and Decision Tree</a:t>
            </a:r>
            <a:r>
              <a:rPr lang="en-US" sz="1800" dirty="0">
                <a:solidFill>
                  <a:schemeClr val="tx1"/>
                </a:solidFill>
              </a:rPr>
              <a:t> for Credit Default Prediction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Linear Regression</a:t>
            </a:r>
            <a:r>
              <a:rPr lang="en-US" sz="1800" dirty="0">
                <a:solidFill>
                  <a:schemeClr val="tx1"/>
                </a:solidFill>
              </a:rPr>
              <a:t> for Revenue Prediction</a:t>
            </a:r>
          </a:p>
        </p:txBody>
      </p:sp>
    </p:spTree>
    <p:extLst>
      <p:ext uri="{BB962C8B-B14F-4D97-AF65-F5344CB8AC3E}">
        <p14:creationId xmlns:p14="http://schemas.microsoft.com/office/powerpoint/2010/main" val="82984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WORKFLOW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(VISUAL SUMMARY)</a:t>
            </a:r>
          </a:p>
        </p:txBody>
      </p:sp>
    </p:spTree>
    <p:extLst>
      <p:ext uri="{BB962C8B-B14F-4D97-AF65-F5344CB8AC3E}">
        <p14:creationId xmlns:p14="http://schemas.microsoft.com/office/powerpoint/2010/main" val="54892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2575" y="317701"/>
            <a:ext cx="6544225" cy="727000"/>
          </a:xfrm>
        </p:spPr>
        <p:txBody>
          <a:bodyPr>
            <a:normAutofit/>
          </a:bodyPr>
          <a:lstStyle/>
          <a:p>
            <a:r>
              <a:rPr lang="en-US" dirty="0" smtClean="0"/>
              <a:t>IMPORT LIBRARIES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1044700"/>
            <a:ext cx="7940660" cy="381762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# Install necessary packages</a:t>
            </a:r>
          </a:p>
          <a:p>
            <a:pPr marL="0" indent="0">
              <a:buNone/>
            </a:pPr>
            <a:r>
              <a:rPr lang="en-US" dirty="0"/>
              <a:t>!pip install </a:t>
            </a:r>
            <a:r>
              <a:rPr lang="en-US" dirty="0" err="1"/>
              <a:t>yfinance</a:t>
            </a:r>
            <a:r>
              <a:rPr lang="en-US" dirty="0"/>
              <a:t> pandas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scikit</a:t>
            </a:r>
            <a:r>
              <a:rPr lang="en-US" dirty="0"/>
              <a:t>-learn </a:t>
            </a:r>
            <a:r>
              <a:rPr lang="en-US" dirty="0" err="1"/>
              <a:t>matplotlib</a:t>
            </a:r>
            <a:r>
              <a:rPr lang="en-US" dirty="0"/>
              <a:t> </a:t>
            </a:r>
            <a:r>
              <a:rPr lang="en-US" dirty="0" err="1"/>
              <a:t>seaborn</a:t>
            </a:r>
            <a:r>
              <a:rPr lang="en-US" dirty="0"/>
              <a:t> </a:t>
            </a:r>
            <a:r>
              <a:rPr lang="en-US" dirty="0" err="1"/>
              <a:t>statsmodels</a:t>
            </a:r>
            <a:r>
              <a:rPr lang="en-US" dirty="0"/>
              <a:t> </a:t>
            </a:r>
            <a:r>
              <a:rPr lang="en-US" dirty="0" err="1"/>
              <a:t>scipy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Import Libraries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import pandas as </a:t>
            </a:r>
            <a:r>
              <a:rPr lang="en-US" dirty="0" err="1"/>
              <a:t>pd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seaborn</a:t>
            </a:r>
            <a:r>
              <a:rPr lang="en-US" dirty="0"/>
              <a:t>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yfinance</a:t>
            </a:r>
            <a:r>
              <a:rPr lang="en-US" dirty="0"/>
              <a:t> as </a:t>
            </a:r>
            <a:r>
              <a:rPr lang="en-US" dirty="0" err="1" smtClean="0"/>
              <a:t>yf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r>
              <a:rPr lang="en-US" dirty="0"/>
              <a:t>, </a:t>
            </a:r>
            <a:r>
              <a:rPr lang="en-US" dirty="0" err="1"/>
              <a:t>LogisticRegression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sklearn.tree</a:t>
            </a:r>
            <a:r>
              <a:rPr lang="en-US" dirty="0"/>
              <a:t> import </a:t>
            </a:r>
            <a:r>
              <a:rPr lang="en-US" dirty="0" err="1"/>
              <a:t>DecisionTreeClassifier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mean_squared_error</a:t>
            </a:r>
            <a:r>
              <a:rPr lang="en-US" dirty="0"/>
              <a:t>, </a:t>
            </a:r>
            <a:r>
              <a:rPr lang="en-US" dirty="0" err="1"/>
              <a:t>mean_absolute_error</a:t>
            </a:r>
            <a:r>
              <a:rPr lang="en-US" dirty="0"/>
              <a:t>, r2_score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precision_score</a:t>
            </a:r>
            <a:r>
              <a:rPr lang="en-US" dirty="0"/>
              <a:t>, </a:t>
            </a:r>
            <a:r>
              <a:rPr lang="en-US" dirty="0" err="1"/>
              <a:t>recall_score</a:t>
            </a:r>
            <a:r>
              <a:rPr lang="en-US" dirty="0"/>
              <a:t>, f1_score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statsmodels.api</a:t>
            </a:r>
            <a:r>
              <a:rPr lang="en-US" dirty="0"/>
              <a:t> as </a:t>
            </a:r>
            <a:r>
              <a:rPr lang="en-US" dirty="0" err="1"/>
              <a:t>sm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statsmodels.tsa.arima.model</a:t>
            </a:r>
            <a:r>
              <a:rPr lang="en-US" dirty="0"/>
              <a:t> import ARIMA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scipy.stats</a:t>
            </a:r>
            <a:r>
              <a:rPr lang="en-US" dirty="0"/>
              <a:t> import norm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/>
          <a:lstStyle/>
          <a:p>
            <a:endParaRPr lang="en-US" dirty="0"/>
          </a:p>
          <a:p>
            <a:pPr marL="0" indent="0" algn="ctr">
              <a:lnSpc>
                <a:spcPct val="25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DOWNLOAD STOCK DATA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043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ownload Financial Data From Yahoo! Finance With Matlab | Dr. Antonis  Alexandridis' Research Webp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1655520"/>
            <a:ext cx="8093364" cy="335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3961180" y="-106502"/>
            <a:ext cx="5039266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Acquisition &amp; Preparation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895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idx="1"/>
          </p:nvPr>
        </p:nvSpPr>
        <p:spPr>
          <a:xfrm>
            <a:off x="1823310" y="739290"/>
            <a:ext cx="6543675" cy="36957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# Download stock data</a:t>
            </a:r>
          </a:p>
          <a:p>
            <a:r>
              <a:rPr lang="en-US" dirty="0" err="1"/>
              <a:t>stock_data</a:t>
            </a:r>
            <a:r>
              <a:rPr lang="en-US" dirty="0"/>
              <a:t> = </a:t>
            </a:r>
            <a:r>
              <a:rPr lang="en-US" dirty="0" err="1"/>
              <a:t>yf.download</a:t>
            </a:r>
            <a:r>
              <a:rPr lang="en-US" dirty="0"/>
              <a:t>('FFC', start='2018-01-01', end='2023-01-01')</a:t>
            </a:r>
          </a:p>
          <a:p>
            <a:r>
              <a:rPr lang="en-US" dirty="0" err="1"/>
              <a:t>stock_data</a:t>
            </a:r>
            <a:r>
              <a:rPr lang="en-US" dirty="0"/>
              <a:t> = </a:t>
            </a:r>
            <a:r>
              <a:rPr lang="en-US" dirty="0" err="1"/>
              <a:t>stock_data.dropna</a:t>
            </a:r>
            <a:r>
              <a:rPr lang="en-US" dirty="0"/>
              <a:t>()</a:t>
            </a:r>
          </a:p>
          <a:p>
            <a:r>
              <a:rPr lang="en-US" dirty="0" err="1"/>
              <a:t>stock_data</a:t>
            </a:r>
            <a:r>
              <a:rPr lang="en-US" dirty="0"/>
              <a:t>['</a:t>
            </a:r>
            <a:r>
              <a:rPr lang="en-US" dirty="0" err="1"/>
              <a:t>Log_Returns</a:t>
            </a:r>
            <a:r>
              <a:rPr lang="en-US" dirty="0"/>
              <a:t>'] = np.log(</a:t>
            </a:r>
            <a:r>
              <a:rPr lang="en-US" dirty="0" err="1"/>
              <a:t>stock_data</a:t>
            </a:r>
            <a:r>
              <a:rPr lang="en-US" dirty="0"/>
              <a:t>['Close'] / </a:t>
            </a:r>
            <a:r>
              <a:rPr lang="en-US" dirty="0" err="1"/>
              <a:t>stock_data</a:t>
            </a:r>
            <a:r>
              <a:rPr lang="en-US" dirty="0"/>
              <a:t>['Close'].shift(1))</a:t>
            </a:r>
          </a:p>
          <a:p>
            <a:r>
              <a:rPr lang="en-US" dirty="0" err="1"/>
              <a:t>stock_data</a:t>
            </a:r>
            <a:r>
              <a:rPr lang="en-US" dirty="0"/>
              <a:t>['SMA_30'] = </a:t>
            </a:r>
            <a:r>
              <a:rPr lang="en-US" dirty="0" err="1"/>
              <a:t>stock_data</a:t>
            </a:r>
            <a:r>
              <a:rPr lang="en-US" dirty="0"/>
              <a:t>['Close'].rolling(window=30).mean()</a:t>
            </a:r>
          </a:p>
          <a:p>
            <a:r>
              <a:rPr lang="en-US" dirty="0" err="1"/>
              <a:t>stock_data</a:t>
            </a:r>
            <a:r>
              <a:rPr lang="en-US" dirty="0"/>
              <a:t>['Volatility'] = </a:t>
            </a:r>
            <a:r>
              <a:rPr lang="en-US" dirty="0" err="1"/>
              <a:t>stock_data</a:t>
            </a:r>
            <a:r>
              <a:rPr lang="en-US" dirty="0"/>
              <a:t>['</a:t>
            </a:r>
            <a:r>
              <a:rPr lang="en-US" dirty="0" err="1"/>
              <a:t>Log_Returns</a:t>
            </a:r>
            <a:r>
              <a:rPr lang="en-US" dirty="0"/>
              <a:t>'].rolling(window=30).</a:t>
            </a:r>
            <a:r>
              <a:rPr lang="en-US" dirty="0" err="1"/>
              <a:t>std</a:t>
            </a:r>
            <a:r>
              <a:rPr lang="en-US" dirty="0"/>
              <a:t>()</a:t>
            </a:r>
          </a:p>
          <a:p>
            <a:r>
              <a:rPr lang="en-US" dirty="0" err="1"/>
              <a:t>stock_data</a:t>
            </a:r>
            <a:r>
              <a:rPr lang="en-US" dirty="0"/>
              <a:t> = </a:t>
            </a:r>
            <a:r>
              <a:rPr lang="en-US" dirty="0" err="1"/>
              <a:t>stock_data.dropna</a:t>
            </a:r>
            <a:r>
              <a:rPr lang="en-US" dirty="0"/>
              <a:t>()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# Show data</a:t>
            </a:r>
          </a:p>
          <a:p>
            <a:r>
              <a:rPr lang="en-US" dirty="0" err="1"/>
              <a:t>stock_data.head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2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SYNTHETIC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 RISK DATA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236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6" y="433880"/>
            <a:ext cx="7482544" cy="442844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# Create synthetic Credit Risk Data</a:t>
            </a:r>
          </a:p>
          <a:p>
            <a:r>
              <a:rPr lang="en-US" dirty="0" err="1"/>
              <a:t>np.random.seed</a:t>
            </a:r>
            <a:r>
              <a:rPr lang="en-US" dirty="0"/>
              <a:t>(42)</a:t>
            </a:r>
          </a:p>
          <a:p>
            <a:r>
              <a:rPr lang="en-US" dirty="0" err="1"/>
              <a:t>n_samples</a:t>
            </a:r>
            <a:r>
              <a:rPr lang="en-US" dirty="0"/>
              <a:t> = 1000</a:t>
            </a:r>
          </a:p>
          <a:p>
            <a:r>
              <a:rPr lang="en-US" dirty="0" err="1"/>
              <a:t>credit_data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r>
              <a:rPr lang="en-US" dirty="0"/>
              <a:t>    '</a:t>
            </a:r>
            <a:r>
              <a:rPr lang="en-US" dirty="0" err="1"/>
              <a:t>credit_score</a:t>
            </a:r>
            <a:r>
              <a:rPr lang="en-US" dirty="0"/>
              <a:t>': </a:t>
            </a:r>
            <a:r>
              <a:rPr lang="en-US" dirty="0" err="1"/>
              <a:t>np.random.normal</a:t>
            </a:r>
            <a:r>
              <a:rPr lang="en-US" dirty="0"/>
              <a:t>(700, 50, </a:t>
            </a:r>
            <a:r>
              <a:rPr lang="en-US" dirty="0" err="1"/>
              <a:t>n_samples</a:t>
            </a:r>
            <a:r>
              <a:rPr lang="en-US" dirty="0"/>
              <a:t>),</a:t>
            </a:r>
          </a:p>
          <a:p>
            <a:r>
              <a:rPr lang="en-US" dirty="0"/>
              <a:t>    'income': </a:t>
            </a:r>
            <a:r>
              <a:rPr lang="en-US" dirty="0" err="1"/>
              <a:t>np.random.normal</a:t>
            </a:r>
            <a:r>
              <a:rPr lang="en-US" dirty="0"/>
              <a:t>(50000, 15000, </a:t>
            </a:r>
            <a:r>
              <a:rPr lang="en-US" dirty="0" err="1"/>
              <a:t>n_samples</a:t>
            </a:r>
            <a:r>
              <a:rPr lang="en-US" dirty="0"/>
              <a:t>),</a:t>
            </a:r>
          </a:p>
          <a:p>
            <a:r>
              <a:rPr lang="en-US" dirty="0"/>
              <a:t>    '</a:t>
            </a:r>
            <a:r>
              <a:rPr lang="en-US" dirty="0" err="1"/>
              <a:t>loan_amount</a:t>
            </a:r>
            <a:r>
              <a:rPr lang="en-US" dirty="0"/>
              <a:t>': </a:t>
            </a:r>
            <a:r>
              <a:rPr lang="en-US" dirty="0" err="1"/>
              <a:t>np.random.normal</a:t>
            </a:r>
            <a:r>
              <a:rPr lang="en-US" dirty="0"/>
              <a:t>(15000, 5000, </a:t>
            </a:r>
            <a:r>
              <a:rPr lang="en-US" dirty="0" err="1"/>
              <a:t>n_samples</a:t>
            </a:r>
            <a:r>
              <a:rPr lang="en-US" dirty="0"/>
              <a:t>),</a:t>
            </a:r>
          </a:p>
          <a:p>
            <a:r>
              <a:rPr lang="en-US" dirty="0"/>
              <a:t>    'default': </a:t>
            </a:r>
            <a:r>
              <a:rPr lang="en-US" dirty="0" err="1"/>
              <a:t>np.random.choice</a:t>
            </a:r>
            <a:r>
              <a:rPr lang="en-US" dirty="0"/>
              <a:t>([0, 1], size=</a:t>
            </a:r>
            <a:r>
              <a:rPr lang="en-US" dirty="0" err="1"/>
              <a:t>n_samples</a:t>
            </a:r>
            <a:r>
              <a:rPr lang="en-US" dirty="0"/>
              <a:t>, p=[0.85, 0.15])</a:t>
            </a:r>
          </a:p>
          <a:p>
            <a:r>
              <a:rPr lang="en-US" dirty="0"/>
              <a:t>})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credit_data.head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1639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310" y="1808225"/>
            <a:ext cx="5191970" cy="244327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smtClean="0"/>
              <a:t>OUTPUT: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881252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SYNTHETIC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REVENUE/EXPENSE DATA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2845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idx="1"/>
          </p:nvPr>
        </p:nvSpPr>
        <p:spPr>
          <a:xfrm>
            <a:off x="1517650" y="433388"/>
            <a:ext cx="7483475" cy="433863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# Create synthetic Revenue/Expense Data</a:t>
            </a:r>
          </a:p>
          <a:p>
            <a:r>
              <a:rPr lang="en-US" dirty="0" err="1"/>
              <a:t>np.random.seed</a:t>
            </a:r>
            <a:r>
              <a:rPr lang="en-US" dirty="0"/>
              <a:t>(42)</a:t>
            </a:r>
          </a:p>
          <a:p>
            <a:r>
              <a:rPr lang="en-US" dirty="0"/>
              <a:t>dates = </a:t>
            </a:r>
            <a:r>
              <a:rPr lang="en-US" dirty="0" err="1"/>
              <a:t>pd.date_range</a:t>
            </a:r>
            <a:r>
              <a:rPr lang="en-US" dirty="0"/>
              <a:t>(start='2018-01-01', periods=60, </a:t>
            </a:r>
            <a:r>
              <a:rPr lang="en-US" dirty="0" err="1"/>
              <a:t>freq</a:t>
            </a:r>
            <a:r>
              <a:rPr lang="en-US" dirty="0"/>
              <a:t>='M')</a:t>
            </a:r>
          </a:p>
          <a:p>
            <a:r>
              <a:rPr lang="en-US" dirty="0" err="1"/>
              <a:t>revenue_data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r>
              <a:rPr lang="en-US" dirty="0"/>
              <a:t>    'Date': dates,</a:t>
            </a:r>
          </a:p>
          <a:p>
            <a:r>
              <a:rPr lang="en-US" dirty="0"/>
              <a:t>    'Revenue': 50000 + </a:t>
            </a:r>
            <a:r>
              <a:rPr lang="en-US" dirty="0" err="1"/>
              <a:t>np.random.normal</a:t>
            </a:r>
            <a:r>
              <a:rPr lang="en-US" dirty="0"/>
              <a:t>(0, 5000, size=60).</a:t>
            </a:r>
            <a:r>
              <a:rPr lang="en-US" dirty="0" err="1"/>
              <a:t>cumsum</a:t>
            </a:r>
            <a:r>
              <a:rPr lang="en-US" dirty="0"/>
              <a:t>(),</a:t>
            </a:r>
          </a:p>
          <a:p>
            <a:r>
              <a:rPr lang="en-US" dirty="0"/>
              <a:t>    'Expenses': 30000 + </a:t>
            </a:r>
            <a:r>
              <a:rPr lang="en-US" dirty="0" err="1"/>
              <a:t>np.random.normal</a:t>
            </a:r>
            <a:r>
              <a:rPr lang="en-US" dirty="0"/>
              <a:t>(0, 3000, size=60).</a:t>
            </a:r>
            <a:r>
              <a:rPr lang="en-US" dirty="0" err="1"/>
              <a:t>cumsum</a:t>
            </a:r>
            <a:r>
              <a:rPr lang="en-US" dirty="0"/>
              <a:t>()</a:t>
            </a:r>
          </a:p>
          <a:p>
            <a:r>
              <a:rPr lang="en-US" dirty="0"/>
              <a:t>})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revenue_data</a:t>
            </a:r>
            <a:r>
              <a:rPr lang="en-US" dirty="0"/>
              <a:t>['Profit'] = </a:t>
            </a:r>
            <a:r>
              <a:rPr lang="en-US" dirty="0" err="1"/>
              <a:t>revenue_data</a:t>
            </a:r>
            <a:r>
              <a:rPr lang="en-US" dirty="0"/>
              <a:t>['Revenue'] - </a:t>
            </a:r>
            <a:r>
              <a:rPr lang="en-US" dirty="0" err="1"/>
              <a:t>revenue_data</a:t>
            </a:r>
            <a:r>
              <a:rPr lang="en-US" dirty="0"/>
              <a:t>['Expenses']</a:t>
            </a:r>
          </a:p>
          <a:p>
            <a:r>
              <a:rPr lang="en-US" dirty="0" err="1"/>
              <a:t>revenue_data.head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77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570" y="1808225"/>
            <a:ext cx="5054860" cy="244328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smtClean="0"/>
              <a:t>OUTPUT: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56937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VISUALIZATION OF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REVENUE/EXPENSE DATA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0444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281176"/>
            <a:ext cx="7482545" cy="47338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from </a:t>
            </a:r>
            <a:r>
              <a:rPr lang="en-US" dirty="0" err="1"/>
              <a:t>matplotlib</a:t>
            </a:r>
            <a:r>
              <a:rPr lang="en-US" dirty="0"/>
              <a:t> import </a:t>
            </a:r>
            <a:r>
              <a:rPr lang="en-US" dirty="0" err="1"/>
              <a:t>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seaborn</a:t>
            </a:r>
            <a:r>
              <a:rPr lang="en-US" dirty="0"/>
              <a:t> as </a:t>
            </a:r>
            <a:r>
              <a:rPr lang="en-US" dirty="0" err="1"/>
              <a:t>sns</a:t>
            </a:r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_</a:t>
            </a:r>
            <a:r>
              <a:rPr lang="en-US" dirty="0" err="1"/>
              <a:t>plot_series</a:t>
            </a:r>
            <a:r>
              <a:rPr lang="en-US" dirty="0"/>
              <a:t>(series, </a:t>
            </a:r>
            <a:r>
              <a:rPr lang="en-US" dirty="0" err="1"/>
              <a:t>series_name</a:t>
            </a:r>
            <a:r>
              <a:rPr lang="en-US" dirty="0"/>
              <a:t>, </a:t>
            </a:r>
            <a:r>
              <a:rPr lang="en-US" dirty="0" err="1"/>
              <a:t>series_index</a:t>
            </a:r>
            <a:r>
              <a:rPr lang="en-US" dirty="0"/>
              <a:t>=0):</a:t>
            </a:r>
          </a:p>
          <a:p>
            <a:r>
              <a:rPr lang="en-US" dirty="0"/>
              <a:t>  palette = list(</a:t>
            </a:r>
            <a:r>
              <a:rPr lang="en-US" dirty="0" err="1"/>
              <a:t>sns.palettes.mpl_palette</a:t>
            </a:r>
            <a:r>
              <a:rPr lang="en-US" dirty="0"/>
              <a:t>('Dark2'))</a:t>
            </a:r>
          </a:p>
          <a:p>
            <a:r>
              <a:rPr lang="en-US" dirty="0"/>
              <a:t>  </a:t>
            </a:r>
            <a:r>
              <a:rPr lang="en-US" dirty="0" err="1"/>
              <a:t>xs</a:t>
            </a:r>
            <a:r>
              <a:rPr lang="en-US" dirty="0"/>
              <a:t> = series['Date']</a:t>
            </a:r>
          </a:p>
          <a:p>
            <a:r>
              <a:rPr lang="en-US" dirty="0"/>
              <a:t>  </a:t>
            </a:r>
            <a:r>
              <a:rPr lang="en-US" dirty="0" err="1"/>
              <a:t>ys</a:t>
            </a:r>
            <a:r>
              <a:rPr lang="en-US" dirty="0"/>
              <a:t> = series['Expenses']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xs</a:t>
            </a:r>
            <a:r>
              <a:rPr lang="en-US" dirty="0"/>
              <a:t>, </a:t>
            </a:r>
            <a:r>
              <a:rPr lang="en-US" dirty="0" err="1"/>
              <a:t>ys</a:t>
            </a:r>
            <a:r>
              <a:rPr lang="en-US" dirty="0"/>
              <a:t>, label=</a:t>
            </a:r>
            <a:r>
              <a:rPr lang="en-US" dirty="0" err="1"/>
              <a:t>series_name</a:t>
            </a:r>
            <a:r>
              <a:rPr lang="en-US" dirty="0"/>
              <a:t>, color=palette[</a:t>
            </a:r>
            <a:r>
              <a:rPr lang="en-US" dirty="0" err="1"/>
              <a:t>series_index</a:t>
            </a:r>
            <a:r>
              <a:rPr lang="en-US" dirty="0"/>
              <a:t> % </a:t>
            </a:r>
            <a:r>
              <a:rPr lang="en-US" dirty="0" err="1"/>
              <a:t>len</a:t>
            </a:r>
            <a:r>
              <a:rPr lang="en-US" dirty="0"/>
              <a:t>(palette)])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fig, ax = </a:t>
            </a:r>
            <a:r>
              <a:rPr lang="en-US" dirty="0" err="1"/>
              <a:t>plt.subplots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 5.2), layout='constrained')</a:t>
            </a:r>
          </a:p>
          <a:p>
            <a:r>
              <a:rPr lang="en-US" dirty="0" err="1"/>
              <a:t>df_sorted</a:t>
            </a:r>
            <a:r>
              <a:rPr lang="en-US" dirty="0"/>
              <a:t> = _df_21.sort_values('Date', ascending=True)</a:t>
            </a:r>
          </a:p>
          <a:p>
            <a:r>
              <a:rPr lang="en-US" dirty="0"/>
              <a:t>_</a:t>
            </a:r>
            <a:r>
              <a:rPr lang="en-US" dirty="0" err="1"/>
              <a:t>plot_series</a:t>
            </a:r>
            <a:r>
              <a:rPr lang="en-US" dirty="0"/>
              <a:t>(</a:t>
            </a:r>
            <a:r>
              <a:rPr lang="en-US" dirty="0" err="1"/>
              <a:t>df_sorted</a:t>
            </a:r>
            <a:r>
              <a:rPr lang="en-US" dirty="0"/>
              <a:t>, '')</a:t>
            </a:r>
          </a:p>
          <a:p>
            <a:r>
              <a:rPr lang="en-US" dirty="0" err="1"/>
              <a:t>sns.despine</a:t>
            </a:r>
            <a:r>
              <a:rPr lang="en-US" dirty="0"/>
              <a:t>(fig=fig, ax=ax)</a:t>
            </a:r>
          </a:p>
          <a:p>
            <a:r>
              <a:rPr lang="en-US" dirty="0" err="1"/>
              <a:t>plt.xlabel</a:t>
            </a:r>
            <a:r>
              <a:rPr lang="en-US" dirty="0"/>
              <a:t>('Date')</a:t>
            </a:r>
          </a:p>
          <a:p>
            <a:r>
              <a:rPr lang="en-US" dirty="0"/>
              <a:t>_ = </a:t>
            </a:r>
            <a:r>
              <a:rPr lang="en-US" dirty="0" err="1"/>
              <a:t>plt.ylabel</a:t>
            </a:r>
            <a:r>
              <a:rPr lang="en-US" dirty="0"/>
              <a:t>('Expenses')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77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23310" y="433880"/>
            <a:ext cx="6544225" cy="26888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EXPENSES LINE GRAPH:</a:t>
            </a:r>
            <a:endParaRPr lang="en-US" b="1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310" y="1044700"/>
            <a:ext cx="6543675" cy="359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74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STOCK PRICE PREDICTION:</a:t>
            </a:r>
            <a:endParaRPr lang="en-US" dirty="0"/>
          </a:p>
        </p:txBody>
      </p:sp>
      <p:pic>
        <p:nvPicPr>
          <p:cNvPr id="11266" name="Picture 2" descr="Stock Price Prediction and Forecasting via an Object Oriented Programming |  by Abdullah Karasan | MagniData | Mediu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398588"/>
            <a:ext cx="7139639" cy="374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47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STOCK FORECASTING</a:t>
            </a:r>
            <a:endParaRPr lang="en-US" dirty="0"/>
          </a:p>
        </p:txBody>
      </p:sp>
      <p:sp>
        <p:nvSpPr>
          <p:cNvPr id="6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190733"/>
            <a:ext cx="472562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RMSE, MAE, R²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RMSE, MAE, R²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sample graph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(Actual vs Predicted)</a:t>
            </a:r>
          </a:p>
        </p:txBody>
      </p:sp>
    </p:spTree>
    <p:extLst>
      <p:ext uri="{BB962C8B-B14F-4D97-AF65-F5344CB8AC3E}">
        <p14:creationId xmlns:p14="http://schemas.microsoft.com/office/powerpoint/2010/main" val="2818782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Price Prediction </a:t>
            </a:r>
            <a:endParaRPr lang="en-US" sz="36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 Regression)</a:t>
            </a:r>
          </a:p>
        </p:txBody>
      </p:sp>
    </p:spTree>
    <p:extLst>
      <p:ext uri="{BB962C8B-B14F-4D97-AF65-F5344CB8AC3E}">
        <p14:creationId xmlns:p14="http://schemas.microsoft.com/office/powerpoint/2010/main" val="2268680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65195" y="433880"/>
            <a:ext cx="6544225" cy="421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CODING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739292"/>
            <a:ext cx="7321605" cy="403230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# Features and Target</a:t>
            </a:r>
          </a:p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stock_data</a:t>
            </a:r>
            <a:r>
              <a:rPr lang="en-US" dirty="0"/>
              <a:t>[['SMA_30', 'Volatility']]</a:t>
            </a:r>
          </a:p>
          <a:p>
            <a:pPr marL="0" indent="0">
              <a:buNone/>
            </a:pPr>
            <a:r>
              <a:rPr lang="en-US" dirty="0"/>
              <a:t>y = </a:t>
            </a:r>
            <a:r>
              <a:rPr lang="en-US" dirty="0" err="1"/>
              <a:t>stock_data</a:t>
            </a:r>
            <a:r>
              <a:rPr lang="en-US" dirty="0"/>
              <a:t>['Close']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Split the data</a:t>
            </a:r>
          </a:p>
          <a:p>
            <a:pPr marL="0" indent="0">
              <a:buNone/>
            </a:pP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Linear Regression Model</a:t>
            </a:r>
          </a:p>
          <a:p>
            <a:pPr marL="0" indent="0">
              <a:buNone/>
            </a:pPr>
            <a:r>
              <a:rPr lang="en-US" dirty="0" err="1"/>
              <a:t>lr_model</a:t>
            </a:r>
            <a:r>
              <a:rPr lang="en-US" dirty="0"/>
              <a:t>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lr_model.fit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Predictions</a:t>
            </a:r>
          </a:p>
          <a:p>
            <a:pPr marL="0" indent="0">
              <a:buNone/>
            </a:pPr>
            <a:r>
              <a:rPr lang="en-US" dirty="0" err="1"/>
              <a:t>y_pred_lr</a:t>
            </a:r>
            <a:r>
              <a:rPr lang="en-US" dirty="0"/>
              <a:t> = </a:t>
            </a:r>
            <a:r>
              <a:rPr lang="en-US" dirty="0" err="1"/>
              <a:t>lr_model.predict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Evaluation</a:t>
            </a:r>
          </a:p>
          <a:p>
            <a:pPr marL="0" indent="0">
              <a:buNone/>
            </a:pPr>
            <a:r>
              <a:rPr lang="en-US" dirty="0"/>
              <a:t>print("Linear Regression:")</a:t>
            </a:r>
          </a:p>
          <a:p>
            <a:pPr marL="0" indent="0">
              <a:buNone/>
            </a:pPr>
            <a:r>
              <a:rPr lang="en-US" dirty="0"/>
              <a:t>print("RMSE:", </a:t>
            </a:r>
            <a:r>
              <a:rPr lang="en-US" dirty="0" err="1"/>
              <a:t>np.sqrt</a:t>
            </a:r>
            <a:r>
              <a:rPr lang="en-US" dirty="0"/>
              <a:t>(</a:t>
            </a:r>
            <a:r>
              <a:rPr lang="en-US" dirty="0" err="1"/>
              <a:t>mean_squared_error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)))</a:t>
            </a:r>
          </a:p>
          <a:p>
            <a:pPr marL="0" indent="0">
              <a:buNone/>
            </a:pPr>
            <a:r>
              <a:rPr lang="en-US" dirty="0"/>
              <a:t>print("MAE:", </a:t>
            </a:r>
            <a:r>
              <a:rPr lang="en-US" dirty="0" err="1"/>
              <a:t>mean_absolute_error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print("R²:", r2_score(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Plot</a:t>
            </a:r>
          </a:p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=(10,6))</a:t>
            </a:r>
          </a:p>
          <a:p>
            <a:pPr marL="0" indent="0">
              <a:buNone/>
            </a:pPr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('Actual Closing Prices')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('Predicted Closing Prices')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('Actual vs Predicted Closing Prices (Linear Regression)')</a:t>
            </a:r>
          </a:p>
          <a:p>
            <a:pPr marL="0" indent="0">
              <a:buNone/>
            </a:pPr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87576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9785" y="528497"/>
            <a:ext cx="6544225" cy="421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OUTPUT: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739292"/>
            <a:ext cx="7321605" cy="4032302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Linear </a:t>
            </a:r>
            <a:r>
              <a:rPr lang="en-US" dirty="0"/>
              <a:t>Regression: RMSE: 0.5371103494565133 MAE: 0.3539754161137575 R²: 0.9363571890060678 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605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2575" y="317701"/>
            <a:ext cx="6544225" cy="4215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12490" y="739291"/>
            <a:ext cx="7321605" cy="403230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-33338"/>
            <a:ext cx="80200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06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PRICE FORECASTING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(ARIMA Model)</a:t>
            </a:r>
          </a:p>
        </p:txBody>
      </p:sp>
    </p:spTree>
    <p:extLst>
      <p:ext uri="{BB962C8B-B14F-4D97-AF65-F5344CB8AC3E}">
        <p14:creationId xmlns:p14="http://schemas.microsoft.com/office/powerpoint/2010/main" val="1379364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2575" y="317701"/>
            <a:ext cx="6544225" cy="4215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CODING: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12490" y="787089"/>
            <a:ext cx="7635250" cy="403230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/>
              <a:t># ARIMA model needs only one series (we'll use 'Close')</a:t>
            </a:r>
          </a:p>
          <a:p>
            <a:pPr marL="0" indent="0">
              <a:buNone/>
            </a:pPr>
            <a:r>
              <a:rPr lang="en-US" sz="4400" dirty="0" err="1"/>
              <a:t>train_size</a:t>
            </a:r>
            <a:r>
              <a:rPr lang="en-US" sz="4400" dirty="0"/>
              <a:t> = </a:t>
            </a:r>
            <a:r>
              <a:rPr lang="en-US" sz="4400" dirty="0" err="1"/>
              <a:t>int</a:t>
            </a:r>
            <a:r>
              <a:rPr lang="en-US" sz="4400" dirty="0"/>
              <a:t>(</a:t>
            </a:r>
            <a:r>
              <a:rPr lang="en-US" sz="4400" dirty="0" err="1"/>
              <a:t>len</a:t>
            </a:r>
            <a:r>
              <a:rPr lang="en-US" sz="4400" dirty="0"/>
              <a:t>(</a:t>
            </a:r>
            <a:r>
              <a:rPr lang="en-US" sz="4400" dirty="0" err="1"/>
              <a:t>stock_data</a:t>
            </a:r>
            <a:r>
              <a:rPr lang="en-US" sz="4400" dirty="0"/>
              <a:t>) * 0.8)</a:t>
            </a:r>
          </a:p>
          <a:p>
            <a:pPr marL="0" indent="0">
              <a:buNone/>
            </a:pPr>
            <a:r>
              <a:rPr lang="en-US" sz="4400" dirty="0"/>
              <a:t>train, test = </a:t>
            </a:r>
            <a:r>
              <a:rPr lang="en-US" sz="4400" dirty="0" err="1"/>
              <a:t>stock_data</a:t>
            </a:r>
            <a:r>
              <a:rPr lang="en-US" sz="4400" dirty="0"/>
              <a:t>['Close'][:</a:t>
            </a:r>
            <a:r>
              <a:rPr lang="en-US" sz="4400" dirty="0" err="1"/>
              <a:t>train_size</a:t>
            </a:r>
            <a:r>
              <a:rPr lang="en-US" sz="4400" dirty="0"/>
              <a:t>], </a:t>
            </a:r>
            <a:r>
              <a:rPr lang="en-US" sz="4400" dirty="0" err="1"/>
              <a:t>stock_data</a:t>
            </a:r>
            <a:r>
              <a:rPr lang="en-US" sz="4400" dirty="0"/>
              <a:t>['Close'][</a:t>
            </a:r>
            <a:r>
              <a:rPr lang="en-US" sz="4400" dirty="0" err="1"/>
              <a:t>train_size</a:t>
            </a:r>
            <a:r>
              <a:rPr lang="en-US" sz="4400" dirty="0"/>
              <a:t>:]</a:t>
            </a:r>
          </a:p>
          <a:p>
            <a:pPr marL="0" indent="0">
              <a:buNone/>
            </a:pP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# Fit ARIMA</a:t>
            </a:r>
          </a:p>
          <a:p>
            <a:pPr marL="0" indent="0">
              <a:buNone/>
            </a:pPr>
            <a:r>
              <a:rPr lang="en-US" sz="4400" dirty="0" err="1"/>
              <a:t>arima_model</a:t>
            </a:r>
            <a:r>
              <a:rPr lang="en-US" sz="4400" dirty="0"/>
              <a:t> = ARIMA(train, order=(5,1,0))</a:t>
            </a:r>
          </a:p>
          <a:p>
            <a:pPr marL="0" indent="0">
              <a:buNone/>
            </a:pPr>
            <a:r>
              <a:rPr lang="en-US" sz="4400" dirty="0" err="1"/>
              <a:t>arima_result</a:t>
            </a:r>
            <a:r>
              <a:rPr lang="en-US" sz="4400" dirty="0"/>
              <a:t> = </a:t>
            </a:r>
            <a:r>
              <a:rPr lang="en-US" sz="4400" dirty="0" err="1"/>
              <a:t>arima_model.fit</a:t>
            </a:r>
            <a:r>
              <a:rPr lang="en-US" sz="4400" dirty="0"/>
              <a:t>()</a:t>
            </a:r>
          </a:p>
          <a:p>
            <a:pPr marL="0" indent="0">
              <a:buNone/>
            </a:pP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# Forecast</a:t>
            </a:r>
          </a:p>
          <a:p>
            <a:pPr marL="0" indent="0">
              <a:buNone/>
            </a:pPr>
            <a:r>
              <a:rPr lang="en-US" sz="4400" dirty="0" err="1"/>
              <a:t>arima_forecast</a:t>
            </a:r>
            <a:r>
              <a:rPr lang="en-US" sz="4400" dirty="0"/>
              <a:t> = </a:t>
            </a:r>
            <a:r>
              <a:rPr lang="en-US" sz="4400" dirty="0" err="1"/>
              <a:t>arima_result.forecast</a:t>
            </a:r>
            <a:r>
              <a:rPr lang="en-US" sz="4400" dirty="0"/>
              <a:t>(steps=</a:t>
            </a:r>
            <a:r>
              <a:rPr lang="en-US" sz="4400" dirty="0" err="1"/>
              <a:t>len</a:t>
            </a:r>
            <a:r>
              <a:rPr lang="en-US" sz="4400" dirty="0"/>
              <a:t>(test))</a:t>
            </a:r>
          </a:p>
          <a:p>
            <a:pPr marL="0" indent="0">
              <a:buNone/>
            </a:pP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# Evaluation</a:t>
            </a:r>
          </a:p>
          <a:p>
            <a:pPr marL="0" indent="0">
              <a:buNone/>
            </a:pPr>
            <a:r>
              <a:rPr lang="en-US" sz="4400" dirty="0"/>
              <a:t>print("ARIMA Model:")</a:t>
            </a:r>
          </a:p>
          <a:p>
            <a:pPr marL="0" indent="0">
              <a:buNone/>
            </a:pPr>
            <a:r>
              <a:rPr lang="en-US" sz="4400" dirty="0"/>
              <a:t>print("RMSE:", </a:t>
            </a:r>
            <a:r>
              <a:rPr lang="en-US" sz="4400" dirty="0" err="1"/>
              <a:t>np.sqrt</a:t>
            </a:r>
            <a:r>
              <a:rPr lang="en-US" sz="4400" dirty="0"/>
              <a:t>(</a:t>
            </a:r>
            <a:r>
              <a:rPr lang="en-US" sz="4400" dirty="0" err="1"/>
              <a:t>mean_squared_error</a:t>
            </a:r>
            <a:r>
              <a:rPr lang="en-US" sz="4400" dirty="0"/>
              <a:t>(test, </a:t>
            </a:r>
            <a:r>
              <a:rPr lang="en-US" sz="4400" dirty="0" err="1"/>
              <a:t>arima_forecast</a:t>
            </a:r>
            <a:r>
              <a:rPr lang="en-US" sz="4400" dirty="0"/>
              <a:t>)))</a:t>
            </a:r>
          </a:p>
          <a:p>
            <a:pPr marL="0" indent="0">
              <a:buNone/>
            </a:pPr>
            <a:r>
              <a:rPr lang="en-US" sz="4400" dirty="0"/>
              <a:t>print("MAE:", </a:t>
            </a:r>
            <a:r>
              <a:rPr lang="en-US" sz="4400" dirty="0" err="1"/>
              <a:t>mean_absolute_error</a:t>
            </a:r>
            <a:r>
              <a:rPr lang="en-US" sz="4400" dirty="0"/>
              <a:t>(test, </a:t>
            </a:r>
            <a:r>
              <a:rPr lang="en-US" sz="4400" dirty="0" err="1"/>
              <a:t>arima_forecast</a:t>
            </a:r>
            <a:r>
              <a:rPr lang="en-US" sz="4400" dirty="0"/>
              <a:t>))</a:t>
            </a:r>
          </a:p>
          <a:p>
            <a:pPr marL="0" indent="0">
              <a:buNone/>
            </a:pPr>
            <a:r>
              <a:rPr lang="en-US" sz="4400" dirty="0"/>
              <a:t>print("R²:", r2_score(test, </a:t>
            </a:r>
            <a:r>
              <a:rPr lang="en-US" sz="4400" dirty="0" err="1"/>
              <a:t>arima_forecast</a:t>
            </a:r>
            <a:r>
              <a:rPr lang="en-US" sz="4400" dirty="0"/>
              <a:t>))</a:t>
            </a:r>
          </a:p>
          <a:p>
            <a:pPr marL="0" indent="0">
              <a:buNone/>
            </a:pP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# Plot</a:t>
            </a:r>
          </a:p>
          <a:p>
            <a:pPr marL="0" indent="0">
              <a:buNone/>
            </a:pPr>
            <a:r>
              <a:rPr lang="en-US" sz="4400" dirty="0" err="1"/>
              <a:t>plt.figure</a:t>
            </a:r>
            <a:r>
              <a:rPr lang="en-US" sz="4400" dirty="0"/>
              <a:t>(</a:t>
            </a:r>
            <a:r>
              <a:rPr lang="en-US" sz="4400" dirty="0" err="1"/>
              <a:t>figsize</a:t>
            </a:r>
            <a:r>
              <a:rPr lang="en-US" sz="4400" dirty="0"/>
              <a:t>=(12,6))</a:t>
            </a:r>
          </a:p>
          <a:p>
            <a:pPr marL="0" indent="0">
              <a:buNone/>
            </a:pPr>
            <a:r>
              <a:rPr lang="en-US" sz="4400" dirty="0" err="1"/>
              <a:t>plt.plot</a:t>
            </a:r>
            <a:r>
              <a:rPr lang="en-US" sz="4400" dirty="0"/>
              <a:t>(</a:t>
            </a:r>
            <a:r>
              <a:rPr lang="en-US" sz="4400" dirty="0" err="1"/>
              <a:t>train.index</a:t>
            </a:r>
            <a:r>
              <a:rPr lang="en-US" sz="4400" dirty="0"/>
              <a:t>, train, label='Training')</a:t>
            </a:r>
          </a:p>
          <a:p>
            <a:pPr marL="0" indent="0">
              <a:buNone/>
            </a:pPr>
            <a:r>
              <a:rPr lang="en-US" sz="4400" dirty="0" err="1"/>
              <a:t>plt.plot</a:t>
            </a:r>
            <a:r>
              <a:rPr lang="en-US" sz="4400" dirty="0"/>
              <a:t>(</a:t>
            </a:r>
            <a:r>
              <a:rPr lang="en-US" sz="4400" dirty="0" err="1"/>
              <a:t>test.index</a:t>
            </a:r>
            <a:r>
              <a:rPr lang="en-US" sz="4400" dirty="0"/>
              <a:t>, test, label='Actual')</a:t>
            </a:r>
          </a:p>
          <a:p>
            <a:pPr marL="0" indent="0">
              <a:buNone/>
            </a:pPr>
            <a:r>
              <a:rPr lang="en-US" sz="4400" dirty="0" err="1"/>
              <a:t>plt.plot</a:t>
            </a:r>
            <a:r>
              <a:rPr lang="en-US" sz="4400" dirty="0"/>
              <a:t>(</a:t>
            </a:r>
            <a:r>
              <a:rPr lang="en-US" sz="4400" dirty="0" err="1"/>
              <a:t>test.index</a:t>
            </a:r>
            <a:r>
              <a:rPr lang="en-US" sz="4400" dirty="0"/>
              <a:t>, </a:t>
            </a:r>
            <a:r>
              <a:rPr lang="en-US" sz="4400" dirty="0" err="1"/>
              <a:t>arima_forecast</a:t>
            </a:r>
            <a:r>
              <a:rPr lang="en-US" sz="4400" dirty="0"/>
              <a:t>, label='Forecast')</a:t>
            </a:r>
          </a:p>
          <a:p>
            <a:pPr marL="0" indent="0">
              <a:buNone/>
            </a:pPr>
            <a:r>
              <a:rPr lang="en-US" sz="4400" dirty="0" err="1"/>
              <a:t>plt.legend</a:t>
            </a:r>
            <a:r>
              <a:rPr lang="en-US" sz="4400" dirty="0"/>
              <a:t>()</a:t>
            </a:r>
          </a:p>
          <a:p>
            <a:pPr marL="0" indent="0">
              <a:buNone/>
            </a:pPr>
            <a:r>
              <a:rPr lang="en-US" sz="4400" dirty="0" err="1"/>
              <a:t>plt.title</a:t>
            </a:r>
            <a:r>
              <a:rPr lang="en-US" sz="4400" dirty="0"/>
              <a:t>('ARIMA Forecast vs Actual Stock Prices')</a:t>
            </a:r>
          </a:p>
          <a:p>
            <a:pPr marL="0" indent="0">
              <a:buNone/>
            </a:pPr>
            <a:r>
              <a:rPr lang="en-US" sz="4400" dirty="0" err="1"/>
              <a:t>plt.grid</a:t>
            </a:r>
            <a:r>
              <a:rPr lang="en-US" sz="4400" dirty="0"/>
              <a:t>(True)</a:t>
            </a:r>
          </a:p>
          <a:p>
            <a:pPr marL="0" indent="0">
              <a:buNone/>
            </a:pPr>
            <a:r>
              <a:rPr lang="en-US" sz="4400" dirty="0" err="1"/>
              <a:t>plt.show</a:t>
            </a:r>
            <a:r>
              <a:rPr lang="en-US" sz="4400" dirty="0"/>
              <a:t>()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209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2490" y="433880"/>
            <a:ext cx="6849635" cy="421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OUTPUT: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1502814"/>
            <a:ext cx="7321605" cy="3268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ARIMA Model: RMSE: 2.8116882730572224 MAE: 2.5540617494793576 R²: -4.595486988837684</a:t>
            </a:r>
          </a:p>
        </p:txBody>
      </p:sp>
    </p:spTree>
    <p:extLst>
      <p:ext uri="{BB962C8B-B14F-4D97-AF65-F5344CB8AC3E}">
        <p14:creationId xmlns:p14="http://schemas.microsoft.com/office/powerpoint/2010/main" val="1057839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2575" y="317701"/>
            <a:ext cx="6544225" cy="4215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739292"/>
            <a:ext cx="7321605" cy="403230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# Features and Target</a:t>
            </a:r>
          </a:p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stock_data</a:t>
            </a:r>
            <a:r>
              <a:rPr lang="en-US" dirty="0"/>
              <a:t>[['SMA_30', 'Volatility']]</a:t>
            </a:r>
          </a:p>
          <a:p>
            <a:pPr marL="0" indent="0">
              <a:buNone/>
            </a:pPr>
            <a:r>
              <a:rPr lang="en-US" dirty="0"/>
              <a:t>y = </a:t>
            </a:r>
            <a:r>
              <a:rPr lang="en-US" dirty="0" err="1"/>
              <a:t>stock_data</a:t>
            </a:r>
            <a:r>
              <a:rPr lang="en-US" dirty="0"/>
              <a:t>['Close']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Split the data</a:t>
            </a:r>
          </a:p>
          <a:p>
            <a:pPr marL="0" indent="0">
              <a:buNone/>
            </a:pP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Linear Regression Model</a:t>
            </a:r>
          </a:p>
          <a:p>
            <a:pPr marL="0" indent="0">
              <a:buNone/>
            </a:pPr>
            <a:r>
              <a:rPr lang="en-US" dirty="0" err="1"/>
              <a:t>lr_model</a:t>
            </a:r>
            <a:r>
              <a:rPr lang="en-US" dirty="0"/>
              <a:t>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lr_model.fit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Predictions</a:t>
            </a:r>
          </a:p>
          <a:p>
            <a:pPr marL="0" indent="0">
              <a:buNone/>
            </a:pPr>
            <a:r>
              <a:rPr lang="en-US" dirty="0" err="1"/>
              <a:t>y_pred_lr</a:t>
            </a:r>
            <a:r>
              <a:rPr lang="en-US" dirty="0"/>
              <a:t> = </a:t>
            </a:r>
            <a:r>
              <a:rPr lang="en-US" dirty="0" err="1"/>
              <a:t>lr_model.predict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Evaluation</a:t>
            </a:r>
          </a:p>
          <a:p>
            <a:pPr marL="0" indent="0">
              <a:buNone/>
            </a:pPr>
            <a:r>
              <a:rPr lang="en-US" dirty="0"/>
              <a:t>print("Linear Regression:")</a:t>
            </a:r>
          </a:p>
          <a:p>
            <a:pPr marL="0" indent="0">
              <a:buNone/>
            </a:pPr>
            <a:r>
              <a:rPr lang="en-US" dirty="0"/>
              <a:t>print("RMSE:", </a:t>
            </a:r>
            <a:r>
              <a:rPr lang="en-US" dirty="0" err="1"/>
              <a:t>np.sqrt</a:t>
            </a:r>
            <a:r>
              <a:rPr lang="en-US" dirty="0"/>
              <a:t>(</a:t>
            </a:r>
            <a:r>
              <a:rPr lang="en-US" dirty="0" err="1"/>
              <a:t>mean_squared_error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)))</a:t>
            </a:r>
          </a:p>
          <a:p>
            <a:pPr marL="0" indent="0">
              <a:buNone/>
            </a:pPr>
            <a:r>
              <a:rPr lang="en-US" dirty="0"/>
              <a:t>print("MAE:", </a:t>
            </a:r>
            <a:r>
              <a:rPr lang="en-US" dirty="0" err="1"/>
              <a:t>mean_absolute_error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print("R²:", r2_score(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Plot</a:t>
            </a:r>
          </a:p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=(10,6))</a:t>
            </a:r>
          </a:p>
          <a:p>
            <a:pPr marL="0" indent="0">
              <a:buNone/>
            </a:pPr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y_pred_lr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('Actual Closing Prices')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('Predicted Closing Prices')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('Actual vs Predicted Closing Prices (Linear Regression)')</a:t>
            </a:r>
          </a:p>
          <a:p>
            <a:pPr marL="0" indent="0">
              <a:buNone/>
            </a:pPr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63" y="57150"/>
            <a:ext cx="93059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48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 Risk Modeling </a:t>
            </a:r>
            <a:endParaRPr lang="en-US" sz="36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Logistic Regression + Decision Tree)</a:t>
            </a:r>
          </a:p>
        </p:txBody>
      </p:sp>
    </p:spTree>
    <p:extLst>
      <p:ext uri="{BB962C8B-B14F-4D97-AF65-F5344CB8AC3E}">
        <p14:creationId xmlns:p14="http://schemas.microsoft.com/office/powerpoint/2010/main" val="3782056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CREDIT RISK MODELING</a:t>
            </a:r>
            <a:endParaRPr lang="en-US" dirty="0"/>
          </a:p>
        </p:txBody>
      </p:sp>
      <p:sp>
        <p:nvSpPr>
          <p:cNvPr id="6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433602"/>
            <a:ext cx="8390540" cy="3299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Logistic Regression:</a:t>
            </a:r>
          </a:p>
          <a:p>
            <a:pPr marL="457200" lvl="1" indent="0">
              <a:buNone/>
            </a:pPr>
            <a:r>
              <a:rPr lang="en-US" dirty="0"/>
              <a:t>Accuracy, </a:t>
            </a:r>
            <a:r>
              <a:rPr lang="en-US" dirty="0" smtClean="0"/>
              <a:t>Precision, Recall</a:t>
            </a:r>
            <a:r>
              <a:rPr lang="en-US" dirty="0"/>
              <a:t>, F1 Score</a:t>
            </a:r>
          </a:p>
          <a:p>
            <a:r>
              <a:rPr lang="en-US" b="1" dirty="0">
                <a:solidFill>
                  <a:schemeClr val="tx1"/>
                </a:solidFill>
              </a:rPr>
              <a:t>Decision Tree:</a:t>
            </a:r>
          </a:p>
          <a:p>
            <a:pPr marL="457200" lvl="1" indent="0">
              <a:buNone/>
            </a:pPr>
            <a:r>
              <a:rPr lang="en-US" dirty="0"/>
              <a:t>Accuracy, Precision, Recall, F1 Score</a:t>
            </a:r>
          </a:p>
          <a:p>
            <a:r>
              <a:rPr lang="en-US" b="1" dirty="0">
                <a:solidFill>
                  <a:schemeClr val="tx1"/>
                </a:solidFill>
              </a:rPr>
              <a:t>Mention use of </a:t>
            </a:r>
            <a:r>
              <a:rPr lang="en-US" dirty="0">
                <a:solidFill>
                  <a:schemeClr val="tx2"/>
                </a:solidFill>
              </a:rPr>
              <a:t>lower probability threshold (0.3) </a:t>
            </a:r>
            <a:r>
              <a:rPr lang="en-US" b="1" dirty="0">
                <a:solidFill>
                  <a:schemeClr val="tx1"/>
                </a:solidFill>
              </a:rPr>
              <a:t>for 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70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CODING: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96260" y="1350110"/>
            <a:ext cx="4199540" cy="3549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/>
              <a:t> Features and Target for Credit Risk</a:t>
            </a:r>
          </a:p>
          <a:p>
            <a:pPr marL="0" indent="0">
              <a:buNone/>
            </a:pPr>
            <a:r>
              <a:rPr lang="en-US" sz="1000" dirty="0" err="1"/>
              <a:t>X_credit</a:t>
            </a:r>
            <a:r>
              <a:rPr lang="en-US" sz="1000" dirty="0"/>
              <a:t> = </a:t>
            </a:r>
            <a:r>
              <a:rPr lang="en-US" sz="1000" dirty="0" err="1"/>
              <a:t>credit_data</a:t>
            </a:r>
            <a:r>
              <a:rPr lang="en-US" sz="1000" dirty="0"/>
              <a:t>[['</a:t>
            </a:r>
            <a:r>
              <a:rPr lang="en-US" sz="1000" dirty="0" err="1"/>
              <a:t>credit_score</a:t>
            </a:r>
            <a:r>
              <a:rPr lang="en-US" sz="1000" dirty="0"/>
              <a:t>', 'income', '</a:t>
            </a:r>
            <a:r>
              <a:rPr lang="en-US" sz="1000" dirty="0" err="1"/>
              <a:t>loan_amount</a:t>
            </a:r>
            <a:r>
              <a:rPr lang="en-US" sz="1000" dirty="0"/>
              <a:t>']]</a:t>
            </a:r>
          </a:p>
          <a:p>
            <a:pPr marL="0" indent="0">
              <a:buNone/>
            </a:pPr>
            <a:r>
              <a:rPr lang="en-US" sz="1000" dirty="0" err="1"/>
              <a:t>y_credit</a:t>
            </a:r>
            <a:r>
              <a:rPr lang="en-US" sz="1000" dirty="0"/>
              <a:t> = </a:t>
            </a:r>
            <a:r>
              <a:rPr lang="en-US" sz="1000" dirty="0" err="1"/>
              <a:t>credit_data</a:t>
            </a:r>
            <a:r>
              <a:rPr lang="en-US" sz="1000" dirty="0"/>
              <a:t>['default</a:t>
            </a:r>
            <a:r>
              <a:rPr lang="en-US" sz="1000" dirty="0" smtClean="0"/>
              <a:t>']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# Train-Test Split</a:t>
            </a:r>
          </a:p>
          <a:p>
            <a:pPr marL="0" indent="0">
              <a:buNone/>
            </a:pPr>
            <a:r>
              <a:rPr lang="en-US" sz="1000" dirty="0" err="1"/>
              <a:t>Xc_train</a:t>
            </a:r>
            <a:r>
              <a:rPr lang="en-US" sz="1000" dirty="0"/>
              <a:t>, </a:t>
            </a:r>
            <a:r>
              <a:rPr lang="en-US" sz="1000" dirty="0" err="1"/>
              <a:t>Xc_test</a:t>
            </a:r>
            <a:r>
              <a:rPr lang="en-US" sz="1000" dirty="0"/>
              <a:t>, </a:t>
            </a:r>
            <a:r>
              <a:rPr lang="en-US" sz="1000" dirty="0" err="1"/>
              <a:t>yc_train</a:t>
            </a:r>
            <a:r>
              <a:rPr lang="en-US" sz="1000" dirty="0"/>
              <a:t>, </a:t>
            </a:r>
            <a:r>
              <a:rPr lang="en-US" sz="1000" dirty="0" err="1"/>
              <a:t>yc_test</a:t>
            </a:r>
            <a:r>
              <a:rPr lang="en-US" sz="1000" dirty="0"/>
              <a:t> = </a:t>
            </a:r>
            <a:r>
              <a:rPr lang="en-US" sz="1000" dirty="0" err="1"/>
              <a:t>train_test_split</a:t>
            </a:r>
            <a:r>
              <a:rPr lang="en-US" sz="1000" dirty="0"/>
              <a:t>(</a:t>
            </a:r>
            <a:r>
              <a:rPr lang="en-US" sz="1000" dirty="0" err="1"/>
              <a:t>X_credit</a:t>
            </a:r>
            <a:r>
              <a:rPr lang="en-US" sz="1000" dirty="0"/>
              <a:t>, </a:t>
            </a:r>
            <a:r>
              <a:rPr lang="en-US" sz="1000" dirty="0" err="1"/>
              <a:t>y_credit</a:t>
            </a:r>
            <a:r>
              <a:rPr lang="en-US" sz="1000" dirty="0"/>
              <a:t>, </a:t>
            </a:r>
            <a:r>
              <a:rPr lang="en-US" sz="1000" dirty="0" err="1"/>
              <a:t>test_size</a:t>
            </a:r>
            <a:r>
              <a:rPr lang="en-US" sz="1000" dirty="0"/>
              <a:t>=0.2, </a:t>
            </a:r>
            <a:r>
              <a:rPr lang="en-US" sz="1000" dirty="0" err="1"/>
              <a:t>random_state</a:t>
            </a:r>
            <a:r>
              <a:rPr lang="en-US" sz="1000" dirty="0"/>
              <a:t>=42)</a:t>
            </a:r>
          </a:p>
          <a:p>
            <a:pPr marL="0" indent="0">
              <a:buNone/>
            </a:pP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# Logistic Regression</a:t>
            </a:r>
          </a:p>
          <a:p>
            <a:pPr marL="0" indent="0">
              <a:buNone/>
            </a:pPr>
            <a:r>
              <a:rPr lang="en-US" sz="1000" dirty="0" err="1"/>
              <a:t>logreg_model</a:t>
            </a:r>
            <a:r>
              <a:rPr lang="en-US" sz="1000" dirty="0"/>
              <a:t> = </a:t>
            </a:r>
            <a:r>
              <a:rPr lang="en-US" sz="1000" dirty="0" err="1"/>
              <a:t>LogisticRegression</a:t>
            </a:r>
            <a:r>
              <a:rPr lang="en-US" sz="1000" dirty="0"/>
              <a:t>()</a:t>
            </a:r>
          </a:p>
          <a:p>
            <a:pPr marL="0" indent="0">
              <a:buNone/>
            </a:pPr>
            <a:r>
              <a:rPr lang="en-US" sz="1000" dirty="0" err="1"/>
              <a:t>logreg_model.fit</a:t>
            </a:r>
            <a:r>
              <a:rPr lang="en-US" sz="1000" dirty="0"/>
              <a:t>(</a:t>
            </a:r>
            <a:r>
              <a:rPr lang="en-US" sz="1000" dirty="0" err="1"/>
              <a:t>Xc_train</a:t>
            </a:r>
            <a:r>
              <a:rPr lang="en-US" sz="1000" dirty="0"/>
              <a:t>, </a:t>
            </a:r>
            <a:r>
              <a:rPr lang="en-US" sz="1000" dirty="0" err="1"/>
              <a:t>yc_train</a:t>
            </a:r>
            <a:r>
              <a:rPr lang="en-US" sz="1000" dirty="0"/>
              <a:t>)</a:t>
            </a:r>
          </a:p>
          <a:p>
            <a:pPr marL="0" indent="0">
              <a:buNone/>
            </a:pP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# Predictions using a lower probability threshold (e.g., 0.3)</a:t>
            </a:r>
          </a:p>
          <a:p>
            <a:pPr marL="0" indent="0">
              <a:buNone/>
            </a:pPr>
            <a:r>
              <a:rPr lang="en-US" sz="1000" dirty="0" err="1"/>
              <a:t>yc_pred_logreg_proba</a:t>
            </a:r>
            <a:r>
              <a:rPr lang="en-US" sz="1000" dirty="0"/>
              <a:t> = </a:t>
            </a:r>
            <a:r>
              <a:rPr lang="en-US" sz="1000" dirty="0" err="1"/>
              <a:t>logreg_model.predict_proba</a:t>
            </a:r>
            <a:r>
              <a:rPr lang="en-US" sz="1000" dirty="0"/>
              <a:t>(</a:t>
            </a:r>
            <a:r>
              <a:rPr lang="en-US" sz="1000" dirty="0" err="1"/>
              <a:t>Xc_test</a:t>
            </a:r>
            <a:r>
              <a:rPr lang="en-US" sz="1000" dirty="0"/>
              <a:t>)[:, 1]  # Get probabilities for class 1</a:t>
            </a:r>
          </a:p>
          <a:p>
            <a:pPr marL="0" indent="0">
              <a:buNone/>
            </a:pPr>
            <a:r>
              <a:rPr lang="en-US" sz="1000" dirty="0" err="1"/>
              <a:t>yc_pred_logreg</a:t>
            </a:r>
            <a:r>
              <a:rPr lang="en-US" sz="1000" dirty="0"/>
              <a:t> = (</a:t>
            </a:r>
            <a:r>
              <a:rPr lang="en-US" sz="1000" dirty="0" err="1"/>
              <a:t>yc_pred_logreg_proba</a:t>
            </a:r>
            <a:r>
              <a:rPr lang="en-US" sz="1000" dirty="0"/>
              <a:t> &gt;= 0.3).</a:t>
            </a:r>
            <a:r>
              <a:rPr lang="en-US" sz="1000" dirty="0" err="1"/>
              <a:t>astype</a:t>
            </a:r>
            <a:r>
              <a:rPr lang="en-US" sz="1000" dirty="0"/>
              <a:t>(</a:t>
            </a:r>
            <a:r>
              <a:rPr lang="en-US" sz="1000" dirty="0" err="1"/>
              <a:t>int</a:t>
            </a:r>
            <a:r>
              <a:rPr lang="en-US" sz="1000" dirty="0"/>
              <a:t>)       # Apply threshold</a:t>
            </a:r>
          </a:p>
          <a:p>
            <a:pPr marL="0" indent="0">
              <a:buNone/>
            </a:pP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# Decision Tree</a:t>
            </a:r>
          </a:p>
          <a:p>
            <a:pPr marL="0" indent="0">
              <a:buNone/>
            </a:pPr>
            <a:r>
              <a:rPr lang="en-US" sz="1000" dirty="0" err="1"/>
              <a:t>tree_model</a:t>
            </a:r>
            <a:r>
              <a:rPr lang="en-US" sz="1000" dirty="0"/>
              <a:t> = </a:t>
            </a:r>
            <a:r>
              <a:rPr lang="en-US" sz="1000" dirty="0" err="1"/>
              <a:t>DecisionTreeClassifier</a:t>
            </a:r>
            <a:r>
              <a:rPr lang="en-US" sz="1000" dirty="0"/>
              <a:t>(</a:t>
            </a:r>
            <a:r>
              <a:rPr lang="en-US" sz="1000" dirty="0" err="1"/>
              <a:t>max_depth</a:t>
            </a:r>
            <a:r>
              <a:rPr lang="en-US" sz="1000" dirty="0"/>
              <a:t>=5, </a:t>
            </a:r>
            <a:r>
              <a:rPr lang="en-US" sz="1000" dirty="0" err="1"/>
              <a:t>random_state</a:t>
            </a:r>
            <a:r>
              <a:rPr lang="en-US" sz="1000" dirty="0"/>
              <a:t>=42)</a:t>
            </a:r>
          </a:p>
          <a:p>
            <a:pPr marL="0" indent="0">
              <a:buNone/>
            </a:pPr>
            <a:r>
              <a:rPr lang="en-US" sz="1000" dirty="0" err="1"/>
              <a:t>tree_model.fit</a:t>
            </a:r>
            <a:r>
              <a:rPr lang="en-US" sz="1000" dirty="0"/>
              <a:t>(</a:t>
            </a:r>
            <a:r>
              <a:rPr lang="en-US" sz="1000" dirty="0" err="1"/>
              <a:t>Xc_train</a:t>
            </a:r>
            <a:r>
              <a:rPr lang="en-US" sz="1000" dirty="0"/>
              <a:t>, </a:t>
            </a:r>
            <a:r>
              <a:rPr lang="en-US" sz="1000" dirty="0" err="1"/>
              <a:t>yc_train</a:t>
            </a:r>
            <a:r>
              <a:rPr lang="en-US" sz="1000" dirty="0"/>
              <a:t>)</a:t>
            </a:r>
          </a:p>
          <a:p>
            <a:pPr marL="0" indent="0">
              <a:buNone/>
            </a:pPr>
            <a:r>
              <a:rPr lang="en-US" sz="1000" dirty="0" err="1"/>
              <a:t>yc_pred_tree</a:t>
            </a:r>
            <a:r>
              <a:rPr lang="en-US" sz="1000" dirty="0"/>
              <a:t> = </a:t>
            </a:r>
            <a:r>
              <a:rPr lang="en-US" sz="1000" dirty="0" err="1"/>
              <a:t>tree_model.predict</a:t>
            </a:r>
            <a:r>
              <a:rPr lang="en-US" sz="1000" dirty="0"/>
              <a:t>(</a:t>
            </a:r>
            <a:r>
              <a:rPr lang="en-US" sz="1000" dirty="0" err="1"/>
              <a:t>Xc_test</a:t>
            </a:r>
            <a:r>
              <a:rPr lang="en-US" sz="1000" dirty="0"/>
              <a:t>)  </a:t>
            </a:r>
            <a:r>
              <a:rPr lang="en-US" sz="900" dirty="0"/>
              <a:t/>
            </a:r>
            <a:br>
              <a:rPr lang="en-US" sz="900" dirty="0"/>
            </a:br>
            <a:endParaRPr lang="en-US" sz="900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668512" y="1502815"/>
            <a:ext cx="4038600" cy="339721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# Evaluation Function (with </a:t>
            </a:r>
            <a:r>
              <a:rPr lang="en-US" dirty="0" err="1"/>
              <a:t>zero_division</a:t>
            </a:r>
            <a:r>
              <a:rPr lang="en-US" dirty="0"/>
              <a:t> handling)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evaluate_classification</a:t>
            </a:r>
            <a:r>
              <a:rPr lang="en-US" dirty="0"/>
              <a:t>(</a:t>
            </a:r>
            <a:r>
              <a:rPr lang="en-US" dirty="0" err="1"/>
              <a:t>y_true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, </a:t>
            </a:r>
            <a:r>
              <a:rPr lang="en-US" dirty="0" err="1"/>
              <a:t>model_name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    print(f"--- {</a:t>
            </a:r>
            <a:r>
              <a:rPr lang="en-US" dirty="0" err="1"/>
              <a:t>model_name</a:t>
            </a:r>
            <a:r>
              <a:rPr lang="en-US" dirty="0"/>
              <a:t>} ---")</a:t>
            </a:r>
          </a:p>
          <a:p>
            <a:pPr marL="0" indent="0">
              <a:buNone/>
            </a:pPr>
            <a:r>
              <a:rPr lang="en-US" dirty="0"/>
              <a:t>    print("Accuracy:", </a:t>
            </a:r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y_true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    print("Precision:", </a:t>
            </a:r>
            <a:r>
              <a:rPr lang="en-US" dirty="0" err="1"/>
              <a:t>precision_score</a:t>
            </a:r>
            <a:r>
              <a:rPr lang="en-US" dirty="0"/>
              <a:t>(</a:t>
            </a:r>
            <a:r>
              <a:rPr lang="en-US" dirty="0" err="1"/>
              <a:t>y_true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, </a:t>
            </a:r>
            <a:r>
              <a:rPr lang="en-US" dirty="0" err="1"/>
              <a:t>zero_division</a:t>
            </a:r>
            <a:r>
              <a:rPr lang="en-US" dirty="0"/>
              <a:t>=0))  # Handle zero division</a:t>
            </a:r>
          </a:p>
          <a:p>
            <a:pPr marL="0" indent="0">
              <a:buNone/>
            </a:pPr>
            <a:r>
              <a:rPr lang="en-US" dirty="0"/>
              <a:t>    print("Recall:", </a:t>
            </a:r>
            <a:r>
              <a:rPr lang="en-US" dirty="0" err="1"/>
              <a:t>recall_score</a:t>
            </a:r>
            <a:r>
              <a:rPr lang="en-US" dirty="0"/>
              <a:t>(</a:t>
            </a:r>
            <a:r>
              <a:rPr lang="en-US" dirty="0" err="1"/>
              <a:t>y_true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, </a:t>
            </a:r>
            <a:r>
              <a:rPr lang="en-US" dirty="0" err="1"/>
              <a:t>zero_division</a:t>
            </a:r>
            <a:r>
              <a:rPr lang="en-US" dirty="0"/>
              <a:t>=0))      # Handle zero division</a:t>
            </a:r>
          </a:p>
          <a:p>
            <a:pPr marL="0" indent="0">
              <a:buNone/>
            </a:pPr>
            <a:r>
              <a:rPr lang="en-US" dirty="0"/>
              <a:t>    print("F1 Score:", f1_score(</a:t>
            </a:r>
            <a:r>
              <a:rPr lang="en-US" dirty="0" err="1"/>
              <a:t>y_true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, </a:t>
            </a:r>
            <a:r>
              <a:rPr lang="en-US" dirty="0" err="1"/>
              <a:t>zero_division</a:t>
            </a:r>
            <a:r>
              <a:rPr lang="en-US" dirty="0"/>
              <a:t>=0))          # Handle zero division</a:t>
            </a:r>
          </a:p>
          <a:p>
            <a:pPr marL="0" indent="0">
              <a:buNone/>
            </a:pPr>
            <a:r>
              <a:rPr lang="en-US" dirty="0"/>
              <a:t>    print("\n")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Evaluate both models</a:t>
            </a:r>
          </a:p>
          <a:p>
            <a:pPr marL="0" indent="0">
              <a:buNone/>
            </a:pPr>
            <a:r>
              <a:rPr lang="en-US" dirty="0" err="1"/>
              <a:t>evaluate_classification</a:t>
            </a:r>
            <a:r>
              <a:rPr lang="en-US" dirty="0"/>
              <a:t>(</a:t>
            </a:r>
            <a:r>
              <a:rPr lang="en-US" dirty="0" err="1"/>
              <a:t>yc_test</a:t>
            </a:r>
            <a:r>
              <a:rPr lang="en-US" dirty="0"/>
              <a:t>, </a:t>
            </a:r>
            <a:r>
              <a:rPr lang="en-US" dirty="0" err="1"/>
              <a:t>yc_pred_logreg</a:t>
            </a:r>
            <a:r>
              <a:rPr lang="en-US" dirty="0"/>
              <a:t>, "Logistic Regression")</a:t>
            </a:r>
          </a:p>
          <a:p>
            <a:pPr marL="0" indent="0">
              <a:buNone/>
            </a:pPr>
            <a:r>
              <a:rPr lang="en-US" dirty="0" err="1"/>
              <a:t>evaluate_classification</a:t>
            </a:r>
            <a:r>
              <a:rPr lang="en-US" dirty="0"/>
              <a:t>(</a:t>
            </a:r>
            <a:r>
              <a:rPr lang="en-US" dirty="0" err="1"/>
              <a:t>yc_test</a:t>
            </a:r>
            <a:r>
              <a:rPr lang="en-US" dirty="0"/>
              <a:t>, </a:t>
            </a:r>
            <a:r>
              <a:rPr lang="en-US" dirty="0" err="1"/>
              <a:t>yc_pred_tree</a:t>
            </a:r>
            <a:r>
              <a:rPr lang="en-US" dirty="0"/>
              <a:t>, "Decision Tree Classifier")</a:t>
            </a:r>
          </a:p>
        </p:txBody>
      </p:sp>
    </p:spTree>
    <p:extLst>
      <p:ext uri="{BB962C8B-B14F-4D97-AF65-F5344CB8AC3E}">
        <p14:creationId xmlns:p14="http://schemas.microsoft.com/office/powerpoint/2010/main" val="1464772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65195" y="317701"/>
            <a:ext cx="7321605" cy="42159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smtClean="0"/>
              <a:t>OUTPUT:</a:t>
            </a:r>
            <a:endParaRPr lang="en-US" sz="40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891994"/>
            <a:ext cx="7321605" cy="38795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--- </a:t>
            </a:r>
            <a:r>
              <a:rPr lang="en-US" b="1" dirty="0" smtClean="0"/>
              <a:t> </a:t>
            </a:r>
            <a:r>
              <a:rPr lang="en-US" b="1" dirty="0"/>
              <a:t>Logistic Regression ---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Accuracy</a:t>
            </a:r>
            <a:r>
              <a:rPr lang="en-US" dirty="0"/>
              <a:t>: 0.865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Precision</a:t>
            </a:r>
            <a:r>
              <a:rPr lang="en-US" dirty="0"/>
              <a:t>: 0.0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Recall</a:t>
            </a:r>
            <a:r>
              <a:rPr lang="en-US" dirty="0"/>
              <a:t>: 0.0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F1 </a:t>
            </a:r>
            <a:r>
              <a:rPr lang="en-US" dirty="0"/>
              <a:t>Score: </a:t>
            </a:r>
            <a:r>
              <a:rPr lang="en-US" dirty="0" smtClean="0"/>
              <a:t>0.0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--- </a:t>
            </a:r>
            <a:r>
              <a:rPr lang="en-US" b="1" dirty="0" smtClean="0"/>
              <a:t>Decision </a:t>
            </a:r>
            <a:r>
              <a:rPr lang="en-US" b="1" dirty="0"/>
              <a:t>Tree Classifier ---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Accuracy</a:t>
            </a:r>
            <a:r>
              <a:rPr lang="en-US" dirty="0"/>
              <a:t>: 0.85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Precision</a:t>
            </a:r>
            <a:r>
              <a:rPr lang="en-US" dirty="0"/>
              <a:t>: 0.0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Recall</a:t>
            </a:r>
            <a:r>
              <a:rPr lang="en-US" dirty="0"/>
              <a:t>: 0.0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F1 </a:t>
            </a:r>
            <a:r>
              <a:rPr lang="en-US" dirty="0"/>
              <a:t>Score: 0.0</a:t>
            </a:r>
          </a:p>
        </p:txBody>
      </p:sp>
    </p:spTree>
    <p:extLst>
      <p:ext uri="{BB962C8B-B14F-4D97-AF65-F5344CB8AC3E}">
        <p14:creationId xmlns:p14="http://schemas.microsoft.com/office/powerpoint/2010/main" val="413254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Revenue/Expense Forecasting </a:t>
            </a:r>
            <a:endParaRPr lang="en-US" sz="36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Regression)</a:t>
            </a:r>
          </a:p>
        </p:txBody>
      </p:sp>
    </p:spTree>
    <p:extLst>
      <p:ext uri="{BB962C8B-B14F-4D97-AF65-F5344CB8AC3E}">
        <p14:creationId xmlns:p14="http://schemas.microsoft.com/office/powerpoint/2010/main" val="1447411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FORECASTING</a:t>
            </a:r>
            <a:endParaRPr lang="en-US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468167"/>
            <a:ext cx="625267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RMSE, MAE, R²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showing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Prediction vs Actual Revenue</a:t>
            </a:r>
          </a:p>
        </p:txBody>
      </p:sp>
    </p:spTree>
    <p:extLst>
      <p:ext uri="{BB962C8B-B14F-4D97-AF65-F5344CB8AC3E}">
        <p14:creationId xmlns:p14="http://schemas.microsoft.com/office/powerpoint/2010/main" val="2984179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CODING: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350109"/>
            <a:ext cx="4038600" cy="36649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/>
              <a:t># Revenue Forecasting</a:t>
            </a:r>
          </a:p>
          <a:p>
            <a:pPr marL="0" indent="0">
              <a:buNone/>
            </a:pPr>
            <a:r>
              <a:rPr lang="en-US" sz="1050" dirty="0" err="1"/>
              <a:t>X_rev</a:t>
            </a:r>
            <a:r>
              <a:rPr lang="en-US" sz="1050" dirty="0"/>
              <a:t> = </a:t>
            </a:r>
            <a:r>
              <a:rPr lang="en-US" sz="1050" dirty="0" err="1"/>
              <a:t>np.arange</a:t>
            </a:r>
            <a:r>
              <a:rPr lang="en-US" sz="1050" dirty="0"/>
              <a:t>(</a:t>
            </a:r>
            <a:r>
              <a:rPr lang="en-US" sz="1050" dirty="0" err="1"/>
              <a:t>len</a:t>
            </a:r>
            <a:r>
              <a:rPr lang="en-US" sz="1050" dirty="0"/>
              <a:t>(</a:t>
            </a:r>
            <a:r>
              <a:rPr lang="en-US" sz="1050" dirty="0" err="1"/>
              <a:t>revenue_data</a:t>
            </a:r>
            <a:r>
              <a:rPr lang="en-US" sz="1050" dirty="0"/>
              <a:t>)).reshape(-1,1)</a:t>
            </a:r>
          </a:p>
          <a:p>
            <a:pPr marL="0" indent="0">
              <a:buNone/>
            </a:pPr>
            <a:r>
              <a:rPr lang="en-US" sz="1050" dirty="0" err="1"/>
              <a:t>y_rev</a:t>
            </a:r>
            <a:r>
              <a:rPr lang="en-US" sz="1050" dirty="0"/>
              <a:t> = </a:t>
            </a:r>
            <a:r>
              <a:rPr lang="en-US" sz="1050" dirty="0" err="1"/>
              <a:t>revenue_data</a:t>
            </a:r>
            <a:r>
              <a:rPr lang="en-US" sz="1050" dirty="0"/>
              <a:t>['Revenue']</a:t>
            </a:r>
          </a:p>
          <a:p>
            <a:pPr marL="0" indent="0">
              <a:buNone/>
            </a:pPr>
            <a:r>
              <a:rPr lang="en-US" sz="1050" dirty="0"/>
              <a:t/>
            </a:r>
            <a:br>
              <a:rPr lang="en-US" sz="1050" dirty="0"/>
            </a:br>
            <a:r>
              <a:rPr lang="en-US" sz="1050" dirty="0"/>
              <a:t># Split</a:t>
            </a:r>
          </a:p>
          <a:p>
            <a:pPr marL="0" indent="0">
              <a:buNone/>
            </a:pPr>
            <a:r>
              <a:rPr lang="en-US" sz="1050" dirty="0" err="1"/>
              <a:t>Xr_train</a:t>
            </a:r>
            <a:r>
              <a:rPr lang="en-US" sz="1050" dirty="0"/>
              <a:t>, </a:t>
            </a:r>
            <a:r>
              <a:rPr lang="en-US" sz="1050" dirty="0" err="1"/>
              <a:t>Xr_test</a:t>
            </a:r>
            <a:r>
              <a:rPr lang="en-US" sz="1050" dirty="0"/>
              <a:t>, </a:t>
            </a:r>
            <a:r>
              <a:rPr lang="en-US" sz="1050" dirty="0" err="1"/>
              <a:t>yr_train</a:t>
            </a:r>
            <a:r>
              <a:rPr lang="en-US" sz="1050" dirty="0"/>
              <a:t>, </a:t>
            </a:r>
            <a:r>
              <a:rPr lang="en-US" sz="1050" dirty="0" err="1"/>
              <a:t>yr_test</a:t>
            </a:r>
            <a:r>
              <a:rPr lang="en-US" sz="1050" dirty="0"/>
              <a:t> = </a:t>
            </a:r>
            <a:r>
              <a:rPr lang="en-US" sz="1050" dirty="0" err="1"/>
              <a:t>train_test_split</a:t>
            </a:r>
            <a:r>
              <a:rPr lang="en-US" sz="1050" dirty="0"/>
              <a:t>(</a:t>
            </a:r>
            <a:r>
              <a:rPr lang="en-US" sz="1050" dirty="0" err="1"/>
              <a:t>X_rev</a:t>
            </a:r>
            <a:r>
              <a:rPr lang="en-US" sz="1050" dirty="0"/>
              <a:t>, </a:t>
            </a:r>
            <a:r>
              <a:rPr lang="en-US" sz="1050" dirty="0" err="1"/>
              <a:t>y_rev</a:t>
            </a:r>
            <a:r>
              <a:rPr lang="en-US" sz="1050" dirty="0"/>
              <a:t>, </a:t>
            </a:r>
            <a:r>
              <a:rPr lang="en-US" sz="1050" dirty="0" err="1"/>
              <a:t>test_size</a:t>
            </a:r>
            <a:r>
              <a:rPr lang="en-US" sz="1050" dirty="0"/>
              <a:t>=0.2, </a:t>
            </a:r>
            <a:r>
              <a:rPr lang="en-US" sz="1050" dirty="0" err="1"/>
              <a:t>random_state</a:t>
            </a:r>
            <a:r>
              <a:rPr lang="en-US" sz="1050" dirty="0"/>
              <a:t>=42)</a:t>
            </a:r>
          </a:p>
          <a:p>
            <a:pPr marL="0" indent="0">
              <a:buNone/>
            </a:pPr>
            <a:r>
              <a:rPr lang="en-US" sz="1050" dirty="0"/>
              <a:t/>
            </a:r>
            <a:br>
              <a:rPr lang="en-US" sz="1050" dirty="0"/>
            </a:br>
            <a:r>
              <a:rPr lang="en-US" sz="1050" dirty="0"/>
              <a:t># Regression Model</a:t>
            </a:r>
          </a:p>
          <a:p>
            <a:pPr marL="0" indent="0">
              <a:buNone/>
            </a:pPr>
            <a:r>
              <a:rPr lang="en-US" sz="1050" dirty="0" err="1"/>
              <a:t>rev_model</a:t>
            </a:r>
            <a:r>
              <a:rPr lang="en-US" sz="1050" dirty="0"/>
              <a:t> = </a:t>
            </a:r>
            <a:r>
              <a:rPr lang="en-US" sz="1050" dirty="0" err="1"/>
              <a:t>LinearRegression</a:t>
            </a:r>
            <a:r>
              <a:rPr lang="en-US" sz="1050" dirty="0"/>
              <a:t>()</a:t>
            </a:r>
          </a:p>
          <a:p>
            <a:pPr marL="0" indent="0">
              <a:buNone/>
            </a:pPr>
            <a:r>
              <a:rPr lang="en-US" sz="1050" dirty="0" err="1"/>
              <a:t>rev_model.fit</a:t>
            </a:r>
            <a:r>
              <a:rPr lang="en-US" sz="1050" dirty="0"/>
              <a:t>(</a:t>
            </a:r>
            <a:r>
              <a:rPr lang="en-US" sz="1050" dirty="0" err="1"/>
              <a:t>Xr_train</a:t>
            </a:r>
            <a:r>
              <a:rPr lang="en-US" sz="1050" dirty="0"/>
              <a:t>, </a:t>
            </a:r>
            <a:r>
              <a:rPr lang="en-US" sz="1050" dirty="0" err="1"/>
              <a:t>yr_train</a:t>
            </a:r>
            <a:r>
              <a:rPr lang="en-US" sz="1050" dirty="0"/>
              <a:t>)</a:t>
            </a:r>
          </a:p>
          <a:p>
            <a:pPr marL="0" indent="0">
              <a:buNone/>
            </a:pPr>
            <a:r>
              <a:rPr lang="en-US" sz="1050" dirty="0"/>
              <a:t/>
            </a:r>
            <a:br>
              <a:rPr lang="en-US" sz="1050" dirty="0"/>
            </a:br>
            <a:r>
              <a:rPr lang="en-US" sz="1050" dirty="0"/>
              <a:t># Predictions</a:t>
            </a:r>
          </a:p>
          <a:p>
            <a:pPr marL="0" indent="0">
              <a:buNone/>
            </a:pPr>
            <a:r>
              <a:rPr lang="en-US" sz="1050" dirty="0" err="1"/>
              <a:t>yr_pred</a:t>
            </a:r>
            <a:r>
              <a:rPr lang="en-US" sz="1050" dirty="0"/>
              <a:t> = </a:t>
            </a:r>
            <a:r>
              <a:rPr lang="en-US" sz="1050" dirty="0" err="1"/>
              <a:t>rev_model.predict</a:t>
            </a:r>
            <a:r>
              <a:rPr lang="en-US" sz="1050" dirty="0"/>
              <a:t>(</a:t>
            </a:r>
            <a:r>
              <a:rPr lang="en-US" sz="1050" dirty="0" err="1"/>
              <a:t>Xr_test</a:t>
            </a:r>
            <a:r>
              <a:rPr lang="en-US" sz="1050" dirty="0"/>
              <a:t>)</a:t>
            </a:r>
          </a:p>
          <a:p>
            <a:pPr marL="0" indent="0">
              <a:buNone/>
            </a:pPr>
            <a:r>
              <a:rPr lang="en-US" sz="1050" dirty="0"/>
              <a:t/>
            </a:r>
            <a:br>
              <a:rPr lang="en-US" sz="1050" dirty="0"/>
            </a:br>
            <a:r>
              <a:rPr lang="en-US" sz="1050" dirty="0"/>
              <a:t># Evaluation</a:t>
            </a:r>
          </a:p>
          <a:p>
            <a:pPr marL="0" indent="0">
              <a:buNone/>
            </a:pPr>
            <a:r>
              <a:rPr lang="en-US" sz="1050" dirty="0"/>
              <a:t>print("Revenue Forecasting:")</a:t>
            </a:r>
          </a:p>
          <a:p>
            <a:pPr marL="0" indent="0">
              <a:buNone/>
            </a:pPr>
            <a:r>
              <a:rPr lang="en-US" sz="1050" dirty="0"/>
              <a:t>print("RMSE:", </a:t>
            </a:r>
            <a:r>
              <a:rPr lang="en-US" sz="1050" dirty="0" err="1"/>
              <a:t>np.sqrt</a:t>
            </a:r>
            <a:r>
              <a:rPr lang="en-US" sz="1050" dirty="0"/>
              <a:t>(</a:t>
            </a:r>
            <a:r>
              <a:rPr lang="en-US" sz="1050" dirty="0" err="1"/>
              <a:t>mean_squared_error</a:t>
            </a:r>
            <a:r>
              <a:rPr lang="en-US" sz="1050" dirty="0"/>
              <a:t>(</a:t>
            </a:r>
            <a:r>
              <a:rPr lang="en-US" sz="1050" dirty="0" err="1"/>
              <a:t>yr_test</a:t>
            </a:r>
            <a:r>
              <a:rPr lang="en-US" sz="1050" dirty="0"/>
              <a:t>, </a:t>
            </a:r>
            <a:r>
              <a:rPr lang="en-US" sz="1050" dirty="0" err="1"/>
              <a:t>yr_pred</a:t>
            </a:r>
            <a:r>
              <a:rPr lang="en-US" sz="1050" dirty="0"/>
              <a:t>)))</a:t>
            </a:r>
          </a:p>
          <a:p>
            <a:pPr marL="0" indent="0">
              <a:buNone/>
            </a:pPr>
            <a:r>
              <a:rPr lang="en-US" sz="1050" dirty="0"/>
              <a:t>print("MAE:", </a:t>
            </a:r>
            <a:r>
              <a:rPr lang="en-US" sz="1050" dirty="0" err="1"/>
              <a:t>mean_absolute_error</a:t>
            </a:r>
            <a:r>
              <a:rPr lang="en-US" sz="1050" dirty="0"/>
              <a:t>(</a:t>
            </a:r>
            <a:r>
              <a:rPr lang="en-US" sz="1050" dirty="0" err="1"/>
              <a:t>yr_test</a:t>
            </a:r>
            <a:r>
              <a:rPr lang="en-US" sz="1050" dirty="0"/>
              <a:t>, </a:t>
            </a:r>
            <a:r>
              <a:rPr lang="en-US" sz="1050" dirty="0" err="1"/>
              <a:t>yr_pred</a:t>
            </a:r>
            <a:r>
              <a:rPr lang="en-US" sz="1050" dirty="0"/>
              <a:t>))</a:t>
            </a:r>
          </a:p>
          <a:p>
            <a:pPr marL="0" indent="0">
              <a:buNone/>
            </a:pPr>
            <a:r>
              <a:rPr lang="en-US" sz="1050" dirty="0"/>
              <a:t>print("R²:", r2_score(</a:t>
            </a:r>
            <a:r>
              <a:rPr lang="en-US" sz="1050" dirty="0" err="1"/>
              <a:t>yr_test</a:t>
            </a:r>
            <a:r>
              <a:rPr lang="en-US" sz="1050" dirty="0"/>
              <a:t>, </a:t>
            </a:r>
            <a:r>
              <a:rPr lang="en-US" sz="1050" dirty="0" err="1"/>
              <a:t>yr_pred</a:t>
            </a:r>
            <a:r>
              <a:rPr lang="en-US" sz="1050" dirty="0"/>
              <a:t>))</a:t>
            </a:r>
          </a:p>
          <a:p>
            <a:pPr marL="0" indent="0">
              <a:buNone/>
            </a:pP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502815"/>
            <a:ext cx="4038600" cy="309180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 Plot</a:t>
            </a:r>
          </a:p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=(10,6))</a:t>
            </a:r>
          </a:p>
          <a:p>
            <a:pPr marL="0" indent="0">
              <a:buNone/>
            </a:pPr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Xr_test</a:t>
            </a:r>
            <a:r>
              <a:rPr lang="en-US" dirty="0"/>
              <a:t>, </a:t>
            </a:r>
            <a:r>
              <a:rPr lang="en-US" dirty="0" err="1"/>
              <a:t>yr_test</a:t>
            </a:r>
            <a:r>
              <a:rPr lang="en-US" dirty="0"/>
              <a:t>, color='blue', label='Actual Revenue')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Xr_test</a:t>
            </a:r>
            <a:r>
              <a:rPr lang="en-US" dirty="0"/>
              <a:t>, </a:t>
            </a:r>
            <a:r>
              <a:rPr lang="en-US" dirty="0" err="1"/>
              <a:t>yr_pred</a:t>
            </a:r>
            <a:r>
              <a:rPr lang="en-US" dirty="0"/>
              <a:t>, color='red', label='Predicted Revenue')</a:t>
            </a:r>
          </a:p>
          <a:p>
            <a:pPr marL="0" indent="0">
              <a:buNone/>
            </a:pPr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('Revenue Forecasting')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('Time Periods')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('Revenue')</a:t>
            </a:r>
          </a:p>
          <a:p>
            <a:pPr marL="0" indent="0">
              <a:buNone/>
            </a:pPr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34744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OUTPUT: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50109"/>
            <a:ext cx="4038600" cy="32445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Revenue Forecasting: </a:t>
            </a:r>
            <a:r>
              <a:rPr lang="en-US" dirty="0"/>
              <a:t>RMSE: 8623.359103500814 MAE: </a:t>
            </a:r>
            <a:r>
              <a:rPr lang="en-US" dirty="0" smtClean="0"/>
              <a:t>6765.603038483262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R²: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0.9068358390167899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40581"/>
            <a:ext cx="4038600" cy="251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13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Geometric Brownian 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Motion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(GBM) Simulation</a:t>
            </a:r>
          </a:p>
        </p:txBody>
      </p:sp>
    </p:spTree>
    <p:extLst>
      <p:ext uri="{BB962C8B-B14F-4D97-AF65-F5344CB8AC3E}">
        <p14:creationId xmlns:p14="http://schemas.microsoft.com/office/powerpoint/2010/main" val="389019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CODING: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502814"/>
            <a:ext cx="4038600" cy="3512215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# Correct GBM Simulation</a:t>
            </a:r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simulate_gbm</a:t>
            </a:r>
            <a:r>
              <a:rPr lang="en-US" dirty="0"/>
              <a:t>(S0, mu, sigma, T, </a:t>
            </a:r>
            <a:r>
              <a:rPr lang="en-US" dirty="0" err="1"/>
              <a:t>dt</a:t>
            </a:r>
            <a:r>
              <a:rPr lang="en-US" dirty="0"/>
              <a:t>=1/252):</a:t>
            </a:r>
          </a:p>
          <a:p>
            <a:r>
              <a:rPr lang="en-US" dirty="0"/>
              <a:t>    N = </a:t>
            </a:r>
            <a:r>
              <a:rPr lang="en-US" dirty="0" err="1"/>
              <a:t>int</a:t>
            </a:r>
            <a:r>
              <a:rPr lang="en-US" dirty="0"/>
              <a:t>(T/</a:t>
            </a:r>
            <a:r>
              <a:rPr lang="en-US" dirty="0" err="1"/>
              <a:t>dt</a:t>
            </a:r>
            <a:r>
              <a:rPr lang="en-US" dirty="0"/>
              <a:t>)</a:t>
            </a:r>
          </a:p>
          <a:p>
            <a:r>
              <a:rPr lang="en-US" dirty="0"/>
              <a:t>    t = </a:t>
            </a:r>
            <a:r>
              <a:rPr lang="en-US" dirty="0" err="1"/>
              <a:t>np.linspace</a:t>
            </a:r>
            <a:r>
              <a:rPr lang="en-US" dirty="0"/>
              <a:t>(0, T, N)</a:t>
            </a:r>
          </a:p>
          <a:p>
            <a:r>
              <a:rPr lang="en-US" dirty="0"/>
              <a:t>    W = </a:t>
            </a:r>
            <a:r>
              <a:rPr lang="en-US" dirty="0" err="1"/>
              <a:t>np.random.standard_normal</a:t>
            </a:r>
            <a:r>
              <a:rPr lang="en-US" dirty="0"/>
              <a:t>(size=N)</a:t>
            </a:r>
          </a:p>
          <a:p>
            <a:r>
              <a:rPr lang="en-US" dirty="0"/>
              <a:t>    W = </a:t>
            </a:r>
            <a:r>
              <a:rPr lang="en-US" dirty="0" err="1"/>
              <a:t>np.cumsum</a:t>
            </a:r>
            <a:r>
              <a:rPr lang="en-US" dirty="0"/>
              <a:t>(W) * </a:t>
            </a:r>
            <a:r>
              <a:rPr lang="en-US" dirty="0" err="1"/>
              <a:t>np.sqrt</a:t>
            </a:r>
            <a:r>
              <a:rPr lang="en-US" dirty="0"/>
              <a:t>(</a:t>
            </a:r>
            <a:r>
              <a:rPr lang="en-US" dirty="0" err="1"/>
              <a:t>dt</a:t>
            </a:r>
            <a:r>
              <a:rPr lang="en-US" dirty="0"/>
              <a:t>)  # Brownian motion</a:t>
            </a:r>
          </a:p>
          <a:p>
            <a:r>
              <a:rPr lang="en-US" dirty="0"/>
              <a:t>    X = (mu - 0.5 * sigma**2) * t + sigma * W</a:t>
            </a:r>
          </a:p>
          <a:p>
            <a:r>
              <a:rPr lang="en-US" dirty="0"/>
              <a:t>    S = S0 * </a:t>
            </a:r>
            <a:r>
              <a:rPr lang="en-US" dirty="0" err="1"/>
              <a:t>np.exp</a:t>
            </a:r>
            <a:r>
              <a:rPr lang="en-US" dirty="0"/>
              <a:t>(X)</a:t>
            </a:r>
          </a:p>
          <a:p>
            <a:r>
              <a:rPr lang="en-US" dirty="0"/>
              <a:t>    return t, S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# FIX S0 to float (not Series!) - Use .</a:t>
            </a:r>
            <a:r>
              <a:rPr lang="en-US" dirty="0" err="1"/>
              <a:t>iloc</a:t>
            </a:r>
            <a:r>
              <a:rPr lang="en-US" dirty="0"/>
              <a:t>[0] to extract the value</a:t>
            </a:r>
          </a:p>
          <a:p>
            <a:r>
              <a:rPr lang="en-US" dirty="0"/>
              <a:t>S0 = </a:t>
            </a:r>
            <a:r>
              <a:rPr lang="en-US" dirty="0" err="1"/>
              <a:t>stock_data</a:t>
            </a:r>
            <a:r>
              <a:rPr lang="en-US" dirty="0"/>
              <a:t>['Close'].</a:t>
            </a:r>
            <a:r>
              <a:rPr lang="en-US" dirty="0" err="1"/>
              <a:t>iloc</a:t>
            </a:r>
            <a:r>
              <a:rPr lang="en-US" dirty="0"/>
              <a:t>[-1]  # Last close price as float</a:t>
            </a:r>
          </a:p>
          <a:p>
            <a:r>
              <a:rPr lang="en-US" dirty="0"/>
              <a:t># Convert S0 to a float using .</a:t>
            </a:r>
            <a:r>
              <a:rPr lang="en-US" dirty="0" err="1"/>
              <a:t>iloc</a:t>
            </a:r>
            <a:r>
              <a:rPr lang="en-US" dirty="0"/>
              <a:t>[0] to avoid the </a:t>
            </a:r>
            <a:r>
              <a:rPr lang="en-US" dirty="0" err="1"/>
              <a:t>FutureWarning</a:t>
            </a:r>
            <a:endParaRPr lang="en-US" dirty="0"/>
          </a:p>
          <a:p>
            <a:r>
              <a:rPr lang="en-US" dirty="0"/>
              <a:t>S0 = float(S0.iloc[0]) if </a:t>
            </a:r>
            <a:r>
              <a:rPr lang="en-US" dirty="0" err="1"/>
              <a:t>hasattr</a:t>
            </a:r>
            <a:r>
              <a:rPr lang="en-US" dirty="0"/>
              <a:t>(S0, '</a:t>
            </a:r>
            <a:r>
              <a:rPr lang="en-US" dirty="0" err="1"/>
              <a:t>iloc</a:t>
            </a:r>
            <a:r>
              <a:rPr lang="en-US" dirty="0"/>
              <a:t>') else float(S0)</a:t>
            </a:r>
          </a:p>
          <a:p>
            <a:r>
              <a:rPr lang="en-US" dirty="0"/>
              <a:t>mu = </a:t>
            </a:r>
            <a:r>
              <a:rPr lang="en-US" dirty="0" err="1"/>
              <a:t>stock_data</a:t>
            </a:r>
            <a:r>
              <a:rPr lang="en-US" dirty="0"/>
              <a:t>['</a:t>
            </a:r>
            <a:r>
              <a:rPr lang="en-US" dirty="0" err="1"/>
              <a:t>Log_Returns</a:t>
            </a:r>
            <a:r>
              <a:rPr lang="en-US" dirty="0"/>
              <a:t>'].mean() * 252</a:t>
            </a:r>
          </a:p>
          <a:p>
            <a:r>
              <a:rPr lang="en-US" dirty="0"/>
              <a:t>sigma = </a:t>
            </a:r>
            <a:r>
              <a:rPr lang="en-US" dirty="0" err="1"/>
              <a:t>stock_data</a:t>
            </a:r>
            <a:r>
              <a:rPr lang="en-US" dirty="0"/>
              <a:t>['</a:t>
            </a:r>
            <a:r>
              <a:rPr lang="en-US" dirty="0" err="1"/>
              <a:t>Log_Returns</a:t>
            </a:r>
            <a:r>
              <a:rPr lang="en-US" dirty="0"/>
              <a:t>'].</a:t>
            </a:r>
            <a:r>
              <a:rPr lang="en-US" dirty="0" err="1"/>
              <a:t>std</a:t>
            </a:r>
            <a:r>
              <a:rPr lang="en-US" dirty="0"/>
              <a:t>() * </a:t>
            </a:r>
            <a:r>
              <a:rPr lang="en-US" dirty="0" err="1"/>
              <a:t>np.sqrt</a:t>
            </a:r>
            <a:r>
              <a:rPr lang="en-US" dirty="0"/>
              <a:t>(252)</a:t>
            </a:r>
          </a:p>
          <a:p>
            <a:r>
              <a:rPr lang="en-US" dirty="0"/>
              <a:t>T = 1  # 1 year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502813"/>
            <a:ext cx="4038600" cy="3091809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# Simulate GBM</a:t>
            </a:r>
          </a:p>
          <a:p>
            <a:r>
              <a:rPr lang="en-US" dirty="0"/>
              <a:t>t, S = </a:t>
            </a:r>
            <a:r>
              <a:rPr lang="en-US" dirty="0" err="1"/>
              <a:t>simulate_gbm</a:t>
            </a:r>
            <a:r>
              <a:rPr lang="en-US" dirty="0"/>
              <a:t>(S0, mu, sigma, T)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# Plot</a:t>
            </a:r>
          </a:p>
          <a:p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=(10,6))</a:t>
            </a:r>
          </a:p>
          <a:p>
            <a:r>
              <a:rPr lang="en-US" dirty="0" err="1"/>
              <a:t>plt.plot</a:t>
            </a:r>
            <a:r>
              <a:rPr lang="en-US" dirty="0"/>
              <a:t>(t, S)</a:t>
            </a:r>
          </a:p>
          <a:p>
            <a:r>
              <a:rPr lang="en-US" dirty="0" err="1"/>
              <a:t>plt.title</a:t>
            </a:r>
            <a:r>
              <a:rPr lang="en-US" dirty="0"/>
              <a:t>('Simulated Asset Prices using Geometric Brownian Motion')</a:t>
            </a:r>
          </a:p>
          <a:p>
            <a:r>
              <a:rPr lang="en-US" dirty="0" err="1"/>
              <a:t>plt.xlabel</a:t>
            </a:r>
            <a:r>
              <a:rPr lang="en-US" dirty="0"/>
              <a:t>('Time (Years)')</a:t>
            </a:r>
          </a:p>
          <a:p>
            <a:r>
              <a:rPr lang="en-US" dirty="0" err="1"/>
              <a:t>plt.ylabel</a:t>
            </a:r>
            <a:r>
              <a:rPr lang="en-US" dirty="0"/>
              <a:t>('Price')</a:t>
            </a:r>
          </a:p>
          <a:p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306969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2575" y="317701"/>
            <a:ext cx="6544225" cy="4215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2593" y="739775"/>
            <a:ext cx="6206863" cy="403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13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Option Pricing with </a:t>
            </a:r>
            <a:endParaRPr lang="en-US" sz="36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Binomial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Tree </a:t>
            </a:r>
          </a:p>
        </p:txBody>
      </p:sp>
    </p:spTree>
    <p:extLst>
      <p:ext uri="{BB962C8B-B14F-4D97-AF65-F5344CB8AC3E}">
        <p14:creationId xmlns:p14="http://schemas.microsoft.com/office/powerpoint/2010/main" val="3629049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CODING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502814"/>
            <a:ext cx="4038600" cy="351221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3600" dirty="0"/>
              <a:t># Correct Binomial Tree Call Option Pricing</a:t>
            </a:r>
          </a:p>
          <a:p>
            <a:pPr marL="0" indent="0">
              <a:buNone/>
            </a:pPr>
            <a:r>
              <a:rPr lang="en-US" sz="3600" dirty="0" err="1"/>
              <a:t>def</a:t>
            </a:r>
            <a:r>
              <a:rPr lang="en-US" sz="3600" dirty="0"/>
              <a:t> </a:t>
            </a:r>
            <a:r>
              <a:rPr lang="en-US" sz="3600" dirty="0" err="1"/>
              <a:t>binomial_tree_call_price</a:t>
            </a:r>
            <a:r>
              <a:rPr lang="en-US" sz="3600" dirty="0"/>
              <a:t>(S, K, T, r, sigma, N):</a:t>
            </a:r>
          </a:p>
          <a:p>
            <a:pPr marL="0" indent="0">
              <a:buNone/>
            </a:pPr>
            <a:r>
              <a:rPr lang="en-US" sz="3600" dirty="0"/>
              <a:t>    </a:t>
            </a:r>
            <a:r>
              <a:rPr lang="en-US" sz="3600" dirty="0" err="1"/>
              <a:t>dt</a:t>
            </a:r>
            <a:r>
              <a:rPr lang="en-US" sz="3600" dirty="0"/>
              <a:t> = T / N</a:t>
            </a:r>
          </a:p>
          <a:p>
            <a:pPr marL="0" indent="0">
              <a:buNone/>
            </a:pPr>
            <a:r>
              <a:rPr lang="en-US" sz="3600" dirty="0"/>
              <a:t>    u = </a:t>
            </a:r>
            <a:r>
              <a:rPr lang="en-US" sz="3600" dirty="0" err="1"/>
              <a:t>np.exp</a:t>
            </a:r>
            <a:r>
              <a:rPr lang="en-US" sz="3600" dirty="0"/>
              <a:t>(sigma * </a:t>
            </a:r>
            <a:r>
              <a:rPr lang="en-US" sz="3600" dirty="0" err="1"/>
              <a:t>np.sqrt</a:t>
            </a:r>
            <a:r>
              <a:rPr lang="en-US" sz="3600" dirty="0"/>
              <a:t>(</a:t>
            </a:r>
            <a:r>
              <a:rPr lang="en-US" sz="3600" dirty="0" err="1"/>
              <a:t>dt</a:t>
            </a:r>
            <a:r>
              <a:rPr lang="en-US" sz="3600" dirty="0"/>
              <a:t>))</a:t>
            </a:r>
          </a:p>
          <a:p>
            <a:pPr marL="0" indent="0">
              <a:buNone/>
            </a:pPr>
            <a:r>
              <a:rPr lang="en-US" sz="3600" dirty="0"/>
              <a:t>    d = 1 / u</a:t>
            </a:r>
          </a:p>
          <a:p>
            <a:pPr marL="0" indent="0">
              <a:buNone/>
            </a:pPr>
            <a:r>
              <a:rPr lang="en-US" sz="3600" dirty="0"/>
              <a:t>    p = (</a:t>
            </a:r>
            <a:r>
              <a:rPr lang="en-US" sz="3600" dirty="0" err="1"/>
              <a:t>np.exp</a:t>
            </a:r>
            <a:r>
              <a:rPr lang="en-US" sz="3600" dirty="0"/>
              <a:t>(r * </a:t>
            </a:r>
            <a:r>
              <a:rPr lang="en-US" sz="3600" dirty="0" err="1"/>
              <a:t>dt</a:t>
            </a:r>
            <a:r>
              <a:rPr lang="en-US" sz="3600" dirty="0"/>
              <a:t>) - d) / (u - d)</a:t>
            </a:r>
          </a:p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    # Asset prices at maturity</a:t>
            </a:r>
          </a:p>
          <a:p>
            <a:pPr marL="0" indent="0">
              <a:buNone/>
            </a:pPr>
            <a:r>
              <a:rPr lang="en-US" sz="3600" dirty="0"/>
              <a:t>    ST = </a:t>
            </a:r>
            <a:r>
              <a:rPr lang="en-US" sz="3600" dirty="0" err="1"/>
              <a:t>np.array</a:t>
            </a:r>
            <a:r>
              <a:rPr lang="en-US" sz="3600" dirty="0"/>
              <a:t>([S * (u**j) * (d**(N - j)) for j in range(N + 1)])</a:t>
            </a:r>
          </a:p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    # Option values at maturity</a:t>
            </a:r>
          </a:p>
          <a:p>
            <a:pPr marL="0" indent="0">
              <a:buNone/>
            </a:pPr>
            <a:r>
              <a:rPr lang="en-US" sz="3600" dirty="0"/>
              <a:t>    option = </a:t>
            </a:r>
            <a:r>
              <a:rPr lang="en-US" sz="3600" dirty="0" err="1"/>
              <a:t>np.maximum</a:t>
            </a:r>
            <a:r>
              <a:rPr lang="en-US" sz="3600" dirty="0"/>
              <a:t>(ST - K, 0)</a:t>
            </a:r>
          </a:p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    # Step backwards</a:t>
            </a:r>
          </a:p>
          <a:p>
            <a:pPr marL="0" indent="0">
              <a:buNone/>
            </a:pPr>
            <a:r>
              <a:rPr lang="en-US" sz="3600" dirty="0"/>
              <a:t>    for </a:t>
            </a:r>
            <a:r>
              <a:rPr lang="en-US" sz="3600" dirty="0" err="1"/>
              <a:t>i</a:t>
            </a:r>
            <a:r>
              <a:rPr lang="en-US" sz="3600" dirty="0"/>
              <a:t> in range(N-1, -1, -1):</a:t>
            </a:r>
          </a:p>
          <a:p>
            <a:pPr marL="0" indent="0">
              <a:buNone/>
            </a:pPr>
            <a:r>
              <a:rPr lang="en-US" sz="3600" dirty="0"/>
              <a:t>        option = </a:t>
            </a:r>
            <a:r>
              <a:rPr lang="en-US" sz="3600" dirty="0" err="1"/>
              <a:t>np.exp</a:t>
            </a:r>
            <a:r>
              <a:rPr lang="en-US" sz="3600" dirty="0"/>
              <a:t>(-r*</a:t>
            </a:r>
            <a:r>
              <a:rPr lang="en-US" sz="3600" dirty="0" err="1"/>
              <a:t>dt</a:t>
            </a:r>
            <a:r>
              <a:rPr lang="en-US" sz="3600" dirty="0"/>
              <a:t>) * (p*option[1:i+2] + (1-p)*option[0:i+1])</a:t>
            </a:r>
          </a:p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    # Debugging print statements</a:t>
            </a:r>
          </a:p>
          <a:p>
            <a:pPr marL="0" indent="0">
              <a:buNone/>
            </a:pPr>
            <a:r>
              <a:rPr lang="en-US" sz="3600" dirty="0"/>
              <a:t>    print("Final Option Values:", option)</a:t>
            </a:r>
          </a:p>
          <a:p>
            <a:pPr marL="0" indent="0">
              <a:buNone/>
            </a:pPr>
            <a:r>
              <a:rPr lang="en-US" sz="3600" dirty="0"/>
              <a:t>    print("Discount Factor:", </a:t>
            </a:r>
            <a:r>
              <a:rPr lang="en-US" sz="3600" dirty="0" err="1"/>
              <a:t>np.exp</a:t>
            </a:r>
            <a:r>
              <a:rPr lang="en-US" sz="3600" dirty="0"/>
              <a:t>(-r * </a:t>
            </a:r>
            <a:r>
              <a:rPr lang="en-US" sz="3600" dirty="0" err="1"/>
              <a:t>dt</a:t>
            </a:r>
            <a:r>
              <a:rPr lang="en-US" sz="3600" dirty="0"/>
              <a:t>))</a:t>
            </a:r>
          </a:p>
          <a:p>
            <a:pPr marL="0" indent="0">
              <a:buNone/>
            </a:pPr>
            <a:r>
              <a:rPr lang="en-US" sz="3600" dirty="0"/>
              <a:t>    print("Up Factor (u):", u)</a:t>
            </a:r>
          </a:p>
          <a:p>
            <a:pPr marL="0" indent="0">
              <a:buNone/>
            </a:pPr>
            <a:r>
              <a:rPr lang="en-US" sz="3600" dirty="0"/>
              <a:t>    print("Down Factor (d):", d)</a:t>
            </a:r>
          </a:p>
          <a:p>
            <a:pPr marL="0" indent="0">
              <a:buNone/>
            </a:pPr>
            <a:r>
              <a:rPr lang="en-US" sz="3600" dirty="0"/>
              <a:t>    print("Probability (p):", p)</a:t>
            </a:r>
          </a:p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    return option[0]  # ONLY option[0]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502813"/>
            <a:ext cx="4038600" cy="309180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000" dirty="0"/>
              <a:t># Parameters</a:t>
            </a:r>
          </a:p>
          <a:p>
            <a:pPr marL="0" indent="0">
              <a:buNone/>
            </a:pPr>
            <a:r>
              <a:rPr lang="en-US" sz="4000" dirty="0"/>
              <a:t>K = 15  # Strike price</a:t>
            </a:r>
          </a:p>
          <a:p>
            <a:pPr marL="0" indent="0">
              <a:buNone/>
            </a:pPr>
            <a:r>
              <a:rPr lang="en-US" sz="4000" dirty="0"/>
              <a:t>r = 0.03  # Risk-free rate</a:t>
            </a:r>
          </a:p>
          <a:p>
            <a:pPr marL="0" indent="0">
              <a:buNone/>
            </a:pPr>
            <a:r>
              <a:rPr lang="en-US" sz="4000" dirty="0"/>
              <a:t>N = 50    # Number of steps</a:t>
            </a:r>
          </a:p>
          <a:p>
            <a:pPr marL="0" indent="0">
              <a:buNone/>
            </a:pPr>
            <a:r>
              <a:rPr lang="en-US" sz="4000" dirty="0"/>
              <a:t>T = 1     # Time to maturity (1 year)</a:t>
            </a:r>
          </a:p>
          <a:p>
            <a:pPr marL="0" indent="0">
              <a:buNone/>
            </a:pP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# Correct Extraction of S0</a:t>
            </a:r>
          </a:p>
          <a:p>
            <a:pPr marL="0" indent="0">
              <a:buNone/>
            </a:pPr>
            <a:r>
              <a:rPr lang="en-US" sz="4000" dirty="0"/>
              <a:t>S0_value = </a:t>
            </a:r>
            <a:r>
              <a:rPr lang="en-US" sz="4000" dirty="0" err="1"/>
              <a:t>stock_data</a:t>
            </a:r>
            <a:r>
              <a:rPr lang="en-US" sz="4000" dirty="0"/>
              <a:t>['Close'].</a:t>
            </a:r>
            <a:r>
              <a:rPr lang="en-US" sz="4000" dirty="0" err="1"/>
              <a:t>iloc</a:t>
            </a:r>
            <a:r>
              <a:rPr lang="en-US" sz="4000" dirty="0"/>
              <a:t>[-1]</a:t>
            </a:r>
          </a:p>
          <a:p>
            <a:pPr marL="0" indent="0">
              <a:buNone/>
            </a:pPr>
            <a:r>
              <a:rPr lang="en-US" sz="4000" dirty="0"/>
              <a:t>if </a:t>
            </a:r>
            <a:r>
              <a:rPr lang="en-US" sz="4000" dirty="0" err="1"/>
              <a:t>hasattr</a:t>
            </a:r>
            <a:r>
              <a:rPr lang="en-US" sz="4000" dirty="0"/>
              <a:t>(S0_value, 'values'):</a:t>
            </a:r>
          </a:p>
          <a:p>
            <a:pPr marL="0" indent="0">
              <a:buNone/>
            </a:pPr>
            <a:r>
              <a:rPr lang="en-US" sz="4000" dirty="0"/>
              <a:t>    S0_value = S0_value.values[0]</a:t>
            </a:r>
          </a:p>
          <a:p>
            <a:pPr marL="0" indent="0">
              <a:buNone/>
            </a:pP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# Calculate</a:t>
            </a:r>
          </a:p>
          <a:p>
            <a:pPr marL="0" indent="0">
              <a:buNone/>
            </a:pPr>
            <a:r>
              <a:rPr lang="en-US" sz="4000" dirty="0" err="1"/>
              <a:t>binomial_price</a:t>
            </a:r>
            <a:r>
              <a:rPr lang="en-US" sz="4000" dirty="0"/>
              <a:t> = </a:t>
            </a:r>
            <a:r>
              <a:rPr lang="en-US" sz="4000" dirty="0" err="1"/>
              <a:t>binomial_tree_call_price</a:t>
            </a:r>
            <a:r>
              <a:rPr lang="en-US" sz="4000" dirty="0"/>
              <a:t>(S0_value, K, T, r, sigma, N)</a:t>
            </a:r>
          </a:p>
          <a:p>
            <a:pPr marL="0" indent="0">
              <a:buNone/>
            </a:pP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print("S0:", S0_value)</a:t>
            </a:r>
          </a:p>
          <a:p>
            <a:pPr marL="0" indent="0">
              <a:buNone/>
            </a:pPr>
            <a:r>
              <a:rPr lang="en-US" sz="4000" dirty="0"/>
              <a:t>print(</a:t>
            </a:r>
            <a:r>
              <a:rPr lang="en-US" sz="4000" dirty="0" err="1"/>
              <a:t>f"Binomial</a:t>
            </a:r>
            <a:r>
              <a:rPr lang="en-US" sz="4000" dirty="0"/>
              <a:t> Tree Call Option Price: {binomial_price:.2f}")</a:t>
            </a:r>
          </a:p>
          <a:p>
            <a:pPr marL="0" indent="0">
              <a:buNone/>
            </a:pP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5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23310" y="433880"/>
            <a:ext cx="6544225" cy="4215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smtClean="0"/>
              <a:t>OUTPUT:</a:t>
            </a:r>
            <a:endParaRPr lang="en-US" b="1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1823310" y="1697880"/>
            <a:ext cx="534467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Option Values: [0.86932835]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 Factor: 0.9994001799640054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 Factor (u): 1.0441771121940122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 Factor (d): 0.9576919359004261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(p): 0.4961340888052443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S0: 12.667119026184082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Binomial Tree Call Option Price: 0.87</a:t>
            </a:r>
          </a:p>
        </p:txBody>
      </p:sp>
    </p:spTree>
    <p:extLst>
      <p:ext uri="{BB962C8B-B14F-4D97-AF65-F5344CB8AC3E}">
        <p14:creationId xmlns:p14="http://schemas.microsoft.com/office/powerpoint/2010/main" val="33253917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Option Pricing 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Black-Scholes Formula</a:t>
            </a:r>
          </a:p>
        </p:txBody>
      </p:sp>
    </p:spTree>
    <p:extLst>
      <p:ext uri="{BB962C8B-B14F-4D97-AF65-F5344CB8AC3E}">
        <p14:creationId xmlns:p14="http://schemas.microsoft.com/office/powerpoint/2010/main" val="315002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BLACK-SCHOLES: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50109"/>
            <a:ext cx="4038600" cy="324451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Black-Scholes Call Option Pricing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black_scholes_call</a:t>
            </a:r>
            <a:r>
              <a:rPr lang="en-US" dirty="0"/>
              <a:t>(S, K, T, r, sigma):</a:t>
            </a:r>
          </a:p>
          <a:p>
            <a:pPr marL="0" indent="0">
              <a:buNone/>
            </a:pPr>
            <a:r>
              <a:rPr lang="en-US" dirty="0"/>
              <a:t>    d1 = (np.log(S/K) + (r + 0.5*sigma**2)*T) / (sigma*</a:t>
            </a:r>
            <a:r>
              <a:rPr lang="en-US" dirty="0" err="1"/>
              <a:t>np.sqrt</a:t>
            </a:r>
            <a:r>
              <a:rPr lang="en-US" dirty="0"/>
              <a:t>(T))</a:t>
            </a:r>
          </a:p>
          <a:p>
            <a:pPr marL="0" indent="0">
              <a:buNone/>
            </a:pPr>
            <a:r>
              <a:rPr lang="en-US" dirty="0"/>
              <a:t>    d2 = d1 - sigma*</a:t>
            </a:r>
            <a:r>
              <a:rPr lang="en-US" dirty="0" err="1"/>
              <a:t>np.sqrt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    call = S * </a:t>
            </a:r>
            <a:r>
              <a:rPr lang="en-US" dirty="0" err="1"/>
              <a:t>norm.cdf</a:t>
            </a:r>
            <a:r>
              <a:rPr lang="en-US" dirty="0"/>
              <a:t>(d1) - K * </a:t>
            </a:r>
            <a:r>
              <a:rPr lang="en-US" dirty="0" err="1"/>
              <a:t>np.exp</a:t>
            </a:r>
            <a:r>
              <a:rPr lang="en-US" dirty="0"/>
              <a:t>(-r*T) * </a:t>
            </a:r>
            <a:r>
              <a:rPr lang="en-US" dirty="0" err="1"/>
              <a:t>norm.cdf</a:t>
            </a:r>
            <a:r>
              <a:rPr lang="en-US" dirty="0"/>
              <a:t>(d2)</a:t>
            </a:r>
          </a:p>
          <a:p>
            <a:pPr marL="0" indent="0">
              <a:buNone/>
            </a:pPr>
            <a:r>
              <a:rPr lang="en-US" dirty="0"/>
              <a:t>    return call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# Calculate</a:t>
            </a:r>
          </a:p>
          <a:p>
            <a:pPr marL="0" indent="0">
              <a:buNone/>
            </a:pPr>
            <a:r>
              <a:rPr lang="en-US" dirty="0"/>
              <a:t># Use S0_value directly as it's already a float</a:t>
            </a:r>
          </a:p>
          <a:p>
            <a:pPr marL="0" indent="0">
              <a:buNone/>
            </a:pPr>
            <a:r>
              <a:rPr lang="en-US" dirty="0" err="1"/>
              <a:t>bs_price</a:t>
            </a:r>
            <a:r>
              <a:rPr lang="en-US" dirty="0"/>
              <a:t> = </a:t>
            </a:r>
            <a:r>
              <a:rPr lang="en-US" dirty="0" err="1"/>
              <a:t>black_scholes_call</a:t>
            </a:r>
            <a:r>
              <a:rPr lang="en-US" dirty="0"/>
              <a:t>(S0_value, K, T, r, sigma)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f"Black</a:t>
            </a:r>
            <a:r>
              <a:rPr lang="en-US" dirty="0"/>
              <a:t>-Scholes Call Option Price: {bs_price:.2f}")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3800" b="1" dirty="0" smtClean="0"/>
              <a:t>OUTPUT:</a:t>
            </a:r>
            <a:endParaRPr lang="en-US" sz="3800" b="1" dirty="0"/>
          </a:p>
          <a:p>
            <a:pPr marL="0" indent="0">
              <a:buNone/>
            </a:pPr>
            <a:endParaRPr lang="en-US" sz="3800" b="1" dirty="0" smtClean="0"/>
          </a:p>
          <a:p>
            <a:pPr marL="0" indent="0">
              <a:buNone/>
            </a:pPr>
            <a:r>
              <a:rPr lang="en-US" dirty="0"/>
              <a:t>Black-Scholes Call Option Price: 0.88</a:t>
            </a:r>
            <a:endParaRPr lang="en-US" sz="3800" b="1" dirty="0"/>
          </a:p>
        </p:txBody>
      </p:sp>
    </p:spTree>
    <p:extLst>
      <p:ext uri="{BB962C8B-B14F-4D97-AF65-F5344CB8AC3E}">
        <p14:creationId xmlns:p14="http://schemas.microsoft.com/office/powerpoint/2010/main" val="22050194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INTERPRETATIONS</a:t>
            </a:r>
            <a:endParaRPr lang="en-US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237335"/>
            <a:ext cx="625267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Stock Forecasting</a:t>
            </a:r>
            <a:r>
              <a:rPr lang="en-US" sz="1800" dirty="0">
                <a:solidFill>
                  <a:schemeClr val="tx1"/>
                </a:solidFill>
              </a:rPr>
              <a:t>: Useful for investment decisions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Credit Risk Modeling</a:t>
            </a:r>
            <a:r>
              <a:rPr lang="en-US" sz="1800" dirty="0">
                <a:solidFill>
                  <a:schemeClr val="tx1"/>
                </a:solidFill>
              </a:rPr>
              <a:t>: Helps in predicting potential defaults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Revenue Forecasting</a:t>
            </a:r>
            <a:r>
              <a:rPr lang="en-US" sz="1800" dirty="0">
                <a:solidFill>
                  <a:schemeClr val="tx1"/>
                </a:solidFill>
              </a:rPr>
              <a:t>: Assists in budgeting and strategic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292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Exploratory Data Analysis 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 MATRIX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497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53884" y="281175"/>
            <a:ext cx="6544225" cy="421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CODING: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1197404"/>
            <a:ext cx="7321605" cy="3574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# EDA: Correlation Matrix</a:t>
            </a:r>
          </a:p>
          <a:p>
            <a:pPr marL="0" indent="0">
              <a:buNone/>
            </a:pPr>
            <a:r>
              <a:rPr lang="en-US" sz="2400" dirty="0" err="1"/>
              <a:t>plt.figure</a:t>
            </a:r>
            <a:r>
              <a:rPr lang="en-US" sz="2400" dirty="0"/>
              <a:t>(</a:t>
            </a:r>
            <a:r>
              <a:rPr lang="en-US" sz="2400" dirty="0" err="1"/>
              <a:t>figsize</a:t>
            </a:r>
            <a:r>
              <a:rPr lang="en-US" sz="2400" dirty="0"/>
              <a:t>=(8,6))</a:t>
            </a:r>
          </a:p>
          <a:p>
            <a:pPr marL="0" indent="0">
              <a:buNone/>
            </a:pPr>
            <a:r>
              <a:rPr lang="en-US" sz="2400" dirty="0" err="1"/>
              <a:t>sns.heatmap</a:t>
            </a:r>
            <a:r>
              <a:rPr lang="en-US" sz="2400" dirty="0"/>
              <a:t>(</a:t>
            </a:r>
            <a:r>
              <a:rPr lang="en-US" sz="2400" dirty="0" err="1"/>
              <a:t>stock_data</a:t>
            </a:r>
            <a:r>
              <a:rPr lang="en-US" sz="2400" dirty="0"/>
              <a:t>[['Close', 'SMA_30', 'Volatility', '</a:t>
            </a:r>
            <a:r>
              <a:rPr lang="en-US" sz="2400" dirty="0" err="1"/>
              <a:t>Log_Returns</a:t>
            </a:r>
            <a:r>
              <a:rPr lang="en-US" sz="2400" dirty="0"/>
              <a:t>']].</a:t>
            </a:r>
            <a:r>
              <a:rPr lang="en-US" sz="2400" dirty="0" err="1"/>
              <a:t>corr</a:t>
            </a:r>
            <a:r>
              <a:rPr lang="en-US" sz="2400" dirty="0"/>
              <a:t>(), </a:t>
            </a:r>
            <a:r>
              <a:rPr lang="en-US" sz="2400" dirty="0" err="1"/>
              <a:t>annot</a:t>
            </a:r>
            <a:r>
              <a:rPr lang="en-US" sz="2400" dirty="0"/>
              <a:t>=True, </a:t>
            </a:r>
            <a:r>
              <a:rPr lang="en-US" sz="2400" dirty="0" err="1"/>
              <a:t>cmap</a:t>
            </a:r>
            <a:r>
              <a:rPr lang="en-US" sz="2400" dirty="0"/>
              <a:t>='</a:t>
            </a:r>
            <a:r>
              <a:rPr lang="en-US" sz="2400" dirty="0" err="1"/>
              <a:t>coolwarm</a:t>
            </a:r>
            <a:r>
              <a:rPr lang="en-US" sz="2400" dirty="0"/>
              <a:t>')</a:t>
            </a:r>
          </a:p>
          <a:p>
            <a:pPr marL="0" indent="0">
              <a:buNone/>
            </a:pPr>
            <a:r>
              <a:rPr lang="en-US" sz="2400" dirty="0" err="1"/>
              <a:t>plt.title</a:t>
            </a:r>
            <a:r>
              <a:rPr lang="en-US" sz="2400" dirty="0"/>
              <a:t>('Correlation Matrix of Stock Features')</a:t>
            </a:r>
          </a:p>
          <a:p>
            <a:pPr marL="0" indent="0">
              <a:buNone/>
            </a:pPr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4814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INTERPRETATION: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AutoShape 2" descr="data:image/png;base64,iVBORw0KGgoAAAANSUhEUgAAA+UAAAIjCAYAAABlBbqXAAAAOnRFWHRTb2Z0d2FyZQBNYXRwbG90bGliIHZlcnNpb24zLjEwLjAsIGh0dHBzOi8vbWF0cGxvdGxpYi5vcmcvlHJYcgAAAAlwSFlzAAAPYQAAD2EBqD+naQABAABJREFUeJzs3Xd0VNUWwOHflPRKegIkofcuvXdpgopSRFHE8lRs74nP8hQL9i4KioKKgCKiYqFJld57rwktIb0nU+77485MZpJJJSEk7G8tVu7cem6YJLPvOWdvjaIoCkIIIYQQQgghhLjmtFXdACGEEEIIIYQQ4kYlQbkQQgghhBBCCFFFJCgXQgghhBBCCCGqiATlQgghhBBCCCFEFZGgXAghhBBCCCGEqCISlAshhBBCCCGEEFVEgnIhhBBCCCGEEKKKSFAuhBBCCCGEEEJUEQnKhRBCCCGEEEKIKiJBuRBCiBvSunXr0Gg0LF68uEqu/80336DRaDh79myVXF8IIYQQ1wcJyoUQQlwzBw4cYPTo0URFReHu7k7t2rUZOHAgn376qcN+b7zxBr/++mvVNLIUzp49i0ajsf3T6XRERkZy6623snfv3qpuXpW5ePEiEyZMoEmTJvj4+ODv70+nTp349ttvURSl0P4XLlzgzjvvxN/fH19fX0aOHMnp06dLdS3rQxXrPzc3N0JDQ+nTpw9vvPEGV65cqejbK7UrV67wxBNP0LRpUzw8PAgJCaFTp048++yzZGRk2Pa799570Wg0+Pr6kp2dXeg8J06csN3fe++95/Raf/31FxqNhoiICMxmc6XdkxBCiMqjr+oGCCGEuDFs3ryZvn37EhkZyQMPPEBYWBixsbFs3bqVjz/+mClTptj2feONNxg9ejSjRo2qugaXwrhx4xg6dCgmk4kjR44wc+ZMli1bxtatW2nbtm2xx959992MHTsWNze3a9PYayAhIYHz588zevRoIiMjMRgMrFq1invvvZdjx47xxhtv2PbNyMigb9++pKam8vzzz+Pi4sKHH35I79692bt3L4GBgaW65uOPP07Hjh0xmUxcuXKFzZs38/LLL/PBBx+waNEi+vXrV1m361RSUhI33XQTaWlpTJo0iaZNm5KYmMj+/fuZOXMm//rXv/D29rbtr9frycrK4vfff+fOO+90ONf8+fNxd3cnJyenyOvNnz+f6Ohozp49y5o1axgwYECl3ZsQQojKIUG5EEKIa2L69On4+fmxY8cO/P39HbbFx8dXTaOuUvv27ZkwYYLtdffu3bnllluYOXMmX3zxhdNjMjMz8fLyQqfTodPprlVTr4nWrVuzbt06h3WPPfYYI0aM4JNPPuG1116z3fPnn3/OiRMn2L59Ox07dgRgyJAhtGzZkvfff98hgC9Oz549GT16tMO6ffv2MWjQIG6//XYOHz5MeHj41d9cKX399dfExMSwadMmunXr5rAtLS0NV1dXh3Vubm50796dhQsXFgrKFyxYwLBhw/j555+dXiszM5PffvuNN998k7lz5zJ//nwJyoUQohqS4etCCCGuiVOnTtGiRYtCATlASEiIbVmj0ZCZmcm3335rG7p777332rbv2bOHIUOG4Ovri7e3N/3792fr1q2FzpmSksJTTz1FdHQ0bm5u1KlTh3vuuYeEhIQi25ibm8vw4cPx8/Nj8+bNZb5Ha6/smTNngPx54+vXr+eRRx4hJCSEOnXqOGwrOKd82bJl9O7dGx8fH3x9fenYsSMLFixw2Gfbtm3cfPPN+Pn54enpSe/evdm0aVOxbYuLi0Ov1/PKK68U2nbs2DE0Gg0zZswAwGAw8Morr9CoUSPc3d0JDAykR48erFq1qszfE4Do6GiysrLIy8uzrVu8eDEdO3a0BeQATZs2pX///ixatKhc17Fq06YNH330ESkpKbZ7Ajh37hyPPPIITZo0wcPDg8DAQO644w6H/4PTp0+j0Wj48MMPC5138+bNaDQaFi5cWOS1T506hU6no0uXLoW2+fr64u7uXmj9+PHjWbZsGSkpKbZ1O3bs4MSJE4wfP77Ia/3yyy9kZ2dzxx13MHbsWJYsWVJsr7oQQojrkwTlQgghromoqCh27drFwYMHi91v3rx5uLm50bNnT+bNm8e8efN46KGHADh06BA9e/Zk3759TJ06lf/973+cOXOGPn36sG3bNts5MjIy6NmzJ59++imDBg3i448/5uGHH+bo0aOcP3/e6XWzs7MZMWIEmzdv5u+//y7Uy1kap06dAig09PqRRx7h8OHDvPTSS/z3v/8t8vhvvvmGYcOGkZSUxHPPPcdbb71F27ZtWb58uW2fNWvW0KtXL9LS0nj55Zd54403SElJoV+/fmzfvr3Ic4eGhtK7d2+nAe+PP/6ITqfjjjvuAGDatGm88sor9O3blxkzZvDCCy8QGRnJ7t27S/V9yM7OJiEhgbNnz/Ltt98yd+5cunbtioeHBwBms5n9+/dz0003FTq2U6dOnDp1ivT09FJdqyijR4/Gw8ODlStX2tbt2LGDzZs3M3bsWD755BMefvhhVq9eTZ8+fcjKygKgfv36dO/enfnz5xc65/z58/Hx8WHkyJFFXjcqKgqTycS8efNK3dbbbrsNjUbDkiVLbOsWLFhA06ZNad++fZHHzZ8/n759+xIWFsbYsWNJT0/n999/L/V1hRBCXCcUIYQQ4hpYuXKlotPpFJ1Op3Tt2lWZOnWqsmLFCiUvL6/Qvl5eXsrEiRMLrR81apTi6uqqnDp1yrbu4sWLio+Pj9KrVy/bupdeekkBlCVLlhQ6h9lsVhRFUdauXasAyk8//aSkp6crvXv3VoKCgpQ9e/aUeC9nzpxRAOWVV15Rrly5oly+fFlZt26d0q5dOwVQfv75Z0VRFGXu3LkKoPTo0UMxGo0O57BuO3PmjKIoipKSkqL4+PgonTt3VrKzs5222Ww2K40aNVIGDx5sW6coipKVlaXUq1dPGThwYLHt/uKLLxRAOXDggMP65s2bK/369bO9btOmjTJs2LASvw9FefPNNxXA9q9///5KTEyMbfuVK1cUQHn11VcLHfvZZ58pgHL06NFir2H//1eUNm3aKLVq1bK9zsrKKrTPli1bFED57rvvbOus36cjR47Y1uXl5SlBQUFO35f2Ll++rAQHByuA0rRpU+Xhhx9WFixYoKSkpBTad+LEiYqXl5eiKIoyevRopX///oqiKIrJZFLCwsKUV155xfZee/fddx2OjYuLU/R6vTJ79mzbum7duikjR44stn1CCCGuP9JTLoQQ4poYOHAgW7Zs4ZZbbmHfvn288847DB48mNq1a7N06dISjzeZTKxcuZJRo0ZRv3592/rw8HDGjx/Pxo0bSUtLA+Dnn3+mTZs23HrrrYXOo9FoHF6npqYyaNAgjh49yrp160pM0Gbv5ZdfJjg4mLCwMPr06cOpU6d4++23ue222xz2e+CBB0qcP75q1SrS09P573//W2iIs7XNe/futQ1pTkxMJCEhgYSEBDIzM+nfvz8bNmwoNgP3bbfdhl6v58cff7StO3jwIIcPH2bMmDG2df7+/hw6dIgTJ06U+nthb9y4caxatYoFCxbYhl/bZxe3LjtLcme9d2fZyMvK29vbocfd2lMP6hD9xMREGjZsiL+/v8MogDvvvBN3d3eH3vIVK1aQkJDgkEPAmdDQUPbt28fDDz9McnIys2bNYvz48YSEhPDaa685zUIP6hD2devWcfnyZdasWcPly5eLHbr+ww8/oNVquf32223rxo0bx7Jly0hOTi62jUIIIa4vEpQLIYS4Zjp27MiSJUtITk5m+/btPPfcc6SnpzN69GgOHz5c7LFXrlwhKyuLJk2aFNrWrFkzzGYzsbGxgDqMvGXLlqVq05NPPsmOHTv4+++/adGiRZnu58EHH2TVqlWsXr2aXbt2ER8fz9SpUwvtV69evRLPZR36Xly7rUHyxIkTCQ4Odvj31VdfkZubS2pqapHHBwUFFZqz/eOPP6LX6x0eJLz66qukpKTQuHFjWrVqxTPPPMP+/ftLvAerqKgoBgwYwLhx45g/fz7169dnwIABtkDbGhzn5uYWOtY6J9q6z+XLlx3+lSVYz8jIwMfHx/Y6Ozubl156ibp16+Lm5kZQUBDBwcGkpKQ4fN/8/f0ZMWKEw1z++fPnU7t27VJlcw8PD2fmzJlcunSJY8eO8cknnxAcHMxLL73E119/7fSYoUOH4uPjw48//sj8+fPp2LEjDRs2LPIa33//PZ06dSIxMZGTJ09y8uRJ2rVrR15eHj/99FNpvj1CCCGuExKUCyGEuOZcXV3p2LEjb7zxBjNnzsRgMFRZIDFy5EgUReGtt94qc53nRo0aMWDAAPr160f79u2LLG9m30N7Nazte/fdd1m1apXTf/bltpwZO3Ysx48ft9VTX7RoEf379ycoKMi2T69evTh16hRz5syhZcuWfPXVV7Rv356vvvqqXO0ePXo0sbGxbNiwAYCAgADc3Ny4dOlSoX2t6yIiIgA1wLX/Z9/LXxyDwcDx48cdAtspU6Ywffp07rzzThYtWsTKlStZtWoVgYGBhf7v77nnHk6fPs3mzZtJT09n6dKljBs3Dq229B+dNBoNjRs3ZsqUKWzYsAGtVut0rjqoowZuu+02vv32W3755Zdie8lPnDjBjh072LhxI40aNbL969GjB0CR1xBCCHF9kpJoQgghqpQ12Zd9gFZwiDlAcHAwnp6eHDt2rNC2o0ePotVqqVu3LgANGjQoMaGc1ahRoxg0aBD33nsvPj4+zJw5szy3cdUaNGgAqMPJi+ohte7j6+tb7tJXo0aN4qGHHrIFt8ePH+e5554rtF9AQAD33Xcf9913HxkZGfTq1Ytp06YxefLkMl/T2rtt7Y3WarW0atWKnTt3Ftp327Zt1K9f39bDXTDje2lHMyxevJjs7GwGDx7ssG7ixIm8//77tnU5OTkOWc+tbr75ZoKDg5k/fz6dO3cmKyuLu+++u1TXdqZ+/frUqlXL6YMIq/HjxzNnzhy0Wi1jx44tcr/58+fj4uLCvHnzCk2L2LhxI5988gkxMTFERkaWu71CCCGuHekpF0IIcU2sXbvW6Xzav/76C8BhWLqXl1ehQEmn0zFo0CB+++03hxJWcXFxLFiwgB49euDr6wvA7bffzr59+/jll18KXc9ZG+655x4++eQTZs2axbPPPlue27tqgwYNwsfHhzfffLNQWStrmzt06ECDBg147733yMjIKHSOK1eulHgdf39/Bg8ezKJFi/jhhx9wdXVl1KhRDvskJiY6vPb29qZhw4ZOh5uX5vpff/01Go3GIZP46NGj2bFjh0NgfuzYMdasWWPLAg8wYMAAh3+lqTm+b98+nnzySWrVqsWjjz5qW6/T6Qr9/3/66aeYTKZC59Dr9YwbN45FixbxzTff0KpVK1q3bl3itbdt20ZmZmah9du3bycxMdHp9Aurvn378tprrzFjxgzCwsKK3G/+/Pn07NmTMWPGMHr0aId/zzzzDECxZduEEEJcX6SnXAghxDUxZcoUsrKyuPXWW2natCl5eXls3ryZH3/8kejoaO677z7bvh06dODvv//mgw8+ICIignr16tG5c2def/11Vq1aRY8ePXjkkUfQ6/V88cUX5Obm8s4779iOf+aZZ1i8eDF33HEHkyZNokOHDiQlJbF06VJmzZpFmzZtCrXvscceIy0tjRdeeAE/Pz+ef/75a/J9sfL19eXDDz9k8uTJdOzYkfHjx1OrVi327dtHVlYW3377LVqtlq+++oohQ4bQokUL7rvvPmrXrs2FCxdYu3Ytvr6+pSqJNWbMGCZMmMDnn3/O4MGDC9WOb968OX369KFDhw4EBASwc+dOFi9ezGOPPVbseadPn86mTZu4+eabiYyMJCkpiZ9//pkdO3YwZcoUhxEAjzzyCLNnz2bYsGH85z//wcXFhQ8++IDQ0FD+/e9/l/r79s8//5CTk4PJZCIxMZFNmzaxdOlS/Pz8+OWXXxyC2+HDhzNv3jz8/Pxo3rw5W7Zs4e+//y5Uws7K+rBm7dq1vP3226Vqz7x585g/fz633norHTp0wNXVlSNHjjBnzhzc3d2LfV9ptVpefPHFYs+/bds2Tp48WeT/Re3atWnfvj3z58+vsgdMQgghyqgqU78LIYS4cSxbtkyZNGmS0rRpU8Xb21txdXVVGjZsqEyZMkWJi4tz2Pfo0aNKr169FA8PDwVwKEO1e/duZfDgwYq3t7fi6emp9O3bV9m8eXOh6yUmJiqPPfaYUrt2bcXV1VWpU6eOMnHiRCUhIUFRlKJLak2dOlUBlBkzZhR5L0WVqSrIWvZsx44dRW6zlkSzWrp0qdKtWzfFw8ND8fX1VTp16qQsXLjQYZ89e/Yot912mxIYGKi4ubkpUVFRyp133qmsXr262PZYpaWl2b6333//faHtr7/+utKpUyfF399f8fDwUJo2bapMnz7dafk6eytXrlSGDx+uREREKC4uLoqPj4/SvXt3Ze7cuQ4l3KxiY2OV0aNHK76+voq3t7cyfPhw5cSJE6W6B+v/n/Wfi4uLEhwcrPTq1UuZPn26Eh8fX+iY5ORk5b777lOCgoIUb29vZfDgwcrRo0eVqKioIkudtWjRQtFqtcr58+dL1a79+/crzzzzjNK+fXslICBA0ev1Snh4uHLHHXcou3fvdtjXviRaUQq+16ZMmaIADmUBC5o2bZoCKPv27StVm4UQQlQtjaIUUZtDCCGEEOIG165dOwICAli9enVVN0UIIUQNJXPKhRBCCCGc2LlzJ3v37uWee+6p6qYIIYSowaSnXAghhBDCzsGDB9m1axfvv/8+CQkJnD59Gnd396pulhBCiBpKesqFEEIIIewsXryY++67D4PBwMKFCyUgF0IIUamkp1wIIYQQQgghhKgi0lMuhBBCCCGEEEJUEQnKhRBCCCGEEEKIKqKv6gZUNrPZzMWLF/Hx8UGj0VR1c4QQQgghhBBC1HCKopCenk5ERARabfF94TU+KL948SJ169at6mYIIYQQQgghhLjBxMbGUqdOnWL3qfFBuY+PD6B+M3x9fSvknAaDgZUrVzJo0CBcXFwq5JxCVDZ534rqRt6zojqS962obuQ9K6qj6vC+TUtLo27durZ4tDg1Pii3Dln39fWt0KDc09MTX1/f6/ZNIERB8r4V1Y28Z0V1JO9bUd3Ie1ZUR9XpfVuaKdRVmuhtw4YNjBgxgoiICDQaDb/++qvD9oyMDB577DHq1KmDh4cHzZs3Z9asWVXTWCGEEEIIIYQQooJVaVCemZlJmzZt+Oyzz5xuf/rpp1m+fDnff/89R44c4cknn+Sxxx5j6dKl17ilQgghhBBCCCFExavS4etDhgxhyJAhRW7fvHkzEydOpE+fPgA8+OCDfPHFF2zfvp1bbrnlGrVSCCGEEEIIIYSoHNf1nPJu3bqxdOlSJk2aREREBOvWreP48eN8+OGHRR6Tm5tLbm6u7XVaWhqgzjswGAwV0i7reSrqfEJcC/K+FdWNvGdFdSTvW1HdyHu29BRFwWQyYTKZUBSlqptzQzMajej1ejIyMtDrr31Iq9Fo0Ol06HS6IueMl+VnSqNcJ+8ojUbDL7/8wqhRo2zrcnNzefDBB/nuu+/Q6/VotVpmz57NPffcU+R5pk2bxiuvvFJo/YIFC/D09KyMpgshhBBCCCFqMK1Wi7+/Px4eHqVK3CVqPkVRyMrKIjU1FbPZXGh7VlYW48ePJzU1tcSE49d1T/mnn37K1q1bWbp0KVFRUWzYsIFHH32UiIgIBgwY4PSY5557jqefftr22pqKftCgQRWafX3VqlUMHDjwus/2J4SVvG9FdSPvWVEdyftWVDfyni2Z2WzmzJkz6HQ6goODcXFxkcC8iimKQmZmJl5eXlXyf6EoCgaDgStXrhASEkK9evXQah3TtVlHbJfGdRuUZ2dn8/zzz/PLL78wbNgwAFq3bs3evXt57733igzK3dzccHNzK7TexcWlwn/RVMY5hahs8r4V1Y28Z0V1JO9bUd3Ie7ZoOTk5KIpC7dq1ZeTtdcJsNmMwGPDw8CgUDF9Lrq6unDt3DkVRCv38lOXnqUqzrxfHOge84DdZp9M5HR4ghBBCCCGEEJWlKoM/cX2qqPdElfaUZ2RkcPLkSdvrM2fOsHfvXgICAoiMjKR3794888wzeHh4EBUVxfr16/nuu+/44IMPqrDVQgghhBBCCCFExajSoHznzp307dvX9to6F3zixIl88803/PDDDzz33HPcddddJCUlERUVxfTp03n44YerqslCCCGEEEIIIUSFqdKgvE+fPsWWEwgLC2Pu3LnXsEVCCCGEEEIIcWNxVgmrOujXrx9t27blo48+quqmXBWZGCGEEEIIIYQQNdTly5eZMmUK9evXx83Njbp16zJixAhWr15d1U2zmTZtGhqNBo1Gg16vJzo6mqeeeoqMjIxij1u8eDGvvfbaNWpl5blus68LIYQQQgghhCi/s2fP0r17d/z9/Xn33Xdp1aoVBoOBFStW8Oijj3L06NGqbqJNixYt+PvvvzEajWzatIlJkyaRlZXFF198UWjfvLw8AAICAmpEAr7qfwdCCCGEEEIIcQ0pikJWnrFK/hU3/begRx55BI1Gw/bt27n99ttp3LgxLVq04Omnn2br1q1FHnfgwAH69euHh4cHgYGBPPjggw691uvWraNTp054eXnh7+9P9+7dOXfunG37b7/9Rvv27XF3d6d+/fq88sorGI3GYtuq1+sJCwujTp06jBkzhrvuuoulS5cCak9627Zt+eqrr6hXr56tNF2/fv148sknbefIzc3l2WefpW7duri5udGwYUO+/vpr2/aDBw8yZMgQvL29CQ0N5e677yYhIaHU38/KIj3lQgghhBBCCFEG2QYTzV9aUSXXPvzqYDxdSw7jkpKSWL58OdOnT8fLy6vQdn9/f6fHZWZmMnjwYLp27cqOHTuIj49n8uTJPPbYY3zzzTcYjUZGjRrFAw88wMKFC8nLy2P79u1oNBoA/vnnH+655x4++eQTevbsyalTp3jwwQcBePnll0t9nx4eHrYecYCTJ0/y888/s2TJEtu1CrrnnnvYsmULn3zyCW3atOHMmTO2oDslJYV+/foxefJkPvzwQ7Kzs3n22We58847WbNmTanbVRkkKBdCCCGEEEKIGubkyZMoikLTpk3LdNyCBQvIycnhu+++swXzM2bMYMSIEbz99tu4uLiQmprK8OHDadCgAQDNmjWzHf/KK6/w3//+l4kTJwJQv359XnvtNaZOnVrqoHzXrl0sWLCAfv362dbl5eXx3XffERwcjNlsJi0tzeGY48ePs2jRIlatWsWAAQNs17aaMWMG7dq144033rCtmzNnDnXr1uX48eM0bty4LN+mCiVBuRBCCCGEqLESMnJJzTbQINi7qpsiahAPFx2HXx1cZdcujbIMc7d35MgR2rRp49C73r17d8xmM8eOHaNXr17ce++9DB48mIEDBzJgwADuvPNOwsPDAdi3bx+bNm1i+vTptuNNJhM5OTlkZWXZhp4XdODAAby9vTGZTOTl5TFs2DBmzJhh2x4VFUVwcHCR7d67dy86nY7evXs73b5v3z7Wrl2Lt3fh3wWnTp2SoFwIIYQQQoiKlmc00/XN1SgKbP5vP0J83au6SaKG0Gg0pRpCXpUaNWqERqOplGRuc+fO5fHHH2f58uX8+OOPvPjii6xatYouXbqQkZHBK6+8wm233VboOHf3on8GmzRpwtKlS9Hr9URERODq6uqw3dkQfHseHh7Fbs/IyLD19hdkfaBQVSTRmxBCCCGEcGrmulOMnLGR1CxDVTelXJbuu4jBpGA0K5xLyqrq5ghxTQUEBDB48GA+++wzMjMzC21PSUlxelyzZs3Yt2+fwzGbNm1Cq9XSpEkT27p27drx3HPPsXnzZlq2bMmCBQsAaN++PceOHaNhw4aF/hWXKd3V1ZWGDRsSHR1dKCAvjVatWmE2m1m/fr3T7e3bt+fQoUNER0cXaldJAX9lk6BcCCGEEEI49fbyo+w7n8q8rWeruillZjYrzFp/yvY6K89U5L7bTifyn5/2ccuMjWw4fuVaNE+Ia+Kzzz7DZDLRqVMnfv75Z06cOMGRI0f45JNP6Nq1q9Nj7rrrLtzd3Zk4cSIHDx5k7dq1TJkyhbvvvpvQ0FDOnDnDc889x5YtWzh37hwrV67kxIkTtnnlL730Et999x2vvPIKhw4d4siRI/zwww+8+OKLlXqv0dHRTJw4kUmTJvHrr79y5swZ1q1bx6JFiwB49NFHSUpKYty4cezYsYNTp06xYsUK7rvvPkymon8/XAsSlAshhBBCiEJM5vz5qEmZ1a+nfMvpRE7G55dwysgpXI4pMSOXV38/zJgvt7J413n2n0/lnjnbScjIvZZNFaLS1K9fn927d9O3b1/+/e9/07JlSwYOHMjq1auZOXOm02M8PT1ZsWIFSUlJdOzYkdGjR9O/f3/b/G5PT0+OHj1qK7H24IMP8uijj/LQQw8BMHjwYP744w9WrlxJx44d6dKlCx9++CFRUVGVfr8zZ85k9OjRPPLIIzRt2pQHHnjA1uMfERHBpk2bMJlMDBo0iFatWvHkk0/i7+9f5bXOr++JEEIIIYQQokrYB6Y5xqrtRSqPvbEpDq8zcx2D8hyDiTu/2MKpK4WH9Z5NyCTI2832OjEjl3NJWbSPrFUpbRWiMoWHhzNjxgyHpGkFFUwK16pVqyLLhIWGhvLLL78Ue83BgwczeHDpE+FNmzaNadOmlXn7mjVrHAJqd3d3PvjgAz744AOn52nUqBFLliwpdbuuFekpF0IIIYQQhVxMybYtH7qYVsye16djl9MdXmcUCMrfXn7UFpBHBnjy1+M9bdsuWO49x2Bi86kEBn64gds+38z2M0mV3GohxI1IesqFEEIIIUQh55Pzg/J9sSks2hnLnTfVrcIWlc3Ry+qDhFBfN+LSch2C8s0nE5i76SwA/xnUmHu718PbTc9t7WqzZM8FTsRlsOLQZZ6Zv4mu7Ge85gINXS7g/essjE2aYwhsgs7NG1Iv4OruCcFNIKIduPtV6D2YzQoGsxk3felKYAkhqicJyoUQQgghRCFnExyHdb/460Gah/vSsnbFBp6VIddo4rSlF/ymqAD+PHDJYfj6FxtOAzCuUySP9WtkWx8dpGZgnrH2JH20e1npMpswTXL+iVOB7Rucf4DW6KBeT+j7ItTtWCH3cPdX2zl6OY21/+lDoN1weiFEzSJBuRBCCCHEDSg9x4CXqx6tVlNoW1JmHrtj1GD06YGN2Rubwpqj8czZeIYPxrS9xi0tu1PxmRjNCr7uehqGeAP5w9eNJjM7z6rD0O/u4ph46p4ukei3fU6fnNU0154DIM8rApcGvZh73JXYdIUoTRx9tXvJwo0jShS9QnIIMsZBaiycXgeXD8Lju6+613zuprNst7Rzb2wK/ZuFXtX5hBDXLwnKhRBCCCFuMMcupzP0k3/o3zSEWRM6OATme2NTuGv2VjItJcQahXhTL8iLNUfjiU2uHrW+j8WpQ9ebhvni7aZ+3E3PMRKblMVby46SmWfCx11PkzCf/IMUBf/N03kkbw5owaRoWOZ5C8OfmAWunrhvi2HuLwcAmGZ3LZ8EPbe2r81/bnLB95cJkHAc1r4JQ94qd/szco18YVfObf3xKxKUC1GDSaI3IYQQQogbzKaTCZjMCisPx/HtlrO29dl5Jv71/S4y80xEB3oyqXs9+jYNIcLfHYAdZ5PZfDKhilpdekcvqUnemob7ULuWBwBL912k73vr+PPAJQA6Rgegsz6MuLALfroXNn0MwG+1JtIp93OSe78Grp4AjO1Yl0/HtWNKv4YO10rPNfLdlnO8vDEbbn5TXbltFhz5o9zt/3DVcZKz8svQfbflHBtPXP/fdyFE+UhQLoQQQghxgzl5Jb9+95vLjtoyle88l8Sl1ByCfdz4fUoPXhrRHHcXHeF+Hrb9x3+17Zq3t6yOWu6nSZgPLSPyh5Eb7Wqvd60fqC7smQ+z+8HhXwENDHmXIY9+xCeTBzGuY35iO61Ww4g2ETzevxFfT7yJZU/0pGejINv2vw5cgoYDoP1EQIEf71IDfVPZarwfupjK1xvPAHBzizDb+ul/HSlUtkoIUTNIUC6EEEIIcYM5Fa8G5f6eLuQZzcz+R018tuucOo+8e4NAfNxdbPuH+DgmGUu19uKmxMCJv2HvQki7eA1aXjrWzOtNw3ypG+BBmK/a09+mjh+1/T1oU8ePcZ0j4fwu+ONJ9aBmt8CDa6Hzg7jqtXRvGIReV/ijsotOS/9moTQL96VxaP7w91yjWa2NPuRt6PSQmvjt0C/w9zQAsvKMjPliC5+tPVlku+dvO8ewTzYC6rSBz+9qz8dj2wJw5FIa9Z77i8PVsDydEKJ4MqdcCCGEEKKcFEVBoymcKO16dyUjF4ABzUJZvOs8CRm5GExmW1DeIaqWw/56nZb372jDv3/aB0DmxSP4bX8Dji/L36lOR5j897W5gWKkZOURl6beX5MwHzQaDT8+1IUjl9Lo2zQEV50WxZCL9sB8WPsGmPKgyTC441vQlq2/KsDL1eH1N5vO8NHYdjD0HTUT+48TYMsMUMysNHVj+xnYdiaJR/s2LHSuN/86YssKD9C5fgBarYaRbWuzJyaFbzafBeDFXw+w5JHuZfyuCCGuZ9JTLoQQQghRDtP/PEzXN9cQn55T1U0pM2tPd21/dVj6umNXaPTCMv6xzFvuEBVQ6JjbO9ShlU8GH7p8RtjCAZaAXAMhLUDrAud3wMW91+oWnDp8MY175+4AoF6Qly3JW1SgFze3DMdNr0NjyEY7/zb4/XHIuAzBTeHWWWUOyAECCwTlZvvR5c1GQM//qMtbP2fUjgn84foCzTVnC53neFy6Q0AO4KrLr01+f496uGBkgm4V9yW8D789CuvfgZzUMrdZCHH9kaBcCCGEEKIcZv9zhstpOSzcFlvVTSkTRVFIzbYE5bU8Cm0P93N3zEpuZcjhQ9Nb3KrbhNaUy05zE5b3/QMe2QzNb1H32TW3Mpvu4EJKNuNnb+Xvw3EAHLyQytBP/mFvbAp6rYaXRjR3cg/Z6lzvc5vAzRcGvgb3rwR333K1wdvdcdDpyfgMxx36vQh3zuNK3cFkKm600J7jD9cXUGb3d0gEt8pyD32bBPNw7wa46rWM7WSZz56VRN1tr7LX7z+87jKXEebVsOd7WDsdvh8NxtxytV3cGGbOnEnr1q3x9fXF19eXrl27smzZMod9cnJyePTRRwkMDMTb25vbb7+duLi4Ys+7bt06NBoNGo0GrVaLn58f7dq1Y+rUqVy6dKkyb8nm22+/pV27dnh7e+Pv70+7du148803bdunTZuGRqPh5ptvLnTsu+++i0ajoU+fPoW2nT9/HldXV1q2bFmZzXcgQbkQQgghRBnlGEy25Z3nkqqwJWWXmWeyJTyr4+8YlM+a0IFfH+2en5Xc3j/v0dB8mkTFh1tzX2F03ks8vCyVhdtjoMN96j4HFkPc4cq+BQBe/f0Qm08lMvm7nQDM23LOtu2DMW3p2yTE8YCts+CjVnBqDbh4wl2LofvjV1VPXF/g+3TqSgYm++5yjYb4OoNY2fJdeud+xF+mTmg1CpoLO9WHAxveA5PBFpQPbB7Gszc34cirN6vz1XNS4btbYNtMvHLjSVD8+NQ4iottHgdXHzi/Hb4bCcdXgtmEEAXVqVOHt956i127drFz50769evHyJEjOXTokG2fp556it9//52ffvqJ9evXc/HiRW677bZSnf/YsWNcvHiRHTt28Oyzz/L333/TsmVLDhw4UFm3BMCcOXN4/vnneeyxx9i7dy+bNm1i6tSpZGQ4PhgLDw9n7dq1nD9/vtDxkZGRTs/9zTffcOedd5KWlsa2bdcmsaUE5UIIIYQQZXQ2MdO2/M+JBI5cqj7Jt1Ky8gBw1WsJ9M5P4Oam1zK4RSihlqRoDlIvwJbPAHjBcD97lEaAGpA+t+QAM06HQlhryMuA2X3h2LLC56hg55OzHV7vO58CwBd3d+CWNhGOO2+fDcufhcwr4Fsbxv8IkZ2vug1Nw/J72N30WnKNZmKT8mu5Z+YaGfzRBl745SAJ+PGI4Uk658wgvc396g5rXiNnehT3Xn6daM0l+jcLQaPRqA9FTEZYOB4uHwCvYLhzHq81WsT7xjt56PxglLHfq4F5zBZYcAcsffyq70eUgaJAXmbV/CtDFv4RI0YwdOhQGjVqROPGjZk+fTre3t5s3boVgNTUVL7++ms++OAD+vXrR4cOHZg7dy6bN2+27VOckJAQwsLCaNy4MWPHjmXTpk0EBwfzr3/9y7bPjh07GDhwIEFBQfj5+dG7d292795t2z5p0iSGDx/ucF6DwUBISAhff/210+v+/vvvjBo1ivvvv5+GDRvSokULxo0bx/Tp0wu1b9CgQXz77be2dZs3byYhIYFhw4YVOq+iKMydO5e7776b8ePHF3n9iiaJ3oQQQgghymB3TDL/+n6Xw7plBy/TLLx8Q6CvtRTLfHJ/Dxe83PLnLdeu5eE8ad3FvfDDXWDI4oxHC5bndARg5l3t2Xkuma83nuG9VSfoM2kuLbc/Cyf/hl8fgcd2gFdQ4fNVEK1dW88nZ3HCMnS8Ve0CPd9nN8Kyqepyr6nQeyroXKgI0UFe/PhgFwK9XXl84V4OX0rjRHwG0UFeAOw/n+pQbxwgjgCGnxxBV4OGqfofCDBnMEq3meG6beh/WqQGXBoNxB+B3DTQu8OEnyG8DY8HZ7D00HoOXEjllHdvGj64Tq2JvuMr2Ps9tL8bIrtUyL2JEhiy4I2IkverDM9fBFevMh9mMpn46aefyMzMpGvXrgDs2rULg8HAgAEDbPs1bdqUyMhItmzZQpcuZXs/eXh48PDDD/PUU08RHx9PSEgI6enpTJw4kU8//RRFUXj//fcZOnQoJ06cwMfHh8mTJ9OrVy8uXbpEeHg4AH/88QdZWVmMGTPG6XXCwsJYt24d586do169esW2adKkSUydOpUXXngBUHvJ77rrLqf7rl27lqysLAYMGEDt2rXp1q0bH374IV5eZf9+l4X0lAshhBBClMH0P4/Ysntb7YlJrqLWlJ11Prmfh4stERpAqI+THnJjHvwwHtLOQ2BDlkb/D9DQJNSHwS3C+N/w5nRroNb7PpzqBmMXQmhLyE7KD4Qrif3I8VGfbcZkVgjwciXcz+4+Lh+AxfeDYobWY6Hv8xUWkFt1rh9IwxAfGoV6A3AiPt227cCFFKfHnEvM4gdTP27KncVE7RusMbVFjwlit6lD0mO3qQG5Ry0Y8QmEtwGgQbA33RuoDzrWHYuHoIYw7D01GAdY9iyYzRV6f6L6O3DgAN7e3ri5ufHwww/zyy+/0Ly5mnPh8uXLuLq64u/v73BMaGgoly9fLtf1mjZtCsDZs2cB6NevHxMmTKBp06Y0a9aML7/8kqysLNavXw9At27daNKkCfPmzbOdY+7cudxxxx14e3s7vcZLL72En58f9evXp0mTJtx7770sWrQIs5P3//Dhw0lLS2PDhg1kZmayaNEiJk2a5PS8X3/9NWPHjkWn09GyZUvq16/PTz/9VK7vQ1lIT7kQQgghRCnlGEzstwyTXv9MHxIy8rh95mZ2nE0i12iqFr0dFyzDvsP9PfCyC8qDC9QiB+Dwr5B2AbxD4YE19Igz8Xf8YV4c1gytJSquY0kWdzktB/SucMun8FV/OPgzRPeEDveqPb8VYNPJBDacuMLwVhFcSs3Pep9gKfHWIsI3v7f/ynGYc7M6pD6oiVqmrBLL1zUKUYOHk3H5c1r3nS8+O/pzQ1twT7ehJGfeD1nHIekUGCz3FdgAItqDzvHjep8mwWw8mcD641eY3LO+urLf/+DgL3BpL2z/Arr8C1HJXDzVHuuqunYZNGnShL1795KamsrixYuZOHEi69evtwXmJWnRogXnzqk5G3r27FkoUVxBimV4vfVnMS4ujhdffJF169YRHx+PyWQiKyuLmJgY2zGTJ0/myy+/ZOrUqcTFxbFs2TLWrFlT5DXCw8NZuXIlMTExbNy4kc2bNzNx4kS++uorli9fjtaumoKLiwsTJkxg7ty5nD59msaNG9O6detC50xJSWHJkiVs3LjRtm7ChAl8/fXX3HvvvSV/o66CBOVCCCGEEKV0PC4dg0kh0MuVyABPIgM8CfJ2JSEjj70xKbSve/0PYY+xzHmODPDARZf/wbVHQydDzbd/qX7t9AC4+9EhCn6f0sNhlzDLHPTLaZZgsnZ7aD9RzcT+x5PqcPYx35c7IE7PMbD6SDwGk5lnFu8H4Iv1p53u2z7Srr76+rfUgLxuZ3UO+VUkdCuNBsFqUH7GLt+A9QHOt5M6EeLjxp6YFH7YEcPLI5o7lJ0L89OBX2sILxwoFNSnSTCv/3mEbaeTyMoz4umqB+8Q6DYF1r0By/+rTjkY+VmhgF5UII2mXEPIq4KrqysNGzYEoEOHDuzYsYOPP/6YL774grCwMPLy8khJSXHoLY+LiyMsLAyAv/76C4NBHWHj4VG4YkNBR44cASA6OhqAiRMnkpiYyMcff0xUVBRubm507dqVvLw82zH33HMP//3vf9myZQubN2+mXr169OzZs8RrtWzZktatW/PII4/w8MMP07NnT9avX0/fvn0d9ps0aRKdO3fm4MGDRfaSL1iwgJycHDp3zs83oSgKZrOZ48eP07hx4xLbU17ykyqEEEIIUUqXLb2zdQI8bb1AXRsE8fu+i2w+lXjdBuVpOQZ+3B7L6YRMYpLUoDEyQO1te3pgY05fyWBUu9qOByWfVWuPa7RqkF2EUMtw8Ti7nmuGvA0+YfDPB3D0D7XHvcWt5Wr7G38dYeH2wmXnGoV489ld7Rn04Qbb6/t7WuaWxh+Bg0vU5aHvqcPAK5mfpzosPiPHCMCZhExik7LRaqBtXX/8PFxoFu7L+M7OMz6XVoNgb2r7e3AhJZutpxPp1zRU3dDz32A2wj/vw/4f1ID8lhmVOjpAVE9ms5ncXHV0SYcOHXBxcWH16tXcfvvtgJpRPSYmxjbvPCoqqtTnzs7O5ssvv6RXr14EBwcDsGnTJj7//HOGDh0KQGxsLAkJCQ7HBQYGMmrUKObOncuWLVu47777ynxf1p7/zMzMQttatGhBixYt2L9/P+PHj3d6/Ndff82///3vQr3ijzzyCHPmzOGtt94qc5tKS4JyIYQQQohSiktXP8iG2g317tYgkN/3XWT98St0jPLDeB1O6f187SlmrT/lsM6aOfzx/o2cH3ToF/VrdA+1J7YIgV6uAKRk2yU007tBn/+qScvWvwWrXoLGQ8DFybz1EtgH5HfeVIdFO9XSRje3DKNxqA/jO0dyLjGTT8e1x9dNr/YS//UMoECzEaXqfa4IXq7qx+r0HCPpOQaWHVRrNfdsFIyfR8XNY9doNLSN9OdCSjanr2TSr6llg04P/V6AiHZqubU934NHAAyYBlpdcacUNdhzzz3HkCFDiIyMJD09nQULFrBu3TpWrFgBgJ+fH/fffz9PP/00AQEB+Pr6MmXKFLp27VqqJG/x8fHk5OSQnp7Orl27eOedd0hISGDJkiW2fRo1asS8efO46aabSEtL45lnnnHa4z558mSGDx+OyWRi4sSiHwSCGigHBgZy8803ExkZyaVLl3j99dcJDg62PUwoaM2aNRgMhkLz5wH27t3L7t27mT9/vm1OvNW4ceN49dVXef3119HrKyd8rg5Tn4QQQgghrgvxliHa9mXDrIm39samMGHOTtZcvP56Js8lOvYcje1Yl56NismMfvJv2PC+utyi+HrFesvcTYf63FbdHwefCEiJgTWvgTG38D7FUBTF1tGr0cBro1ry4Zg2DGgWyuQe6nzqN25txfzJXQhw18Kv/4Ive6vJ0vQe0PfFMl3valgz2V9Oy6HbW2tYd+wKUGBIfQUJsTwUupLh5PvZdCgM/1Bd3vyJWsc8p/i57aLmio+P55577qFJkyb079+fHTt2sGLFCgYOHGjb58MPP2T48OHcfvvt9OrVi7CwMIegujhNmjQhIiKCDh068NZbbzFgwAAOHjzoMF/966+/Jjk5mfbt23P33Xfz+OOPExJS+EHfgAEDCA8PZ/DgwUREFJ/Z3novY8aMoXHjxtx+++24u7uzevVqAgMDnR7j5eXlNCC3trF58+aFAnKAW2+9lfj4eP76669i23Q1pKdcCCGEEKKU4mxBeX5Ped0AD/w9XWylxg4lX399HkmZ+XM3J3WvxwvDmjkvfwaQdBoWjAWzQU3U1mZcsefW6dTzOA3KXb1gwMvwy0OwZYaa/O2WGdBoQOF9nTifnG0ryXzolcG46XXc2q4Ot7ar47hjdgr8/jgc/g00Omg6TJ1jHVL4A3ZlsU+al55jZPuZJADHbPAVJMSSKf9KehEPOTrcCzo3+PPfcPYf2PAeDHqtwtshrn+lqbPt7u7OZ599xmeffVbq8/bp08eW0K0k7dq1Y8eOHQ7rRo8eXWi/zMxMkpOTuf/++0s85+23387AgQPx9fV1SOpmb9q0aUybNq3Ic3z00Ue25U8//bTI/cLCwjCZTCW26WpIUC6EEEIIUUqJGWpwG+idH5RrNBrCfN1tQXlMhhqUBbhUbOmtq2ENyudP7kx3Zwnd7O1dqAbkkV1hwhI1o3ox9JYs7EZnQTlA6zGQm67OL0+/CL89Ak/sA5eSE0YdupgGqFnVPV2dfGzNTlFroh9fppY907nCHd+qvcXXmNP2AWGVEJRbM+UXGZQDtB2nzqVfOAa2z4auj4FPaIW3RYirZTabSUhI4P3338ff359bbrmlqpt0zV1/j3KFEEIIIa5T9jW+7dmXEzOjYce566tueXKWGpQHeBUfYKMosP9Hdfmm+0sMyAF0WmtPeRGT6TUaNXv743vAry5kxKnznVET532y+gQPfreTH3fEWM6jsOZoHLvOJfP1RjXLerNwJwn0TAZYdA8c+1MNyIMaw7gfqiQgB/B0dT5vu3J6ytX3W3xaCdMBGg+GOh3BmK0mgBPiOhQTE0NoaCgLFixgzpw5lTZv+3p2492xEEIIIUQ5peU4D8rt55gDbD2dxOCWxc+JvFbMZoVkSy9+iUF5zFZIOQeu3uoQ8FKwzik3mkoYyuriDt2fgL/+Axs/JDeqN7fPPc+FFLVu+vazSYzpGMmqw3E8/P0u22Ferjru6Vog+/OZDbDlMzizHly84J7foG7HUrW3stiXl2sc6k24nwfpOQaigyq+bFYtT/X/MdU+uZ4zGg30fQHmjVJL1EX3gOY3Xi+kuL5FR0eXeih8TSU95UIIIYQQpVRUT7n9HHOALaeTrlmbSnL4Uhoms4JOq8Hfs4Qh9ft/UL82uwVcPUt1fl1Jw9fttZsAvrUh7QK6Wd1ol7bGtikly4DBZOZkfLptXaMQbxb/qxut6/jnn2Pjh/DtCDi+HNDAbV9UeUBeUG1/D76d1Iklj3R3CNYrio+7NdN7CUE5QP0+0GgQmPJg0d3q/HILo8nMYwv3sixWQgIhqpL8BAohhBBClJI1KPd1L76n/OjldBKdZcauAu+tPAbA0FbhuOmLKY2VfA4OWsqgtRlb6vPrtcUkeivIxQMm/k5OVF/0ioG3Xb5kRN0cLKcgOTOPi5Z654/3a8iqp3urQ9cVBc5tht8ehb+nqTu3HgMPrFHLnl1nrInYKos1KM/MM5X8fddoYMz36igFwLzhPWJizgKw/0IqKw7Hs/y8loMX0iqzyTXCjd6bKwqrqPeEBOVCCCGEEKWQazSRY1DnTRfsKbcPwnQa9UPa1iruLc/KMzJl4R7WHbuCXqvh3wMbF71z8lmYOwRyUyG4qZp1vZTye8pLV6D9g11GOp97iG3mpnhpcnkz9w0GeRzDjTwSM/O4ZBnOHu5vlwhu2bNq+yxz0en9LNz2JdRuX+p2Xgu+lmB5WOvwSr2Oj91DoYwcY6Ht87acpcVLy9lyKlFdoXeDAa+g1L4JrTGb/bMf5vt/jjgkivtk7clKbXN15mJJ2piVlVXFLRHXG+t7wuUqE3vKnHIhhBBCiFJIy1aDH40mv6fSyqFEmheczYBzSY61wa+1N/46wu/7LgJwS5uI4uc2r3sL0i5AUBO4+xcoosSQM/riSqIVkJ1n4vN1pzCaFZ51fYLl7i/jnXaSWbzCEde6bDgQTWyyJSi3JkjbuwC2fwFo1PJsbcdBvV6lbt+1tPzJXpy6kkHPRsGVeh1XvRY3vZZco5m0HAN+dtMScgwm/vfbIQBe+u0gq57urW7QaDjfYSp1L9zJcN0W0v7uyxzNKEAdabD2WAKHL6bRPMIXs1khLceAv2fJif5uBDqdDn9/f+Lj4wHw9PQsuqSguCbMZjN5eXnk5OQUWRKtMimKQlZWFvHx8fj7+6PTFTMKqRQkKBdCCCGEKIXUbDWDuY+bHq3W8QO5/fB1fzcFMjQlJ+GqZD/uiLUt1w8uJiDPTVfrewOMnAG+ZUtQV2JJNDv7z6dgNCuE+Lix6r9jcUlsD+vfIuPwKpppYzn9z1ROGp5Aq9HQKtRdLc/2x1PqwX2egz7Plqlt11qEvwcR/iWXeqsIPu4u5Gbkkl6gp/z0lfyHQecSs1AUxRZAbjE352PDQzzh8it1NXE8yUK2aeuzxdwCgN0xyTSP8GXc7K1sO5PE/4Y35/4e9a7J/VzvwsLCAGyBuahaiqKQnZ2Nh4dHlT4g8ff3t703roYE5UIIIYQQpZCUWXQG8yC7uuUBlsW0qwjKU7Ly+H3fRUa0iSh3b6XBLhu6ffsKOfQrGLIgsKFaPquMdJZeKlMR2ddzDCZ+2hlLnQBPDlvqjneIqqUmQAtpCnd8w9ffzOdfZ6YwTLedBOUbtoffReCiW+DiHvUkjQZBr2fK3LaazNddT0JGLvHpOaxdG8/A5qE0DvUhNjl/iHWeyUxCRp6tZF9MYhaLTb3xuOkuWux+hbG61byo/55b8l7HhI5ziZmkZhvYdkadevHZ2pNM6BJZfC6CG4RGoyE8PJyQkBAMhqp94CbAYDCwYcMGevXqddVDx8vLxcXlqnvIrSQoF0IIIYQohaRMdf6ts6DcVa/lt0e7k5NnYNGqLdys3c59J96Gn5tAh3shqps67r2Unl60jzVH41l9NJ5v7ut01W0vMihXFNgxW11uN6FMbbQqrqc8O8/E0E/+4UyC41D+DlG1HF6bIm7irRPjecllHhP1q5h4ZZW6wd0Puk2BLo+WaUj9jcA6heLeuTsA+OfEFX54sCvnLcP/rS6kZNuC8rg0NYlemL8X37hPYEjeFlpozzHP/X0+zRvGucRQTsTlZ79Pysxj1rrTPDGg0bW4pWpBp9NVWCAmyk+n02E0GnF3d6+yoLwiSVAuhBBCCFEKiZnq8PUAL+cBbpu6/hgyU0jN+p1BrosgGziwDw4sgk4PwtB3S32tNUfVIbLrjl0pV1uNJseka37OSqEpCuz7AS7tA50btLunXNcqbk75S78dLBSQA3SuF+jwum6AJ8+YbiYNT+7Sraad1pJ0bPiH0PL2crWrpmsY4sO+86m219bEghcKBOUXU7JpW9cfgMuWoDzExw29bzDPXZrMDJdP6abZSzfXvXx6/jKHLj6unl9znvt0K2ix8QLK7gQ03qEw5K3rdj6/ENWZBOVCCCGEECU4ejmN5QcvAxDopKccgJit6BfcyaAcNVDa6tqFLi0bw+7vYPts6HAfhDav1HbGJmXx7M/76dbAMegt1GZDDvx8Pxz9Q33d7i7wcjymtIrLvv7PiQTb9Vf/uze/77tILS9XWtXxc9hvZNvafLnhNIvje7POfSA7x2rAmANNh5WrTTeCh3vX5+fd522vG4Z4A4Vrl286mcCCbTH4ebrYpg+E+bnj5arnL3MXRuSF8UHwXzRJ28gjuXNYs+YkH7sYGK7fgU6xnCsLyEqA70ZCvxehx9PlGlUhhHBOgnIhhBBCiGLEJGZxy4xN5BnVoDPAu4igfNVLaHJSSdGH8HH2YNZ7jmLNLQMgOwWOLIV1b8KYeZXa1ru/3sbZxCw2W0thAa+NbEH9YG/HHXd9owbkWhfo8RT0+k+5r6m3DCs3K2A2K2g08PwvBzmfnMXlNLUG+bpn+uDj7sLdXaOdnsNVr2XV073ZdS6ZyABP8ClmDrwAoFGoDw/3bsCs9acAbIkFs/JMAHi66sjKMzF/W0yhY8N83akb4Mm2M0kcUqI5Uu8BTh7xYVjeMgYa14MOUOBcQHfeu9wOl6B6vF9vJ5p9C2H1qxDaEhoPvmb3KkRNJ5NzhBBCCCGK8d7KY7aAHKBhwQAX4PIBiN2GotXzW9SLzDUNITnHckzf5wGNGpivegnOboSc1MLnKEJmbuE61EU5m+hYR7l+sFfhQNhsVoNygEGvQ78X1DrW5aSzy0RvNCtcSMlm4fYYWy9594ZBDnW1i9MhqpZt/rMo2X+HNOWfqX2B/MSCmXnq+6VRiJP3KVDL04UGwd5M7lmPMTfV5ZeHu6DRaljf8FkeznuSj4y3Mc/nfhj/E76TfmGltgdL4sNZ1Xga3DRJPcne+ZV+b0LcSCQoF0IIIYQo4NnF++n25mqmLT3EUkut70UPdWXpY925rX3twgfsnAuA0mQYJld/AHIMlqA8pBm0v1td3vQxfDMM3oqEGZ3Ucl/plwudzj7QXbi9cE+nM85KsAU4y9x+7C+4cgRcfaDN2FKduzh6u7aazAon4zMctv9nUJOrvoYomjVfQK7RTI7BRFau2lPeMMSn0L6tavvxxq2t0Go1NA3z5e3RrWlZ2xeA5hG+LDd34iPjaOj2ODQeRC1vN4a1CgfgwXm72B9mmd9/5A9IKd37UghRMgnKhRBCCCHsnE3I5MedsVxMzeGbzWdt6zvVC6B1HX/HmriKos4Xt/Q8m9tPxMXy6SrbYEJRLMnPhrwDA6ZBk6HgV1ddl3AMds6BrwdC2iWHNni65Gd3PnIpndI4fSWj0LqoQLv65GYTrHoZFt+nvu54P3j4l+rcxXHsKTc7BOWNQ71pU/fqryGK5u2qt03vXnU4ztZT3ji0cE/571N6MMQSZBc0sHkoLSJ86RBVi1va5j94ameXKf+VHVo10Ztigq2zKvAuhLixyZxyIYQQQgg7/5xMKLSuyCHVa6fDBktW9bYTUKJ64nZgmW1zjsGMh6sOXDzUudtWmQkQswVWvgjJZ2HerTD+B6gVjaIoZBtMtl1zjfnLxUnJcuwpb1PHj/8Mbqy+UBRY8QJsm6m+rtfbsT1Xwb6n3GhS+POA+oDB3UXLwge6VMg1RNG0Wg0+bnrScoxMWbgHV736VKhxaOGe8uKE+Ljx5+M9C623Hwav02qg2xNwZoP6IKpuR2g2UsrVCXGV5CdICCGEEMLOgfMpDq/b1PHjq3tuKryjyQBbPlOX+78MI2eARmPrKQccgmsHXkHQbATc8xv4hKvDyT/vCkd+Jz4916Hmd2JGXqnanWGZe14/yIv5kzvz66PdCffzUOeQr/pffkA+aqZ63QroJQfHnvIF22PYE5OCi07Dhmf6ElhUfXRRoTxc80dWWPMfFHyQ1LacIxY6RQfQxpIt/1JqNjTsD3U6giETfroXVk8r13mFEPkkKBdCCCGEsGM/XPyVW1rw22M9nA/BvrQPDFngUQu6P2krEaXVYOutdBaUH72cxr++36XW764VDZOWQ1QP9Vx/PcPBGMee+sTM3FK125oQrl6QF90bBqnD7OMOw+ddYPOn6k5D3oG24yu0nJVGo7EF5u+uOAbAvwc1IcTXvcKuIYqndfL/6WkXqAPMn9y5fOfWavhobDsAkjMN6ntnwhLoacnYv+UzSDhZrnMLIVQSlAshhBBC2IlNVjOYr3iyFxO7RRe947lN6tfIroWG73pYusuz8woH5ffN3cGyg5eZsnC3uqJWNNz9C3gFQ/olMg+qtcNbRKgJuM4mZDH52x28vfwoOUX0vMel5XAhJRsALzfL7MTcDPhxgjp33d0PBr8JnR8q6fbLxb63vHO9AB7oWb9SriOccxaUe7npmdyjHq46LQse6Jz/vigHPw81mVxGrhGDyQzuvtD/f9BoMJiN6kgMIUS5SVAuhBBCCGGRnmOwzc2uXcuj+J3PbVa/RnUvtMndkqitYBCdYzBxKTUHgIMX0ki1zgPXu0L7ewBoePYHAIa1DsfXXU+eyczfR+KZue6UrSa1vcSMXAa8v55P16i9ld7uenUO+V/PQNIp8K0NU3ZD10dK8R0oH/uQ8LVRLR2CdFE1PF11vDCsGbv+N4BuDYKu6ly+7vkBfZp9lv9Br4FGp2b0l95yIcpNgnIhhBBCCIvzyWpvcy1PF7yL61k0m+DcFnU5qluhzR6WoLzg8PXYJMc64jPtg+wO96JotDTP2UN9zUW61A9k7X/68O2kTtzSJgKARTti8zO6W+yJSSHdVstcoX/SD/BhC9i3ADRauG22Ooe9EuXa1XFv4KyOu6hUneoFOLxuF+mPt5sejUZT6hrxxdHrtPhYfh4cSu8FN4H6fdTlDe+oD4OEEGUm2deFEEIIISysNckbhpQQWF7cA7mpaq3vsNaFNlt7ygsOXz+TkOnweu6mM9zbLZowP3fwjyS33kDcT6/gU5dPaWhqiZt3V3o3DqZzvQCWH7rMxdQcTl3JsNWg3rBpI2kbZvOUXsNlJYDu2oP0j92mnlzrAoNeh+jCPfmVSXrJr72XhjfHz8OFqEBPejQMokGwt2Ppvgrg6+FCeq7RMSgH6PEknF4L+3+EoMbQ6z8Vel0hbgTSUy6EEEIIgZpZes7GMwA82KtB0TuazbDSMoe20UDQFe7jsCbZKthTfi5R7Skf3jqcm6JqkWs08/jCPZxLVIP1PfUfJF3xoIX2HG7zRsBZdd66u4uObg0CAZi94QwY88ha/gqdVo7ittxfeUL/C2+6fM1w3TbMGh0MeRf+GwNdHi7/N6QcQn0l23pVqOXlyrRbWnBf93o0CvVBWwkPRqzzygsF5fV6wVBLWcD174CxdIkJhRD5JCgXQgghhABmrjtFrtFMx+haDGgWUvSOe+ZBzGZw8YKBrzrdxd2S6K3gnPKzluC7XpAXI9uqQ9K3n02i97vrUBSFFUnh9M39gCM+3cBsgIVjYf8iMBl4vH8jAH7aFcvFH57Ac+sHuGsMHDFHssDYjzWmtmwwteKnZp9A5wfB1fNqvyVlVtu/hHn4otoqMigHuOl+8AwCU65alUAIUSYSlAshhBBCAOuPXwHg4d4Nih/6u2ee+rXPs+Bf1+kuXq5O5t+SH5RHBXrRqV6g42ljU1h9NI4E/Lg4cKaaQC43DZY8AO83pf3FH7mjsY6Rmn+IOLkAgCfzHmFI3ps8b5zMoT5fMc3vdXoOur3M915Rate69g8CxLVRbFCu0UBdS8k16/QJIUSpyZxyIYQQQtzw4tNzOJeYhUYDHQskzXJgMsLlg+pyk6FF7lbbX63RbU0cZ3U2QR2+Xi/Ik6hAxwD2P4v2EZuk7t++QQQ0/xX+eQ92zoXMeFj+LO8CuKr7zzUO5ldzDwAe6FmPKf0bMcXSm15VGgR7Ven1ReXx97QE5VlOgnKAup3g2J+WoHzKtWuYEDWABOVCCCGEuOHtOpsMQJNQH3yLy1adcByM2eDqDQFFzzuvG6AG3Na54gC5RhMXU9WgOyrQy5YMzuq0JQmcj5teDYA0Guj7PPR6BrbMgLVvopiNXDDXYqu5Oe8YxwCw/pk+RAVWbTD89MDGrD4az/096lVpO0TlKbanHOx6yrerWdgrONGcEDWZBOVCCCGEuOFtO5MEwE3RtYrf0TpfNqw1aIueBRgZoM6ttiZ2A7UcmqKAt5ueQC9Xh/1Dfd2IS1MTZIX5uTsOn9e5QI+noMsjnLqSyYCPt9g2+Xu6EBlQ9UPGH+/fyDbnXdRMviUF5RFt1Yz/GXGQcg5qRV+ztglR3cmcciGEEELckJYfvMS8recwmMz8sV8thdazUXDxB13aq36NaFvsbqE+6vD1hIw82zrr0PXoIE9b0P3tpE6MaBPB8id60aOhWku8bV1/5yfVu1HLx7FHvFVtvwovfSWEM9ae8pSignIXDwhvoy7Hbr9GrRKiZpCeciGEEELccAwmMw9/vxuAIC9XEjLy8HHX069pMVnXIb+n3Bp8FME2/zY7D0VR0Gg0DknerHo3DqZ3Y/VBwDf3dWTr6STa1PUr5ryOPexTBzctvr1CVJASh6+DOoT9wk51XnnrO69Ry4So/qSnXAghhBA3HPu53htOJADQINgbF10xH43MZri0X10uISj381D7PQwmhaw8tSyarRxaEfO/9TotPRoF4VPMnHadXf3pWRPa06pO0QG8EBXJ+qAprdigvJP69fQ69edFCFEqEpQLIYQQ4oZzIi7Dtrz+WDwA9YNKSJaWeBIMmaD3gKDGxe7q4aLD1RLgW4f7WueXF8y6XlYvj2jOyLYRDGgWelXnEaIsStVTXr8PuPmqPytH/7g2DROiBpCgXAghhBA3nHNJ+QnYLqbmANAs3Lf4g2xJ3lqBVlfsrhqNBj9Lz2JKljqv3NpTHl1S8F+C+7rX4+Ox7dAX16svRAWzzSkvqiQagIc/dH5YXV7/tvSWC1FK8ttcCCGEEDec5Kw8h9cdomoxvnNk8QfFWLKelzB03crfI7+uc57RzAVLzfLoKi5fJkR5WIPybIOJPKMabOcaTWRbpmfYdPkXuPpA3EGI2XytmylEtSRBuRBCCCFuOCmZ+b19A5uH8s19HfFyKyb/bfxR2P2dutxoYKmuYZ2Dm5SVR2xyFmYFvFx1BHm7lnCkENcf+1wHqdkGFEVh1Gebuen1VeyLTcnf0TMAGvZTly/uubaNFKKakqBcCCGEEDcca0/5a6NaMvuem4pNroaiwJ//BrMBGt8MjQaV6hphfmqt8osp2bbEclGBXlLCTFRLOq0GX3f1wVVqtoGULANHLqWRmWfi281nHXcOa6V+vXzg2jZSiGpKSqIJIYQQ4oZjnRdby7OYYNwq9Tyc2whaPQx9F0oZVNetpQbl55OzcXdR56BHBlxdkjchqpKfpwtpOUZSs/PIyDXa1mfmGR13DJWgXIiyqNKe8g0bNjBixAgiIiLQaDT8+uuvhfY5cuQIt9xyC35+fnh5edGxY0diYmKufWOFEEIIUWNYe8preZZiKPmFXerXkObgX8K8czt1LQF4bFIW6Tlq0OLrIf0hovqyz8BuX1YwuWDyN2tPecJxMORcq+YJUW1VaVCemZlJmzZt+Oyzz5xuP3XqFD169KBp06asW7eO/fv387///Q93d/dr3FIhhBBC1BSp2QYuWTKulyoov7hb/Vq7Q5muU7eWJShPzrYlw/J0laBcVF/elrwLGbkmziTYBeWZjokT8Y0Aj1pgNsKVo9eyiUJUS1X6l2HIkCEMGTKkyO0vvPACQ4cO5Z133rGta9CgwbVomhBCCCFqqPdXHiMj10j9YC8ah3qXfMAFa1DevkzXqWMbvp5lG+rr6Vp8KTUhrmfWoDwz18jRS+m29YV6yjUatbf8zAZ1CHtE2wprQ2q2gT/2X2RYq3D8S/NQTYhq4Lp9XGs2m/nzzz+ZOnUqgwcPZs+ePdSrV4/nnnuOUaNGFXlcbm4uubm5ttdpaWkAGAwGDIZi6iqWgfU8FXU+Ia4Fed+K6kbes6IynIjLYN7WcwBMG94UxWzCYDYVfYDZhP7iHjSAIaQ1lPB+tH/fBnvp0Wggx2DmXGIGAO56jbynxXWlLL9rPVzUQbZpWbkcvpRqW5+SlUdeXp5DEkNtSAt0ZzZgurQfcwW+5x9fsJv1JxLYfS6Jt25tWWHnFdVLdfiMUJa2aRRFUSqxLaWm0Wj45ZdfbAH35cuXCQ8Px9PTk9dff52+ffuyfPlynn/+edauXUvv3r2dnmfatGm88sorhdYvWLAAT09JriKEEEJUhbQ82BKvoUuIgl8Vdm5tvKzhpzM6GvuZebS5ucT9/bLO0ufYSxi0Hixr/TmKpmw93S/v0pGSpyHATSEpV8Nt0SZ6h18XH72EKLMfT2vZHKelX7iZNZccZ8G+3dGIu113X52kTXQ49wWJXo3Z2PjFCmvDE1vUi+g0Ch90KeaBmhBVLCsri/Hjx5Oamoqvr2+x+17XPeUAI0eO5KmnngKgbdu2bN68mVmzZhUZlD/33HM8/fTTttdpaWnUrVuXQYMGlfjNKC2DwcCqVasYOHAgLi6lyNoqxHVA3reiupH3bM1y+6yt7L+QxhVdLRbc37HK2nFwxXE4c5YuzaIZOrRpiftrt30Ox0BXvwdDho0ocf+C79vvL+1gx9lkknLVHsSb2rZmaIfaV30fQlSUsvyu3b/8GJvjzpHmGgCkEOLjRlqOgRyDmY49+9jyKACQ0BC++IKAvPMMvXmQWr3gKiVm5MKW9QA0Dfdl6NCuV31OUT1Vh88I1hHbpXHdBuVBQUHo9XqaN2/usL5Zs2Zs3LixyOPc3Nxwc3MrtN7FxaXC/8Mq45xCVDZ534rqRt6zNcP+C+qHkx1nk6v0//NimjrFLTLQq3TtiNkCgLZeL7RlaLf1fVs3wJMdZ5Nt6309XeX9LK5Lpfld6+uhfsbeFZMCqIHxibh0LqXmkJGnOB4f2gzcfNHkpuFy/E9oNfqq27gj5optWaPRyM+SuK4/I5SlXVWafb04rq6udOzYkWPHjjmsP378OFFRUVXUKiGEEEJcjVKW+K4Uczed4c/9lwCoU6sUU9riDsHpdepydI9yXbNuget4SfZ1UY15uanTN6yTX5uF+diSrSUVzMCu1ULnh9XlP5+GlNirvv7mUwm25aSMvGL2FKJ6qdK/DBkZGZw8edL2+syZM+zdu5eAgAAiIyN55plnGDNmDL169bLNKf/9999Zt25d1TVaCCGEEOXm6VJ12cdf+f2wbTncr4Tyqjmp8MNdYMyG+n0hol25rmmtVW7lIdnXRTXm5eYYOjQN9+HABTXhW0rBDOwAvafCqTVwYSf88jDc+8dVPZnbfCrRtpyYmYeiKA7J5YSorqq0p3znzp20a9eOdu3UP3RPP/007dq146WXXgLg1ltvZdasWbzzzju0atWKr776ip9//pkePcr3tFoIIYQQVcvT7froKQ7xLTzVzcG+HyH5DPhFwug55Q4kgrwds9p5VOFDCSGuVsGgvH1kLWp5qe/x5CwnPdc6F7h9Nmhd4NxGSD5b7msrisKF5Gzb61yjmVxjyckahagOqvQvY58+fSgp+fukSZOYNGnSNWqREEIIISqT13XSUxzkXUJQbh22ftN94BlQ7uv4uDvOKWxdx6/c5xKiqtmPMBnWOpyoQC9qearv8ULD160C6kNwE4g7CFeOQkC9cl0712jGaHaMG7LzTLjLgy5RA1y3c8qFEEIIUTPYP4D3qKI51QaTY4+ai66Yj0AmI5y1JJWt3+eqrutrVyPqgZ71ZKitqNbaR9ayLY/rGAlA/SBvAA5fLCbTdLCl0kH8kXJfOysvv/yZ1vJjlG2QkmiiZpCgXAghRI2XYzAxe8NpYpOybOv2xaZwPjmrmKNERUmwS8jk4+4YlOcaTXz1z2lOxmdUahtSs53Mdy3Kpb2QmwrufhDe5qqu6+uR31NesNdciOpGp9Ww4slefDSmLd0bBgLQIUoN1HfFJBc9AjbEEpRfOVrua2fmGgFwd9HahtHnSFAuaggJyoUQQtR4//p+F9P/OsLLSw8B8O3ms4z8bBP3zNlexS27McQkZRa57fO1p3j9zyMM++SfSm2DfRKqT8aVkLTNOnS9Xi/QXt3QWPuHEDqt9JKL6q9JmA+j2tW2jfpoFu6Lm15LSpaB0wlF/KwHN1O/XkVPeWaeGpR7u+ltuRmkp1zUFBKUCyGEqNEURWHtMbW27Zqj8QB8ueE0AKevZGI0SaKgynY2IX9EQl6BxEzrjqv/N5WdsMmahKpugAe3tIkofmdbUN77qq8rid1ETeeq19Kmjj8Au84lO98pxBKUJxwHc/kC6cxc9ThPV72tioH0lIuaQoJyIYQQNdp5u2y99YO9SMnK40JK/roikxOJCnMsLt22XDAoz7b0flV6Gy6rbahnmf9apLwsiN2mLl/lfHLAYQ55Sclthaiu2luGsO8uKiivFQ0unmDMgcSTzvcpQZbld4Wnqw53vaWnPE8eqoqaQYJyIYQQNdq+8ym25fQcI3M2nXXYHp+ee20bdANadyzetpxXYGSCffKmynToolpLuWWEb/E7bpkBpjzwrQ2BDSu0Df6eriXvJEQ11D7SHyimp1yrg9CW6vKl/eW6hrWn3MtNj7v0lIsaRoJyIYQQNdr+86m25SvpuXyy+oTD9isSlFeq88lZHI/LT+JWMAt6tl1QbjZXXk/ywQtqZuhWtYspSXbwZ1g7XV3uPbXctckLevv2VgxtFcYdN9WpkPMJcb1pFq4+7IpJKiZ5Zu0O6tedX4O57D3c1kRvXm56PFzUEEbmlIuaQoJyIYQQNdq+2JRC65qE+tCrcTAgQXllW2uZx2+dW20/fN1kVmxzvUEdyVAZ8oxm2/D1lkUF5VlJ8Od/1OWuj0GHeyvs+mM6RvL5XR1w08v8clEzWed45xrNRU/T6PoIuHhBzBbY812Zr2Edvu7lqpNEb6LGkaBcCCFEjWUyKxy8kFpo/WP9GlLLUy1PlZZThlJZosysSfZubhkGOAblF5Kzse8cL1PZsjI4EZ9OnsmMr7ueOrU8nO+08QPITlKzRA+YVintEKKmctPnhxRFJm30j4R+L6rLa6aXubc8My8/0Zu7iwxfFzWLBOVCCCFqrNNXMsjMM+HpqmPHCwMY1iqccZ3qMrRVuK1UVWX1zgpIyMhl44kEAAa3UIPyxMw8W0/aySvpDvvP336uUtphfTDTsrafQ+I1G5MR9v2oLvf/H+iknrgQZeFuV2Ug11BMsN1xsprwLTO+yJrlaTkGVhy6XCjgzsq1lkSz6ym/RjkphKhs+pJ3EUIIIaqnw5fUecTNw30J9nHjs7va27Z5u6mBlwTllefrjWfIM5lpU8ePFnYJ1hZsj2HBthgOXUxz2P+L9ae586a6NAguIUN6GVnnkxc5dP3sBjVI8AiARoMq9NpC3Aj0Wg1aDZgVyDWagCIebOldoW4ntezguU0Q2rzQLp+vPcWs9adoGubD71N64KJT+xAzrCXR3PQYLENsZPi6qCmkp1wIIUSNZa2PXT/Yq9A2a095Rq4MX68sf+6/BMDknvUdhre+8MvBQgG5VVHrr4Z1PnmzcJ/CGxNPwe9PqsstRkkvuRDloNFo7IaUlzAsPaqH+vXsP043741VM7gfvZzOa38ctq23n1Nu/f2dli0PVUXNIEG5EEKIGutcYiYAUYHFBeXyoa6yWOfrNw3zwdOt6MF5t7WrbVs+eqlig3JFUTgerwbljUIKBOXGPPj2Fkg5p9ZR7vnvCr22EDcS64M3tae8GNHWoHyT03nlrnYJEX/YEWvLQ2E/p7yWpbxgil2iSCGqMwnKhRBC1FjnLOV5ogI9C23zdpM55ZXNvoSRt5ueN25t5XS/B3rVZ2LXKACOVHBQnpiZR0qWAY2GwsPiT/4NaefBKwTuXwV+UrJMiPIqdU957Q7qvPKsBIg/XGhzul3yTfvKCZm2OeV6W6LOZAnKRQ0hQbkQQoga61yiGpRHO+0plznllSnXaMJgUud9elkegIzvHEnj0MLzxesFeTGiTQQARy6lF9p+Nawl7wK9XG1lm2wOLVG/thoN3iEVel0hbjS2oLyknnK9K0R1V5dPryu02fo7Wa9VkzJaH9RZg3JPNx3+lp7y5CyZfiRqBgnKhRBC1EgZuUYSMtSALLLYnnL5UFcZMnPzP5h72QXDbev6F9rX3UVH03BfQOHOzAWYPmoLexdWSDvSLGXWfN0LzBU3ZMOxZepyi9sq5FpC3Mhsw9dL6ikHqN9b/XpqdaFN1t/JjUPV6SZXLL/HsyzD173shq/vjU2RsmiiRpCgXAghRI0UY+klr+XpUjggQ+aUVzZrr5abXotel/9xo23dWg77zZrQAQDv1BN87/UxT7ssRpdyBn59GN5rDN/fDru+gaQzZa5rDPm9btb/b5uTqyEvA3zrQJ2bynxeIYQjt7LUDm98MwoaOLUGYrY5bLL+zNYLUkc4WUe7ZFoSvXm66mzD1wG+31o5pRSFuJYkKBdCCFEjnbAk94oOKjx0HeyCchm+Xiky7OZ/2mtTN78s2WN9G3JzyzDIToG5Q+hh2m7bpmi0kBGnzvv+/Qn4pC283xjWTAdT6Uc3WJPN+XoUeDBjHbreYhQ4q10uhCgT60/ROyuc1x+3UhSFqeuyWGy29JYv/6/tgZvRZLb1iFuDcuuIJ2umdS83PbVredjOt/JwXEXdghBVRoJyIYQQNcryg5f4cNVxnvhhL6DWKHfGN+cST+sX8aryKaZDv13DFtZ8JrPikOTNXpNQHzwsPWq23uutMyE7mVTPKIbkvkl0zgISHzsJk1fDgGkQ0Q50rpB5BTa8Az9OgLMbQVFs51Xslu0V6ilXFFj7Bhz8WX0tQ9eFqBB7Y1MAOB6XUex+x+MyWLTzPO/k3Umezgsu7oYz6wHHkUvRdkH56SsZJGTk4qLTEB3khaernm/u6wioFRvMZuc//0JUFxKUCyGEqDHOJmTy8Pe7+Xj1Cdu6hiGFE4sB+K16isf1v3K7biPaxfdV2BzmG9355Cw6Tv+bO77YAhQOyvU6La1qq73lvh4ukJcF22YC4D1kGkcUNQt7Fh7qsPIeT8GD6+C58zD0PdDq4fhy+GYYOX+9AMBna0/S4Pm/GPvlFlYfcew1KzSn/NASWP+2utzz31CnQ4V/D4S40WXnFT2E3Vqq8gr+nArqp660zC23PkRzd9ES4ecOqFORdp5Va5e3j6xlG33To2EQAa5GvHLiOH3mZP4FcjMgZqv6VYhqQoJyIYQQNcae2GSH190bBnJbOydlrpLOoD27AbOiIdYcjEYxqUMo87KuUUtrrm83nyUpM8/Wie3tpiu0z1MDG3Nbu9oMbB6q9ljnpIJ/FLoWowj0UhM4ZRkKTCvQu0GnB+C+ZSitxwLgvuMztq+Yz7srjmFWYOvpJJ74Ya9DQJCeW6CnfMvn6tfuT0D/lyrwzoW4sfVtEmxbtg45dyYuPX/bEa9O6sKh38Bssk038XF3oXVdf/w8XLiYmsPKw5cBCPJxsx2r3/YZ27X3scV9Cg3n3aSOoDm2HGZ2gzmD4Z16MLu/OgVGiOucBOVCCCGqvZSsPK6k57L/fCqgDpE+OX0I8yd3wc+zcJI39qm94ts1reid9yEG7wjISbENoRTlt+Os44ORgc1DC+3TtUEgH4xpS9D5v2H1K+rKjveDVounJYjPKqqnrW4ntrSezmzjUAAit7zESO1GanMFUIe/LtoZa9s9OVOtY+zr7gLnd8GFnepQ+K6PXdV9CiEcfTimrW05Pr2YoDw1x7a8zbULuPtDagyc/Nthuom3m542lmoNZy2JO61TXzi7CVb+Dz0mDIpl3ZHfYeEYSLEkfjPlqT/vP9wF6Zcr5B6FqCwSlAshhKjWzidnMeCD9fR7fx2rLAl/Hupd3yHjt4O0S7DnewBWug3AjJaU8B7qtnObr0WTa7TYJPXD8+d3teeLuzswuUd95zseXAI/jFfniQc3g/YTAfB0UXu0nQ1/Tc02cCk1myV7LjDDOIp4xZ8wEvjY9XM2uT/BG/rZRGsu8eWG0xhMauKoAxfUBzUNQ7xh2yz1RC1uk7rkQlQwf09X2kX6A/kZ052JS8sPyq/kaKDdBPXFjq/sgnL1Yaq1nKK1593TWl5x8yeAQlz922iU+x1TdVNRonupv0sa9IenDsGU3RDaCow5sPq1CrxTISqeBOVCCCGqtbmbzpKQkUd6jpHzydkAtK7j73znfT/CZ50g7QJ4BbPXqzsACQGWecVbZqgf3opIGiaKl5FrJNHSM92jURCDW4Sh1TrJbJ4SA0unqMsd7lXnjHv4A+DhWnRP+cQ52+n65hoW7zpPKt4Mz53Op8ZRHDOrUxTG69eyzu3fvJn5Est3nSAj18ixODULf2f3c3DoF/VEXR6usHsWQuQLsNQPT87KK3If++HryVl5cNMk9cWJVXieWwOAr2W6iTUnRUqWOqzdw1WnTnc5pe5Xa+B/8PNwZVFmWzZ1nwuPboW7l4BfHQhsAMPeU8+993u4fKDiblSICiZBuRBCiGpLURRb77i9+s7KoKXEqrWvc9Og9k0w8Xdc3dX9ToYNhbZ3gWKGf96DE6squ+k1krWXvKja8GQlwZ//hhkd1RrhdTrB0PfBxd22i6ctKHecU242K7bszqD2oMVTi/eNdzI47x1e8H0DGg7EjJZeugP4bprOlfRcFAUGuR0k4MeRYDZAvV5qNnchRIWzPlQrLtGb/fD1lCyDGjy3nQAodNz+OO00J2w5IAqWVPRw0amjbEx5ENQE1/AWDGkZBsDfR5yURovsAk2Hq8vzboVL+67i7oSoPBKUCyGEqLaOx2UQk5SFq15LVKAnAKPaRjjvnd01Vw26o7rD/SshpJltiGR6HjDqc+jyqLrv+relt7wcYixBeWSAp/Mdfv0X7PhKHU7qGQTD3ged44duzwI95VtOJfLq74e5UiBx1P096/PX4z1Z958+LHqoK/+67z6YsJiNXWYD0Dv1Nwyn/0GDmee136rXbDgQxnxfkbcshLBjnfOdbSgmKE/PD8qTLCNrGPER5kaDcFXy+Ld+EamWqgm24eoWTdI2w7Kp6ovWdwDQp4k6FWXr6UTyjGa++ue07QEhAMM/grDW6lSZRRNtNdGFuJ5IUC6EEKLa+nydWganZ8MgFj3Ulcf6NuR/w5sX3tFkhN3fqcudHwKtpU62pRcm3ZLxl+5PgN5dTQ50em2lt7+msX4QrussKL+wWy1lptHCmPnw9BEIb11oNw9X9f/EGpSPm72VOZvO0PmN1bZ99FoNt7WrTfMIX6KDvOhUL4A6tdRrZtXpzgJjXwCi1jzGdy5vEa1cAFcfuGMuuPtV6D0LIfJ5ltBTnmMw2YaiA6TlGDCZFdC5kDXgbcyKhh66Q/hlqcka7UsqupFHv8Mvqr3kzUdB9ycBCLOUTkvPMfLeymO8/ucRxs3emn9R72CY+Du4+UHyGTizruJuWIgKIkG5EEKIamndsXh+23sRrQaeGNCIUF93/jO4CYHeboV3PrtB7SXxCIAmQ22rrUMkMyxls/AJtSUcY9c3lXwHNc+ZBLX+sNOe8h1fq19b3QnNhoPe1ek5PK09bQWGr9tb9HBXop1NUUD9EP+m8S4uasNxy7lCT91BdUPb8eDmU8o7EUKUh7tr8T3llyxD1/WW0UyKgq1XPNerNuvN6oO6aXV2AY7D1wdqd+FmTAffOnD716BzseyjXjMzz8jSvRcBbPlFbDz8bT3r7Pr2am5RiEohQbkQQohqJzvPxP9+U4Ote7vVKzqxm9XBJerX5iNtH+QAvN2tPeV2AWAbtQY2J/6GjCsV1eQaLyvPyPKDatmhJmEFgl+TEY79pS63u6vY83iU8KEeoH1krSK3ebrqSceT+9w+YGPL1/nL1ImNPkOh34uluAshxNWwVU8o4ud3x9kkAFrW9rM9FE3MyGXH2SRSsg0sNPUDIOTYfNj/E75aNYj3IIf/uqilLGk73mHai7U3PTPXSKbdwzxrzXMb6wPXo39CZsJV3KUQFU9f8i5CCCHE9WXm+lPEJmUT4efOvwc1Ln7nI3/Y6pLT8naHTd5uljnl9kF5RDt1/uHl/ercxTvmVmTTq61Lqdl4u+lt8/AL+mP/JRIz84gM8GRoq3DHjTFbIDsJPGpBZLdir+OmV/sL8oxmjKbCcz9Hd6hT7PFell6zY8kKO/wG87GhPmOj69LD3bfY44QQV8/DVf35LWr4+uaTajDco2EQyVlq1YyZ606xZM8F6gZ4cNHcnmNKJE1yY2DJZG7RudPQNQwTOupoEsj2rI1HjycdzulpmfJiMCkYTPm/y49fTuem6ID8HcNbq7/fL+6BPfOgx1MVeOdCXB3pKRdCCFHt/LzrPADPDmnqMOewkIt74KeJYDZCqzsguofD5vzh63Y9KhoN3PIpaHRwaAmc/LvC21/dXEnPpeuba+j1TtHz7H/aqc4BHdOxLi72NeKzkuDPp9XlJsMKJXYryNUSlOcazbZhrQAvDW/O74/14PVRLYs93ss1//wfrz4BgJ+n8wcJQoiKZc0J4SwoVxSFTacSAejWMBB/S/m0JXsuABCblI0JHf/S/g+6TQH/KHSmHFppz9JWewqzouFcl1fB1XHqileBZHBWRy6nF17Z4V7165rXYeec8tyiEJVCgnIhhBDVSmxSFhdSstFrNQxoFlr8zv98oAbkjW+GUbPUgNuOj7Ph6wARbfNr5x5YXEEtr76spciSswwYnPRef/XPaXacTUarcdKTvXgSJBxX54H2fb7Ea9n3lG88mT/EdFKPerSq44e7i/MP4FYFH9LotRqGtgwvYm8hREWyZl/PcjJ8/UR8BlfSc3F30dI+shYBRTwsy9AHwKDXYcpueHgjB9u/yizvR3nQ4z3CbxpZaH+9Tou7S35IYw3Sj11OK3zythPUB7RmI/zxFJz5pzy3WaXWHovn83UnUaRCSI0iw9eFEEJUK8fj1N6PxqE+xfeSxx+BI7+ry/1fdtpDWyjRm73mt8CO2XBqjZqNSOOkzNoNwkWXf+9X0nOJ8PewvT54IZXX/zwCqKWJQn3za46TeErNYq/RwYTF4Fe7xGu52gXln61Vs+uX5VtfsITSyyOa06auf+lPIIQoN+vPX46lp9xoMqO3jJzZZHnI1jE6AHcXHbU8nSd7tP4OQKeHsFa0vKUVxY+PUUfI5BjU8mr3dItm5rpTXE7NLbyjTg+3zQadK+ydDxs/gHo9y3iXVeu+uTsAaFvHn24Ng6q4NaKiSE+5EEKIaiU+Xf2gFe7nXvyO698BFGh2C4Q6KZMGtl5Xp/Mf63QCrR4y4iA19mqaXO1l5uZ/fy6lOmY1/m3vBdvy1JubOB54yJJgr35vCGlWqmu5Wj7A59r1yA9vHVHqtlp72gF6Nw7m7q7RpT5WCHF17OuU/3vRPpq/vIKDF1IBOGYZTm5N1OhfVFCuK3t4Yn1A2zjUm7aWh3CJmU6CclCf8vX6j7p8eh2kXy7z9apKll0iuysZRdyfqJYkKBdCCFGtxKepH0SCfZyUPgMwm2HzDDj0i/q697NFnss699lodjIM0MUdQi39M+d3lru9NYF9FuNnfz7gsO3UFbUM2mujWtI0rEAytYOW/4MWt5X6Wq569UN9rsFsq1V+X/foUh+v0Whsgflbt7cq9XFCiKtnfdCZmWfk593nyTOaGf7pRs4nZ5GcpfZkB1l+dwd4OR++7qovf1Der2koQd5qsJ+YkVf0AQH1oW5nUMxw4KcyX6+q2Jd6M5pk+HpNIkG5EEKIaiU+XS2RE1JUUL76FVj5AqCoSX3Cih74aK2V62yeNJAflCedKmdra4Y0u4Rrp65kcD45i9RsAwcvpHL4ojpvs0HBuuFXjkH8IdC6qHXJS8k2p9xkJjVLva6/R9kStW36bz/W/qcP4X4eJe8shKgwdWqpP3OnLQ/rrFYciiPZ8vNcyzKXvMie8nIE5a1r+6HXahjZNoJAL/VvQ2JJPcnW8pd7F6pTlKqB2KQs2/I7K45WYUtERZOgXAghRLViHb4e7Otk+Hp2Mmz/Ul0e/CYM/6jYc+m16p9Bk7OecgBfy7DptIvlaWqNkWD34VZR4OddF5g4ZzvDP93I5TT1IUnDUG/Hg6y14Rv0U0uhlZL1A3l2npF0y1z/oj68FyXI2416BR8SCCEqXZ1aHk4fmCZk5JKcqfZcW+eSFzmnvBzD19+8rRW7/jeQZuG+BFp6yjPzTEWWZgOgxa2gc1MfHu76pszXrApH7TLKx6Xl2qYGiOpPgnIhhBDVwh/7L7Lh+BViEtWegtr+ToLy3d+BIQtCWkCXf5WYIUyvs/aUlxSUXyp3u6u788lZzP7nDAChvuqH7a/+OW3LyA7wYK/6hPjY/X/EbIOtn6vLLW4t0/WsQbn14QuAXxl7yoUQVUOj0dAhqvBDuLMJmbaecn9LT3mtIoavu5QjKNdqNbbfE95uelvCuQspWUUf5FEL+r2oLi//rzq65zp36KJjEB5neSgqqj8JyoUQQlz3TsSl89iCPdwzZzvH7LKvOzAZYftsdbkUATnkZxU3mosYvm4Lyi84317DGU1mnvpxr+31g70a4OOut/VgRwV6sn/aIJ4fapfELSUW5t0KuWkQ1R1aln4+OeQPX7d+2PR116PT3riZ74WobqyJ3Owdu5xOSlYpe8rLMXzdnkajoUmY+vfh8CUntcrtdX0M6vcFYw7snFviuS+n5pCUWcxc9Up28IJjmbeLKdlF7CmqGwnKhRBCXJcUReFoioaEjFy2n01y2Obtpqe2f4H5wnvmqVnSPQKg1ehSXcM6fL3IhDm+lhJeN2j29Y9Xn2DH2WQAJnWvx9iOdelcL8C2vUfDIHzdC/R27fsBDJkQ0Q7uWgz6Iub+F8H6gTzHoD4oCSspy74Q4rrS3klP+emETFtCTWswHuBVOUE5QLNwNenkkUtOapXb02qhzTh1+ULxCT1Tsw0M/GA9fd5di7GoPCQVaF9sisPw9NQsAzGWOeVB3urv1fMSlNcYEpQLIYS4Li3efYGZR3T0em8DL/xy0GHb3V2j0Nj3hC9/Dv54Ul3uOBlcSpfgy9oDW2RPea1o9Wt2MmQlOd/nOnAmIZNe76zl281nK+ycMYlZtjrhH41py0sjmuPlpneoUT6pRz3HgxQFDixSlzs9CK6eZb6uW4EP5NYP10KI6qFl7aJ/ZrUacHdRf8atw9gL0lfAyBjr7w1rIspi1blJ/XppHxiLTg53LjGT9FwjaTlGNlpqrleWrDwjIz/bxPBPN9rmxVuHrkcGePJw7/oAnE+SoLymkKBcCCHEdSEuLYff9l7AbOlNWXUkHig833v6rS2ZOtiuHval/Zb5yxro9jj0eqbU17SVRCuqp9zNG3wsQ9iTTpf6vNfaz7vOE5OUxctLD5WccbiUft17AbMCPRsFMapdbdt6T1e9bbl+wWRqF3dDwnE1eVLT0mdct+dmKYlmJUG5ENWLm15H94aBAMy+5yY6Ruf3nHu66m0PVO1/1u3zRlTEkOzmpe0pB7U8mkcAmPLg8sEid0u1q0Jhn3CtMrz4a347Dl9KJddoYuc5ddRSy9q+RAaoDzxjk4uZMy+qFQnKhRBCVLhLqdn879eDXCjDh6uJc7bzxA97+X7bOQwmM9vPqB9AxtxUx7bP0se6c1fnAr3kmz5Sv7a4FQa9BvrSZ+rW2+aUKyhFlcQJbKB+jT9c6vNeaxmWOd4Ah0rTM1QK1mGTfZqEOKyf3LMeLWv78tLw5o7/DwA7vla/Nh8J7uULpgsOXW0a5lPEnkKI69UXd9/EP1P7MrB5KC0i/GzrPVx1TvcPt5umUhEBb9MwHzQaNWFkiQ8qNRqo01Fdjtlc5G72c8mtNdcrQ0pWHkt25+cxWbAtliYvLueDVccBaFnbj8hANSiPSZKgvKaQoFwIIUSFe+C7nczbeo4pC3aXav/4tBzbB7Efd8SyLzaFzDwTXnqFB3tG2/aLCrTrmTXkwJ75+aW3ej5d5na6aPP/DBqLKotmHdp4rugPa1XtUmr+w4/TVzIq5JxHLqvBffMCPdVB3m78MaVn4aHrJ1bBgcXqcqcHy33dguWQCl5fCHH983bTU9fSm9vE7sGaV4GgfFynugR4ufLZXe1tgbm1F/hqeLnpibKc50hJyd4AGvRVvx79E1DLZK46HEdcWg65RhMrD13mfHL+79mUTIOzs1SIgkPuf9593uF153qB1K2l3ltKlsGhB19UX/qSdxFCCCFKT1EUW4bY3TEpJe4fl5bDuC+32l5fTMlml2WYXkNfhcgAT165pQUuOm3+EMeEk/DtcEi3lCprOhzCWpW5rTpdfk+vyazg4qwTp14v2PghnPlHnTNdiqzu19ql1PyyOKcTMq/6fIqicMHyAbR+cCnqfR9YDD9PBhRoOCD/QUY52PeUB3q5Euyk5rEQovqwD8o9XB1Djzdva82rI8246LQsfKALH/59nId7N6iQ6zYL9+VsYhaHL6XSo1FQCTvfopZFi9kKaZdYf1HLA9/tJMDL1Wm29crsKT9czJB7Pw8XW8m5IG9XEjLyiE3Kwq+2X5HHiOpBesqFEEJUqIupjnVTSxo6+MHK45xOyLTVwE7OMtiG7tX2UnuvJ3aLZnznSPUARVGTuqVfUud793sRbv2iXG21TyhkKCqbbt0uoHWBtPOQfKZc16lsF1Pyv+fWWsBXIzPPhHXgQKHs6gUZ82DVS4ACbcbD2AVX9eDCvkySl5u+8BB5IUS10sSufKWz37PW3B7RQV58PLZdheWRsA7xjkvL/xuUazQ5n6rkVxvqdAIUWDqFmDj1wXBR5c9SKuD3bFEK9pRPv7WlbfnBXvVty9aRCDKEvWaQoFwIIUSFOl5gPqC119sZRVFsWWzfGd2GIS3DAGy1yMPsk6hnJsCRP+CvZ+DsP6D3gEnL1MRubt7laquL3VBpa7K3aUsP8eiC3fkf3Fw983t+z/xTrutUplyjiQS7Bx/moobhl0F6jvqBU6/V2DIlF+noH2odd+9QGP5hmUugFWQ/5zRcyqEJUe15ueX3jqddw6HW1geKfx24xMELqcQmZdHu1VW88GsRydwGvqL+XTm5ipsOTAPAw+nwKUjJrryecmtekGbhvmx5rh93dY5ixZO9mHpzEx6yC8ojJSivUSQoF0IIUaE2FSgVs/bYlSL3PR6XwYWUbFx0GjpG1+K+7vVsnax1/N1p6KuowfjGD+GjVvDjXbBjtrpD/5fyS5aVk06rsV3PYDZjNit8s/ksf+6/xIl4u7nZ9XqpX89suKrrVYbLBUYmmCogKE/LVhPH+Xq4lNxTvXOO+rX9RHCpmCB63v2daFPXn+m3ln1KghDi+mWflLKyeVseBlxKzWH4pxt5Z8UxsvJMLNgW4/yAqG4wbiEAzRJW4ksG/+rTgPsL5s+g8nrKcwwmTlrygsy59ybC/dQn003CfHikT0P0dg+SoyQor1FkTrkQQogKczYhk++2nAPg/h71+HrjGf7Yf5GXRzTH3UmPw9J96jD13o1D8HTV06leAKuf7o1eqyWMBBK/uweXj/bkHxDUGAIaQJMh0P6eCmmztUN89obTPDGgcaH1gGVYIxB/pEKuWZEKZrg3FZVFvpQyco0ctSR583Ev4WNC3GF11IJGBx3uvarr2uvZKJiejYIr7HxCiOtDlqXm9rXg7eb4++v3fRdLPqhBXwhuhu7KEQZodxPs05V6BUs/AtmGyrmPE3EZmMwKAV6uhPkW/5DTOnw9VoLyGkGCciGEEFctK89IfFou0/86Qp7JTK/GwbwwtBnLD17mQko2YyyJ3GZNaG978q8oCkstH5JGto2wnat+zmE4shRl6yzCzZbeiJDm0G0KtBlXaYnWZv9zhgd65g8NdLiMt6UsWFZipVz7alxKqdie8vu/2cG2M0lACUH5lWOw4E51uckQdU6mEEJcJ7yL+f2lKAoajYZ/Tlwh12BmQPPQ/I3NR8L6I9yq20i211O20pn2ciopKLfWVW8W7lPiKCUZvl6zyPB1IYQQV23cl1vp8946Vh2OQ6fV8NLwZmi1Gm5vrwZq+2JT2Bebwg/bY23HJGcZiE1Se3n7NwuBtItqBu+vB8LmT9GYDaR4RGO8eyk8sgXajq/0zOeZdr04eUa7hESegerXrMQCXehVz1oOTWdJWnc1QXlGrtEWkAO4653Pp8RsggVjIDUWAhvCzW+V+5pCiJrv1nbq34Lb2l27h3c+BXrKbdU7gByDmVyjiQe+28mD83Y6lJWk9Z0Y0dFTd5Bua0bT4NhsvFED3zq11IfKBpOCsajkoFfhoqUdDuU/i2BNZHchOVtti6LAsWVwfmeFt0tUPgnKhRBCXBWzWWHf+VTb61Fta9MwRM22O7xNhMO+qw7H2RKoWT8EBXm74pl+Dr69BQ78pO7YZCjGYR+xvsk0lMhu1+AuVJl28x1znQXlZgPkFl2upipcsPSUWz8smq/iocHBC6kOry8VmK9uc/QPNRO9Ry2YtBL865b7mkKImm/6rS2ZNaEDr41qWfLOFcS+p7x7w0D2vjTQ9vAyLcfAheRscgxmzApsO53/MJLABnzmMhGjosU78QBRe95ljuu76DDRIsIXLWZAIcdY8UF5YoaaQC7Qy7WEPSHUxx1XnRajWSE+9oT6UHvhWPiqP/w9TR3NdJ09RBZFk6BcCCHEVYlNdhw6d3fXKNuydXid1eFLabZs7NYEZXe6b4PPOkPiCfAMgsmrYdxClLYTQHNt/0xlFdVT7uIOrpYM75kJXE+sDzfq1lK/19Ys8uVxxq7GubuL1qH8jo3JCGteV5c7TgavwHJfTwhxY/B01XNzyzCHTOyVzX5OuY+bmrTS1xKop2YbOJ+c3zu+7Yzj1KTvGUa33E+51OMNzC7edNIe4zX9XO5kFdvdHuFn12nkJsZS0awl2EoTlGu1GuoEeBCtuUTI/H5wcHH+xo0fwmedYEZHSD5X4e0UFU+CciGEEFfFOgfOqm6t/DpmzpK7zdl0BkwGUi+f4S7d3zyV+ZHaA12/D9y/Mr/8WBXIzMvvKc8rODTRM0D9mpXE9cT6cKO2v/p9v5pEb9ZzjetUlwPTBjOxW7TjDooC27+AhOPgEQDdHi/3tYQQojLZ95RbSy1ah7CnZhscHig79JSjPpSNpxaZrSeSMuA9AMbr19D/1FsEadLooD2B/3f94OymCm2ztbxloHfpSku6aeF9l1noDRnkBrVUH2qPmgXRPdUEnIknYOULFdpGUTkkKBdCCHFVdsekOLyu5en8Cb+rXv2T4394Phmv1uG29YOZ7jIHF8UAjYfAhCUQ2KCym1usbLue8tyCiXw8all2KrruelWwluYJ8lG/71dTpzw+XQ3KQ33dHWq4A2DIUYdGrnhefd17Krj7lvtaQghRmYK88gNba5UKW1Bul9ME4HRCJvFp+dN1rCOl3PRaNC1v5xnDg/xjakmOXwP+pCdHzXXR5STBr/8Cc8UNY0+09pR7l9xTDjA5cD8dtCdIVzyYXWe6+lC77Ti49w94YI2607Hl193DZFGYBOVCCCHK7d0VR/lyw2mHdVqt82Rsj7bR8XnEX7zh8jXemhwMio6LSgCXOr8IYxeAtoikYteQ/ZzyQj3lrj6WDRlcT1KyrcMd1Q+gxqsIyq095U5L8ez6Bo4vB60LdH8COj5Q7usIIURls/9bZM2W7msJyo/FpTNr/SmH/T9be5KnF+0lLi2HXKO6v5tei7e7np9Mfbjb8DzGR7bzuttT3Jr3CiYXb0g5B7FbK6zNyZagPKAUw9dJvcDIpDkAzDYOY2+qt+P2iLYQ2kodibZvYYW1UVQOCcqFEEI4UBTFNoTO6scdMUxdvI9Lqdl8v/Wcbd7bZ2tPOTuFg2X/6sCcRpt5/PBYhiZ9D8CXxmE0zv2W/9VbRPiQZ0B7ffw5KnJOOYCb5QPPdRSU5xhM5BjUdlp7Vq4m0dvlNPX/PdSvQFBuzIPNn6jLQ96Gga+CTqqqCiGubx+PbUuQtxsvDmsO5Afl7644ZtvH+hDy2y3nWLL7And+sQXrs01XvRYXnZaVT/VixZO98HbT4+6iIxt3kqKGqDvt+6HC2ptueTDs4+5S/I4JJ+DL3uhTzpDnHsRc083sOJvEtKWH2H8+JX+/dhPUr6tegiN/VFg7RcWTv6hCCCEcvLviGJ+vO8WsCR24uWUYiqLw7M8HAFi08zwA647FM/sex7nf3RsGcm+3euoLsxn2/wg7vqLZpb00M1t6oOt2Rml3Nz+vi8Q9OZvnhzW7ZvdVGuft5hjmFgzKXS0lanKvj6B8zdE4Plx1AlDLoVk/bF5NSbS4tCJ6yvcthLQL4B0Gbe8q9/mFEOJaGtm2NiPb5pdhsy+LZtUhuhZ/7r9ke30uMf/vgJulLGTjUB/bOmuulMt1hhB88ic4taZC2pprNNkeBnuXlBBvywzIvAIhzckZ9S3GmafJzjbwzeaz7DibxJ+P91T36/QAXNgFBxbBLw9BgxPg6ln8uUWVkKBcCCGEzaXUbD5fp/Z+v/HXEW5uGcZFJ2Wx/j4ST3y6Y2/6/Mld8l+s+p/6ocHKPwp6/hva34NGo+HHpnlkG0yE+3lwPdlwPD+zeqGecmv29bxMrgezN5zhgKWEmaerDhfLaANrUJ5nNNvm8RfnZHwGbnotIb5uthEQDkF52iXY+IG63G2KmoleCCGqIWdBed8mIQ5BuT1nv0M9XNR1cbXa0kqjg9RYSIkB/8iraltmbv5ILS/XYqZzmc35vd6Dp+Mb0ZhlT9Tmkfm7OXwpjRNxdg+OtToYNRPO/gPpl+DCTqjX66raKSrH9TFeUAghxHXhc7vh6FcsQffxy+mF9vNy1bHsQP6HmHn3d1IXks/B70/mB+R9X4QnD8CT+6HDRNCoc/z8PV2vm4D8+/s725ZjkvJ7SAoPX7fOKS/8/agKZxPzHw6k5xhtMwBMZoWfdsbS4uXl/H04zumxu84ls+5YPGcSMhn6yT/0fW8dfx+OB9QPof6elg+uF/fAzK6QfBa8QqDDvZV4R0IIUbkKBuVPDmhEhH/+g0YPu4ohOq3GVtfcnrWnPFNxh7qWv33r3oK0i1fVNmtOEw8XHfqCiTbtXdwNWQng5qtmWQeig7x47442APh5FnjwoNNDVHd1+dzmq2qjqDwSlAshhADU7LQ/7Iixvc42mMgxmGxlY7o1yK9HHeHvwdpjVwB4cVgzejYKhsxE+Hog7Jqr7tT9Sej9zFX3HlS25hH5GcSz7TKuWxP92FxHw9cVRSE122B7PbhFKDrLAw+TovDM4v0YTAqTv9tZ6FiTWeHeudu5d+4O7vxiC3lGM0azwlcb1YR9TXxy0BxfAYd/gyUPqtnmw1qp2XzdvAudTwghqgvfAnO1vd30Dg+I6wV52Zbdihhp5Gnpxc7MNeU/qNw7Hz5sAft/Knfb0nPUoNy+lJtTJ1aqXxv0BV3+/Vh79Qs9UAaI6qZ+laD8uiXD14UQQgDw5fpTGEwKXeoHsOtcMgaTQlJmHvGW5F8NQ7xpEOzNvK3n8HHXczJeDU5b1/EHkwF+mggZceAXCaM+h+geVXg3pafXOc8WX/Tw9aoPyjNyjbakdH8+3oN6QV4cvqjWiy9YEi0lKw9/uzJ1iRm5tg9/1tEQ3bQHufniDh5zSaBbzjFYmOVwDkbNguAmlXU7QghxTRQsNebpqicqwBN/TxdSsgz0bRrM4Uvq79Kipv9YA/v0HAN0GqPWA9/+JZzfriZUaz4S9KUraWYvw9JTXuJ8cmtQ3miQw2q30gTlsdvVxJ3laJ+oXNJTLoQQgtEzN/PtlnMAPNq3oa0cS1Jmni35V4iPG4NbhAGQkJFnq/va2D0VfrpXnbPm6g3jf4R6PW1D1a93LkVkfs8tWBLN7fqZUx5neVDi466nRYQfnq562zDLgiXRbpmxiS2nEm01yC+nOeYI6K3dxwLXN7hHv4r+uj14KFkQ0ADqdlF7yHv/F8JaXoO7EkKIytWlXiB6uyHpXm46tFoNq5/uzTu3t+b+HvVt24pKmmlNqpmWY1D/zrW+Qx1J5BMO6RfhQPl6yzNLE5Snx6nTigAaDnTYZH2IUGiUF0BQE/AIAGM2XNpXrvaJyiU95UIIcYPLyDWy81wyAK46LT0aBlHL05W4tFw1KLf0pob4uuPlpg7bs8697u0Vg//cB9XeY40WbpsNoc2r5kbKqaie8lxDET3luVU/p9z6oCTULiGbNSg3mxVqebqQnKUOb49JymLc7K1EBniyYWpfWy3yxqHeNA1y5eXzCyAXzgX2IMa/M13btUHffMR1U6ZOCCEqip+nC13qB7LxpJrU0xoAB3q7cWfHuih2JSUNBR/MWvhahpenZRvzV+rdoMu/1J7yDe+qI8VqRZWpbeklBeVmE6x4Tl0Obws+oQ6bXS3z0M0KGE1mx3npWq3aW370Dzi3Cep2LFPbROWTv7hCCHGDO5uQ3/P77aROaDQah57yeLsA0P7DQgQJfMI7akBeuwNMXg1Nh17bxlcAvZNEPgCJlkzkNtfR8HVnpcu0dnPK7YerW1kfpFgfskQFevFJ9GYCc2PBO5SoBxbS8+6X0LccKQG5EKLGGtwiP5j1dHUMgDV2I7ycDgMnv6c8PcfguKHDvWpCzOQzMKsnXNpfpnZZe8qtD78LWf0qHPwZtC4w4OVCm+2H2+c5e6BgHcIes6VM7RLXhvzVFUKIG9wZS1B+U1QtulqSuVl7YC+mZttKn4X6uuHlpqePdi/fuLzNarf/4GdKgpAWcM9vULt91dzAVdJoNLg46S2PKzDM+3oavm4dgh7i62ZbZ+3xN5kVsvKMTo8DOBmXzk2aozyb8Dysfk1dOfA1cPct8hghhKgpBjYPsy276oueZlXE6HV8rD3lOQV+z7r7weRVENEOclNh08dlaleOJdGom4uToNxkzE+iOnIGNOhXaBeHoNzpvHJLBvZTayH+aJnaJiqfBOVCCHGDs9a6bhSan1k7OlDNQHsiLsNWuzrExx2/ixuZ4/IufXT78NDkkRvQVJ1Dbi0XVk3pnfQMxxcMyq+j7OvW5Hv2PeXW7OsJGXm2OecFZeeZiDl3iu9d36Rh2jZAgTbjofWdld5mIYS4HoT5uXNX50jaR/rTsrZfmY+3JnpLyzYU3lgrGoZ9oC4f/QOyU0p93lxLIO2udxKUn98BOangUQta3eH0eL1Wg3Xgl9OgPLwNNBwAplz4eTIYnf+dEFVDgnIhhLhBXUjJpt/76/hyg1oKq2uDINu26CBPALafSQLARaehVuIePP94CK1GYZmpI0Ny38T1sc3gX/faN76C2c8rt5a7iUvLdZhfiOv1U6fc2ZxyrZNh+H893pOjr91se52clUf/xAW4awzkhLSFx/fArTOrTVI+IYSoCNNvbcWSR7rj5iQAHtBMHd7+zGDnFSccEr05E9EOgpuBMQf2/VDqNll7yt1dnIRnJ1aoXxsOAK3z4e0ajcYu2ZuToFyjgZGfg2cgxB2AI7+Xum2i8klQLoQQN6h3lx/l9JX8odj2dcgbhagBqJphXeED96/QzBmEJiuRg+ZonjQ8ykX3hmiK+HBQ3bjaJcSJDFAfSGQbTLYSNYDj8HWliHGN18hlJ0G5s7nx9YO9cHfR/b+9+w6Pqkz7OP6dlt4IJIFA6L03KTaKgCJiWXtZ27r23nV11X3XddW1113d1XXtvTfEhlIEpIP0FiCElt4mM+f940xNJsmkt9/nurxm5sw5Z56RAzP33M9z36TEm9Pc9+/eyunMBcA19c+Q3LvSMSIi7dmDpw7j3csncuXkPiGf97dEq2KZkMUC4y4x7//wd9jwVZWfGV+u3sO5Ly5kb14JJZ7iopV+KDAM+O0z836FNmgVeT/LQq4pB7M43DDPzKjMJdWeS5qWgnIRkXZq2wF/L+qBnePpFOdfnzyoSzzdOkQDcLrtB2a75pq9WEedR/EZb9ItpQP/vmBsk4+5sQRmypNjI3z9XnMDpyd6p6+7y5t92p93+npawJpya4Vs9+0zBxLlWZuYHBNBFKV0+epSIi1OfnEPJKb/lKYbsIhIK9ExLpKxPZODir4FSoj2Vl+vIlMOMOr3kDYUig/B62fAvyZD0cFKu13+6q/8vOkAD3y+rupMefY62L8BbJHQ/7hK5wgU4QnoqypSB5iZfIDdv1Z7LmlazRqU//jjj8yePZv09HQsFgsffvhhlftefvnlWCwWHn/88SYbn4hIW/Lxit2M/9s3LN5mfjEIDDgHdQku8mWxWDhpZDrdLNncY3/F3HjMn+GkZzhs6CDm3jSZsT2Tm2zsjS1wTXm0w0ZSjJkJySkKDMr9a+6bswK72234eo53TqzcEg3g+mn9uHySP8szpmcH/mJ/mZTcVRwy4njQcQUWVVgXEam1eE+mvLDMRXlVGWl7pFkAdeLV5mfHnuXw06NVnnPrgSJff/GoioXelr1q3vadVmNBTu8PytUG5d6irHtWmgXkpEVo1k/kwsJCRowYwTPPPFPtfh988AELFy4kPT29iUYmItL2XPvGMvbmlXLruyspLC1n+wH/1PWj+nWqtP85Set4M+KvxFlK2Bk/Ag6/pimH26QCq69HRdhIijZbigVlyq02cJhT25uzV/nBojKcLgOLhaDZDYHT1ytOfzxxcAdOtM0H4CrnteTF9mqawYqItDHe6utQzRR2gNhOcOz9cPrL5uNfXoDt/nZk3sw4gMvtptQzfT0oU774RVjoiZNGnFXj2Lxryqucvg6Q3MeskVJeDPtUhb2lqKI7fdOYOXMmM2fOrHafXbt2cc011/DVV18xa9asGs9ZWlpKaal/WmFeXh4ATqcTp7OaaSa14D1PQ51PpCnouhWvrfsLGX7f1752L3fOHMAJQ1ODrg3Lrl9J/+IiLBaDTKMTO496hM4uN1T3Qd/AmvKaDQpobRbio8yg9kB+cdDr2yNisTiLcBblQnzz/F3KzjWXHSRGOcDtwuk2v9i5AzIedqsRNO6MvGVEWZzsMZKZ7x7C2Gi7/i1oJPq3VlobXbO1FxNho6jMxYGCYuIiaiiU2WMSth5HYt3+E7x0HO5+x+I69WW2Hyzz7ZJb5PS1snRYPX8WuZnYP78VC+CaeC3uvsdBDX9GDs9nWVFJWbV/nrYuw7Fu/5nynUswOoYuaNfStYbrtjZja9agvCZut5vf//733HLLLQwZMiSsYx544AHuu+++Stu//vprYmJiGnR8c+bMadDziTQFXbft08ZcC+DPnro8EfnQDm7SctbwxRdrgvY/bOtTpGOwI24Ur3e4kkF7dvP5nt1NOWSfprhmiwttgPllJnt3JqVlAFZ+WrwMY4e/QM8xTgtxwMIfvuZg3PZGH1co2/IB7NjcZXz++ee+7YVOczvAhnVr+fyQ/8904M43AJjnGgZYKC84GHSsNDz9Wyutja7Z8DkwPzO+/OZ7MuJq3J2IhLMZ2sFN15xFWDd+xY+v3s+P1vF4P5d3HSoi1l0IWFm/dg2fH1hNr31zGG64OBjbl3nFY+CLL2p8He9n2c8LfyFnfdUFSQcXJ9IP2LnoI1bu7hDOW26xWvJ1W1RUVPNOHi06KH/wwQex2+1ce+21YR9zxx13cOONN/oe5+XlkZGRwYwZM0hIqH4dRricTidz5sxh+vTpOByOBjmnSGPTddu+lJW7fdPYth0o5K7nFwGVp9nNGjeQ44/sGbwxZzv2ZWZV1i7nPMVNKQMbebShNeU1++KOhewqMmdWDejbi5xiJ6sO7Saj9wCOn+SvUG7b8whkZTNx1BCMGqrgNpZ5m/bD6l9J6ZDA8cdP9G3PL3Fy55LvABg5fBjHj+1mPuEsxv7c7eax7mEA3HryeA7r2bq/iLVU+rdWWhtds7X39Oafyc0uZPjY8Uzs3bHmAwA4E+P7B+DnR4jN/Jb/lBzue8aNhVyigRIOGz2S40d0wfb6vwFInHAex0+oebYwwCu7fmFnYQ7DR47m2CFpVe5nWVsGH3xOj4gcuh1/fJjjb1law3XrnbEdjhYblC9dupQnnniCX3/9tcrqh6FERkYSGRlZabvD4WjwP7DGOKdIY9N12/ZtP1DIzCfmccbYDO49cQgfrsgiv6ScDjEODnkKl0XarYzqnsTph3WvfD2sfB0woPcUHOnDmv4NVNAU16wjoCVabFQEVk8RtLxSF3a73f85FJ0EgL28EJrp75F3CWNCVPD/l0h3wBT8CM9z5WXw3V8gfzf7rSl87R7LPbMHc3i/1KYedrujf2ultdE1G76E6AigkCKnUbv/Z+P+gDH/cQ4z1tLfspMNRobvqT25ZgHP2KgIHK4i2P4zALbBJ2IL8zWiI8zQrtywVD+uLkMBsB7YhNVuN9u4tVIt+bqtzbhabOnVefPmkZ2dTffu3bHb7djtdrZv385NN91Ez549m3t4IiIt1uuLdlBU5uLl+dsA2JNjftBfenQfjhvSGYDnzxvDm5dODCoUBkB+lr/S65gLm2jEzS8wKDerr5uF3l6Yt5U/vrLUv2NUonlbktuUwwtS4InK46KCf1cPrL7usFmgrAj+PR0WvwBAxPF/5b1rpnLRESryJiJSHwlR3rZotaxentiVPV2OAeCPts9C7hLlsMLGOWb7zU79oWPofulVHktwEbmQknuDxQqleVCwN+zzS+NpsZny3//+90ybNi1o27HHHsvvf/97LrroomYalYhIy9chNsJ3v8TpIivP2z4rkssnjWZvXmlQKy2ffRvglZPMD+iEbjCgdU5pq4vgoNyKPeDxN+sCvrD4gvKcJhpZZfmlnqA8MvgjPLBPucNmhRVvmG14opLg+H+QMPx0hjbhOEVE2qqEaDMDmldS+yJjP3Q8k7N3f83p9h85QCIfJl/Cb9n+biiRdhus8qwfH1B9QeyKvO3UimsKyu2RZmB+YBNs+wmGnVar15GG16xBeUFBAZs2bfI93rp1K8uXLyc5OZnu3bvTsWPwGg2Hw0Hnzp0ZMKB1VgkUEWkKMRH+gm6PfL2eX3ccAiAtIQqLxRI6IAf44hbI323+Mn/2m2CPCL1fG2QPaIkWHWEjJiL449EwDHMKewvOlAdWkLdbMNvvAEy6DYaf3lTDExFp8xKivEF57TLlbrfBUxs6sMd5Gjc63uVy+ycMjUrgxvjfkZ1vdo/q4iiAjV+bBwwIby25V3S4QTnA0FPhhwdhwTPm/VY8hb0taNbp60uWLGHUqFGMGjUKgBtvvJFRo0bx5z//uTmHJSLSqhWV+T+MX5i3lRJP79O0hCqCcYBtP8OW78HqgHPfrdV0ubbAbvV/HEY5bCTFBK8DKy33tIKLSjJvS8Iv3tLQCkrNzEx8xUx5QFCecmAJ7FsHjlgYdW6Tjk9EpK1LiPZOX69dpjy32Mnu3BKedP2Om52XAXB49uv8vsch3z49Ft1jTitPHQLdxtbq/N5Mufdzv1qH/RFskbD7V9ixoOb9pVE1a6Z88uTJGEbV5for2rZtW+MNRkSkjfAG5VEOK+Uug3K3wdCuCfRIrqItpGHAd/eb90f/Hjr0aKKRthyOwEy5w0ZSdPAsgVKn2/yy0wKmr+d4ivXFRlb9Ed5t8+vmneGn+8csIiINIj6q5unr8zbu48Nlu7ntuAGken4UP1Rk9iaPi7ST2fUUPt65khNtC7jU8SXrhl3JxSkbscz/ACw2OPkZsNqqPH8o0RHeoDyMTHlcCow8G5a+DEv/Cz0Or/EQaTwtdk25iIjUjffD+PyJPZk2KI09ucWcOCI9dCeL4hz46VGzyqstAo66qWkH20IErSmPqJwpLyl3kYgD4j0tZnIzm3J4QZZsNzMq/dPiKz1nxc119vfotMOzHnHsH5pyaCIi7YJv+no1hd6e+34z8zcfYHdOMa9eMh6ny02OJ7OeFOPgxQsOY/OK2+Dzk4lc/xHPXnUnfPGOefD4yyF9VK3H5VtTXhZGUA7Qd7oZlO9fX+vXkoaloFxEpI0pKjO/JEQ5bIzrlVz1juWl8NLxkL3GfDzxKkjs1gQjbHnsFTLliRWnr3unAnbsZ97u32TOMKjHGrxyl5tv1mUztmeHylXwq3CgoJSt+wuxWOCIvhV645YV8nnHJxlY+Iv5ePzl0GV4nccnIiKheaev53sy5Rv35nPvJ2u47pj+vs/dXE8AvmDLAfrc+TkdYhxc7Ol+kRTjIC7SzohxU2DVBNi5EJ4a7X+BcZfUaVy1WlMOkOzpxnFoW51eTxpOi22JJiIideOdvh5Y8C2kHx40A/KYTnDmqzC1/dbzcFRYU15xvXZJuecLjq+NTC4UZNfrNf+3cDuXv7qUk57+OexjvFMfE6IcvumTPktf9gfks5+AmQ/Wa3wiIhJaxUJv/12wjZ83HeC9pZkcKizj7cU7OVBQFnTMoSInj8zZAECHmIAlUqf9B7qN8z/uNcn8rKmDsFuieSV5lqsVHzJnzkmzUVAuItLGFIcTlGcuhZ8eN++f8BgMmg3W9vuRULH6esWp/r4vOI4o/5eY/Rvq9ZreVmu7copr3PetxTu4/7O1vuq8idGOyjtt8wT3fae3qx7zIiJNzdcSzZMN/2XrQcDMUE979AdufW+lrx1pqAlVQf/uJ3aFiz6HIb8zP1/q8YOqN1P+6co9lJaHEZhHxkFsqnlf2fJm1X6/gYmItEKl5S7cbrNA5uZ9BSzbcajSPt5MuffDOUhZEXxwBfx7OhguGHIKDD6xUcfcGgT3Ka/8/81XfR2gk2cK+4GN9XrNin3Gq3Pbe6t4Yd5WbnxrBUClNe8YBuxcZN6fdFu9xiUiItWL97Sk3JVTTFZuCRv2FgDw5eosDhQGZ8g7xvqXJ2UkRwMwrmeFpWU2B5z+Ely3AlIH1XlcUQGfX68u3BHeQR16mrcKypuVgnIRkRYsK7eE/QVmdjTzUBEj75vDNW8uwzAMjnnkB055dj7Znl/jvbxrySr22qa8FN46D1a8bgbkvafA8Y80yfto6SpWX68oaCpgp/7m7f76BuUhst0hBL62N/NSKVN+YDMU7Tfb22gduYhIo0oIWD404YG5vvtlrsqtyDrF+aeqf3rNUdx23EBunN4/9Inr2Svc+30BYM3u3PAO8q0r31qv15b6UVAuItJCFZaWM+GBuRz54Le43Aa/bD1IsdPFZyv38MGyXb79Kk5/zvW0zPL+kg+A2wUfXwub54IjBs7/GM7/EGIrFAtrp+wVqq9XVBrY87VjX/O2ntPXA/98XG5/e9CC0nJ+3rTf1zLU2wItUELFoHzdR+Zt19FgD69onIiI1E3Q52sNZo9IByA2wkZitIMrJvfxtUhraIHFXVdlhhmUK1PeIigoFxFpoTbszQegxOlmd04xhwKCsxvfXuG773QZQcftyTWD9C6Jng/9g1vhX5Ng5Zvm4zP/B70nNeLIWx+H1Z+diLRX/mgsKW/4THlspD/4965LBDjznws498VFfLUmC/AXdwsUlCnP3QU/emY8jL6gXmMSEZGaRYVaHubhnaIOZiD+x6N6c8/swXxyzZGNPq7h3ZL478Vm0biN2QUcKqz8+VGJNyg/qEx5c1JQLiLSyA4WlvHrjkMUllbdzzSUHQeLfPc37SsImpYWyNuSBczsurcabJekaHOt8cfXQNYqiEw0q3L3nVaHd9G2edeURzv8Rd5euugw3/NBmXJvUJ6zA5w1F2mrihHwW8pBT+Bd4nSxZnceAF+sDg7K+6TEcnT/FADS4gOyLN/+HzgLIWM8DD+zzuMREZH6G9vDn62Oi7ITYbdy0RG96J0S1ySvP6l/Cn1TzddavO1gzQd0UFu0lkBBuYhII3r4q98Y/X9z+N2z87ntvZW1OnbzvkLf/S37CtmXX1VQ7g/29+Saa47jI+1mIbE1H8C2eWCPgst+UFXuKninrwdOXZ8yIJUZg9OACpny2E7giAUMyNtd59d0Bqw99P5gs2DLAd+29CQz2/Lpyj0AxEc5eOT0Edxy7AB+P9FTAd4wYP0X5v1p97brCvoiIi1B706xvvshC642gcM8heTCC8p7mre5meCqvFxKmoY+vUVEGsm2/YU8891m3+OfAtYJh2P1Lv96sM37CnxB+Z+OH0REwBro/BInbrdB5qEi9noKgaUlRsHOX+Czm8ydjrjOX8xFKvEWeqv4BcrhmcruDKy+brFAdAfzfj36ugYuOygsNYP+uZ42aeCf0v76IrOCbpTDSkp8JFdN6UtyrKdw0KGtUJIDtgjoOrbOYxERkdoZ26OD737ngDXiaQH3bdb6FW6rq/GeteXeVm3Viu9s/nBvuCB3ZyOPTKqioFxEpJFsO2Bmunt2jMFhs5BT5CTzkDnd2TCM4IreFRiGEdTubHN2AVmeLHj/zvG8ddkEX0utvJJy7v1kDUc++B3v/ZoJwE3lL5ptz4oPQtowOOrmRnmPbYXd88UpyhH8sWj1TGWv9FNKdJJ5W1K5JV24Aqv05haXsXDLAb5c7Q/Kc4qdQdfIeRN6VD7J7mXmbdpQsEdUfl5ERBrFvScO8d0PbFMZF1AErrmC8sM8Qfnq3XnkFjm575M1PPDFutA7Wywq9tYCKCgXEWkkuZ5MZ3pSNCO6JQEwZ60ZdL29ZCcD7/6SLz3rhitaszsvqLDb8p05rPcUfuuaFM2o7h04Y2wGAA9/tZ5XFmwH4P1fdzHYso2ZRR8DFhh5Hpz7jgK2Gngz4hUrr3u/T7krRuUNkSkPyL7f/dEazvrXwqC6AXnFTt9yhGiHjVnDulQ+ya5fzdv0UXUeh4iI1J4jYMZaYEeMwMrs0RVbkzaRrknR9E6JxeU2uPndFbz08zb++cOWqmvbeNeVq9hbs1FQLiLSSLxBeVKMg1nDzYDqG8/05NveWwXA5a8uDXns3HXZAEwblMphPTtQGhDAdfWsNU6KcWDDRQ9LFsdYl3Ki9WcyLHu5x/GKuePQU+HkZyAhRDAnQRxWf6G3QL5MecVlB1GJ5m1JTp1fM3BNeah6AbnFTnZ5ZlZ07RDtK0AXZPdy87br6DqPQ0REas+77AmC+5bHRtq58/iBxETY+EtANr2pnTfenF3lTQaAOQMrJG+mPLuKbLo0uub5+UZEpB3w9pdOjHYwobfZD3xlZi7lAcEYmAFfxYDr29/MD9EZgzvzu9FdufClxazetJXZtgVEz/kWyku4dO8mroxeit2o/CFbZo0mYsqdjfG22qREz9RD31ptD4svU14hKPdOXy+u+/R1Z6X0u6ljbAQHCsvILXaS5akR4GtvF8jtgj3LzfvpCspFRJpSYKY8sE1llN3GpUf34Q9H9m626esAGckxlbblFJX5ftgP0mcKLHoOVr4N0+6ByPgmGKEEUlAuItJI/EF5BP1S44h22CgoLWfCA3OD9jtQWEanuEjf4+z8ElZkmkXepnS3Yv/8Rl4u+B57lGda2WLzxhem2aPZH9kNV8E+0iw57DMS+GXYA8zq2Kcx316bMnlACn85aQhH9UsJ2u7NlFeKn6OSzNsGmr4eqH9aPAu2HKCs3E2Bp91dYBbG58AmKCsARwykDKjzOEREpPYi7IHT1+2VtjdnQA7QMa7ysrWcoioy5X2nQ8d+cGAjLHsVJlzRyKOTihSUi4g0ksDp63ablWFdE/ll20H2F5RhtfgDvR0Hi4KC8h/W7wNgSpdyUl6bDnm7/P9Ydx4O/WZARIzZlqv3JOg0gM8W7uCej9dgwY0F+Hu3kU32PtuCSLuN8yf2rLTdWlOmvIGmrwca2jWBBVsO4HQZFJaZhd5iI0O01fGuJ+8yAqzN03ZHRKS9CsyUx0bYmTowlbxiZ1BLtObUKTay0rYqg3KrFSZeCZ/eAAufg/GX+6eKSZNQUC4i0ki8RbuSPNPa+neO4xdPz9D/XHgYz32/mUVbD7LzYBERNis/bdrPGWMz2LArm/Nsc7ihaC6U7oLkPnDcA9B1jNkjO4QYT4EyAysG0Ce1ZXwpaO38a8orPNEQmXJX6OnrY3ok88K8rbjcbl8P+rjIEJny3d4ib5q6LiLS1AIz5Varhf9ceFjI5WjNJTlEpvyuD1f5atxUMvws+PwWyNlu9ixPymjkEUogBeUiIo2gxOni5037ARjUJQGAM8d256s1e7n0qN5MHpDKZyv3sGjrQbYfKOKDn1eRuOsH5n+zlJusvxLlcEIpENMRznuvxh7jMQEVXuMi7b5q71I/3i9X7orz173V10tyqauyEJnynh1j6JcWB0C5y/BVyo2rmCnP3wsr3zLvZ4yr8xhERKRuAgu9eWdVtZSAHCA2wkZ8lN334y7AoSInpeUuIu0hZldFxEDKINi7CvasaJKgfFN2AS/9vJWrpvQlPdRa93ZEQbmISAMqLC1n7m/ZvLpwO+Vug8RoB0PSzaB8WLdEFv9pmm/fHh1j6G3ZzdjVb/HHg18QHVHmey7T6ET52MvoOfXiKrPjgWICgrYJvTtit6m5RkOouiVaknlbr0y5Pygf3yuZmUM7c8HhPX297J1uNwXeoDyqwsf1V3eaPwh0GQGDZtd5DCIiUjferh3gn1XVklgsFp48exS7c4rpnhzD7//9CwB7ckroWdUU+y7DzaA8ayUMOqHRx3juiwvZm1fK+qx83r3i8EZ/vZZMQbmISAN6Yd4WHv9mIwBRDiuPnTkidIDsdnHS1r9wdeTHcAiwwDp3BvPdQ/nENZHlRh8WTZoGsSGqbocQG5ApP7Jvx4Z4K0JgobeKLdG8mfKcOp/bG5S/dNFhTBmQ6ttu92RfXG7DF5THRgZ8XB/cCqvfBYsVTnhc68lFRJqBNaCQW8sLyU2Bny29U2LZsq+Q3TnF1QTlI2D5a7BnZZOMb2+eucxvyfa6dzJpKxSUi4g0oM9X7fHdf/bc0UwdmBZ6x5Vvk7HzY9yGhbnu0bxYfjzLbYNJjI4g29OzOjW+cpGWqgRWeT2yX82ZdQmP939rpT7lDdESrdw8Z0SFH23snuyL02VQ4FtTHvBxnekpv991jPqTi4i0AC0wUV5J16RotuwrJDOnuOqdOg83b/esaJpBiY/mN4qI1IPLbfDaou3sPFgEQLTDzFpednTvqgPy4hz4/m8APFR+Jn903sQiYxBdk2KIdPj/Wa7N2rRenl+9I2xW+qTE1eGdSCiWmlqilRWAq4pqtjVwus1Mub1C25zAx3melmhBQfkuFXgTEWlJWtJa8qr06Gj2LV+9K5cdB4pC79R5KGCB/N1QsK/pBicKykVE6uPTlbv50wermfTwd7jcBrs8v0DPHpFeeefC/fDNffDiNMjZgZHQlf+6Zvie7pIUxbVT+wFwQlXVUauQHBvBD7dMZsEdU1vFl4PWwuJbU15x+nqi/34dsuVut8GBArOGQNDUdPzT18HfviYoKN+50LztdlitX1dERBpeS1xTXtHwrkkAvLJgO0c//B2LPd1ggkTGQ8c+5v0sZcubkqavi4iEsD4rn8XbDnLSyHTio4LbURWVlXPui4uY0Lsje/NKADOT+ubiHez3BFrdOlSoIrpzMbx5NhR6fnmOTMRyzlsUP77Dt0tClINTR3ejd0ocg7rE13rMPTqqDVpDs1aVKbfZzcr4RQfMP9O41MoHV2PzvgJyi51EOawM6Bz8Zx3Y+9bb694XuJcV+tf6dZ9Qq9cUEZHGYW35MTmje3QIerx6Vy6H9UyuvGOXEXBgk/lZ03da5eelUShTLiISwvVvLeeuD1cz7N6vfdlvr09W7GbZjhye+34z2wOmgP3pg9WAmbVOivH0By3cD1/fDa+cZAZvqYPhlH/CNUuh8zAm9PZ/IDpdBlarhTE9OgS1OJPm41tTToie4rGeQLxgb63P6y1qMzIjKSgIh+D6AN5Cb/He6uuZS8BwQUI39ZAVEWkhqiyc1oL0TY3jhfPHkpFsJg2ycktC79hE68rLyoPbgpaHaBPanigoFxEJ4HYbLNpygHV78nzbbnp7edA+ecX+np/LdlSeutw31bOm21UO/zsF5j8JzkLoPRku+QZGnAVxKQA8c45/XXCl7Lo0O2+mvOLsdcD3Z1iXdXfeaYOhshQV15iDJ1NeVgiL/mluUJZcRKTZvfHHCdwxcyAzBldRQ6aFmT44jQsm9gRgd1VBeZcR5m3mEnC7Gm0sm/cVBD0+VFS3+ixthYJyEZEA93++jjP/tTBo28ItB3EFzF/Ozvd/kHk3P37mSN82b19ylvzH7PUZlQhnvQHnvQ8Rwb+md4yL5N8XjGXm0M5cd0y/hn0zUm++Qm+V5q8DcZ4vYYXZtT7vkm3mjzljQwTlFoulUmAeV7bPrEWw/jOzFdrIs2v9miIi0rAm9unIZZP6tKpaLp0TzVare6qqwp4xzixmmpcJ6z5utHEsqbCm/WBhme9+fomT53/YzLb9hY32+i2NgnIRkQBLPdOKR3VP4u+/G+bbHpg531ahammnuAhOGpnO1VP6csqorlwztZ+ZPf32r+YOx/wZBh5fZT/pYwal8dx5Y+gQG9HA70bqy+or9BbiyTpOX9+bV8KOg0VYLTC6e1LIfQKnsNutFiLn/R2y15qvef7HWucnIiJ10j3ZrMK+eV9B5XafYCYPJlxh3v/xkSqmitXf5n3BAfc/f9jMyc/8zN68Eq587Vf+/sVv/PWztY3y2i2RgnIRkQDewm33zB7CWeO6M6m/OUU58Bfdiq1ERnRLwmKxcPOxA3jsjBEkr/kv/GsSlOaa08DGXNR0b0AalL/QW6hMuTcor930dW+WfGDnhEpFBL0C15knRFiwrH7ffHDGf6HXUbV6PREREa8BneNx2CwcKnKSeaiKbPm4S8ERC3tXwbafGmUcgZlxgPeX7WL5zhwe/2YD8zbuB+CbddmhZ6q1QQrKRUQ8XG6D7PxSADonmNO7DutpViu995O1rNuTh2EYvnVQn15zJC9fdBh/P3W4/yQ/Pw6f3wx5u8zpzSc+VWWGXFo+X6G36oLyWk5f968n71DlPoFt0YZF7DZrEkQmQIbWkouISN1F2m30SzW7fmzYmx96p5hk6O9p2br710YZx6GispDbf8sKHtOCLQca5fVbGpX3FRHxOFBQisttYLWYU9IheM3vLe+uYPbwdMrdBjarhf5p8QztmgguJ6z92Fx7teodc+fJd8AR14MjqhneiTQUS1Ut0SBg+nrtgvK1nqUQI6uYug7Bxd5G2baYd9JHgVW/pYuISP0ke5bL5ZeUV71T6hBY8wFkr6v1+R/5ej1uw+DmGQMqrbcvKC2noKScAwEtZAMz9vsLSoP2f/6HzRzRt1Otx9DaKCgXEfHwViJNjY/C7pk+PDIjyff89v1FLPT8YpsY7SDCboX9m+D10+HgFv+JptwFk25psnFL4wlv+nrtgvLiMrOabVJ01TUE7AHB91Bjo3mn65havY6IiEgocZFmCJhfWl1QPsi8za7duu4Sp4unvt0EwAnD0xnUJcH33LPfb+LxbzYGtUPrmxoXFJR7P/8Gdo5nY3YB8zbuZ/WuXDMJ0obpJ3cREY/MQ+Za8cDWZFEOGycM7wLAwC7x7PR8cDxxxjDYOAfeOMsMyGNTYPwVcNEXCsjbEG/C+vv1+yqva/MG5UX7oTz0NLxQSsvNoDzSXvVHcGCht/6uDeadbmPDfg0REZGqxEWZQXlBtZlyT1C+b32tWqOVBgTc8zYG11z5z09bK/Un75sSF/S4wPNDQZ/UOGZ7vn/95ZM1Yb9+a6WgXETaNcMw2LA3H5fb8P1SW7Ff+NnjugOQU+Qk81ARDsoZ+9Ml8NppcGAjxKfD5T/DzL9Dj8Ob/D1I47F6guNdOcW8/suO4CdjUyGmIxhuyFwc9jm9X0giHVV/BDs8a8qtuOlSnmluTBtai5GLiIiE5s2UF5RW0xu8Q0+wR0N5CRzaFva5y13+oHtrQEuzorJy9numrH9z4ySiHFZS4iODMukAecXmmCLtVm6aMYAeliz+uvsSCh4dDV/fZS4XbMT+6c1F09dFpF17bdEO7vpwNTdN789eT//xbh1igvZJjDYrZG/ZX4jLbXCz/X2id84DexSMPh8mXgXxaU0+dml8gUvhPlu5h/Mm9PBvsFqh9xRY/S5s/hZ6HhHWOb1ZhAhb1QUAvcsn0i37cRhOsEVAYrfavwEREZEK4sPJlFttkDoQdi8z/+vYJ6xzlwfMKss8VMzS7YdIiYukxDNLLD7KTt/UOObffgwWglvOgv8zMs2dTcayj/k84mliLaWQB8x/ytypz1Q48fnw3mwroUy5iLRbxWUu7vpwNQCPzNnAzoNmpjwjOThTnhRjBuWx7nwusn3BlfaPzCdOfg6Of9j8NVnaJGtAVB5yXXnfY8zbzd8Gbf73T1u56rVfcbrclQ4pDSNT7i301suSZW7o0EtV/EVEpEGEtaYcIGO8ebtzUdjnDvzcm7dxP6c+N5+zX1joWyKY4Ul8JMdG0CE2gs6JlQvidrPs45qNf4B5jxBrKWW3kcyL5TMpGXmRmb3f/C32/xyD3VVFS7dWSJlyEWl3tuwr4OKXF7OtQr9x/5ryCplyh5uH7P/kRNt8oiyeqV6jzoOhv2uS8UrzCVjaTaiYnN5TzNvdy6DooNlGBnjhxy1k5ZVw/sQejO/dMegQ3/T1ataUe1uijbP+Zm5IHVi3NyAiIlJBWGvKAbpPgEXPw44FYZ+73FX5w3JXTjH7882p66kJkUHP9U6J468nD+XDZbtYsv0QkZTxvOMxYlx5kDqEazOn8Ll7HOXYmXz40fSdcAm8/XvcA0+kvDi60mu1VsqUi0i789CX6ysF5OBf++RbU24YsPYj4t48hTPsPxBlcbLOncGHaVfBrMeacsjSTGrMlCd0gdTBgAFbvvdtLvNkCnYeqvwrvrfQW0R1QbnVChicYPV8ERo4u9ZjFxERCcW/prymTPkE8zZrNZTkhnXucnflGWIAmTnm52GSZ0lgoPMm9OC4oZ3pb9nJ847HGGrdRpE9Cc59m4/dh1PuySMfKCiDzkPh0u9xT7ojrPG0FgrKRaRdWbD5AF+uycJigU+vOZJPrj7S95zbMNcQd0n0BOWL/glvn48l8xdKiOCKsuuYWfZ3tva9EOxVt7OStilkUA7+VmX7N/o2eafv7TwY/OOPy23g9GQRIu3VrCm3Whhi2U4v617KrZEw4Lh6jFxERMQvNsIMcgtDBOWHCsv8wXpCF+jYFzDg+wfDOrczRKYc/ImPxBBBOUDvg/P4IuJ2pthWAPBz35sgsRvnT/TXcjlY6Ol0EpXY5pZ0KSgXkXblsW/M9lK/G9WNoV0TGdYtkeuO6ed7vnNClJnBzN8L3/7V3DjyPC6KfZov3OMBCxnJMSHOLG1RYKa8iu8Zwa3RPLzT93YeCg7KA1vB1DR9fZZtIQDZaUdDZHxthi0iIlKlKIcZ0JZWaE92qLCMqY98z1n/WoDh/SF6hue70MJnzFawNQg1fR3MpYNQRVBuGIzZ+CQ2i8E6d3ducV7K9vRZAPxp1iDiPZn9A4Xhtx9tbeoVlJeVlbF+/XrKy2uY+iAi0sxcboNyl9v3S23gL69H9evku+8tQMLcv0BZPqSPhhOfojS2W8A+bWcNk1QveE15FVF5bIp5W+jvx+qdvpd5MHj6+r78Ut/96oLyuEgHk6xmtuBgj5m1GbKIiEi1ojyFRkucwa3Fvt+QzaEiJ6t35ZGVZ3akYcBMGHepeX/+kzWee8Pe/JDbvd+/EkIF5ZlLSCzYRInh4IyyP/OOazKRnh8OIu02Th1jfger2Pe8LalTUF5UVMQf/vAHYmJiGDJkCDt2mL1br7nmGv7+97836ABFROqroLSciQ/M5ax/LfQFRYHZ7hEZSb5fYXsnGmYfzOWvmU/OfBCsVuKj/B8iypS3H9aAqLyqmNwflO/37Oefol4xUz7rqXm++962Z6EkRlnoY9ltPug6qpajFhERqZo3U17iDM6Ur97lb0+2MjNgDfn4y83b7fOhJLiFWSC32+Cmd1aEfK6ozPwBIGSmfPGLAHzqnkg+5neswCVe54zvjsUCX63Zy+pd4a1tb23qFJTfcccdrFixgu+//56oKH8Z+2nTpvHWW2812OBERBrCyswcsvNLWbL9EADRDhsdYvwfCg6blYl9zArZl2bf7+mDaZgfQhnjAMjKLfHtn5ZQuX2HtE2Wmgq9AcR6Zlp4gnJXQI/WrLwSX2G3P32wivyaKt169LDtJ8ripNRwEJUSXm9YERGRcHhnanl7h3sdKPDP5toVWKi0Yx9I7gPu8qCiphXtLyyt8jmvoKDcMGDFW7DmfQBeKZ/ueyqwGGr/tHhOHJEOwOPf+Ou3tCV1Cso//PBDnn76aY488sigLyxDhgxh8+bNDTY4EZGGkJ0X/CHROyU26N8ugNtnDuSeQbvpfegnsDrg7LfMLLlHkdMfTNmswcdK2xX4R+2uMVNuTqsrD9jRMGB3TgkfLtvFa4t2hP26GeU7AdhspNMhTj8CiYhIw/FnyoOD8uKAxxXXm9P/WPN241dVnnd3TkmVzwHERNgYmZHk3/DLv+CDS8FVRm63Kaw0/D9CV1zide0x/bBa4Jt1bTNbXqegfN++faSmplbaXlhYWOmLrohIc9uV4/+19+opfXnotOHBO7jK6V2wjIuyHzIfj7u0UrXr/ztpKB1jI3j+vDGNPVxpQQILvVW5pjy6g3lbkgOG4au87rU5u4C7P1pdq9dNLtoKwCYjvcpKtSIiInUR6VtT7g76bCsOmM5eWiGLTj9PFnvjHKjQ9uy79dn846v17DhYud2sl9UC//vDOFK9sw0NwzdtnYlXk3Dh24wICNi9Y/TqkxLH4X3MmWknPPUT5/x7cY3vszWx1+WgsWPH8tlnn3HNNdcA/ul9L774IhMnTmy40YmI1NGm7AJ+2XqQgV3iyfSs6732mH7cOL1/8I7Fh+ClWZC9xnycNhSmVO59OXlAKkvvnl5pu7RtwZnyKoLyqCTPDuVQVkC5KzLo6RWZOWFPW/dKLjaD8o3urtWuPRcREaktb6YczIy4L3Ne5g/EK643p8cR4IiFgr2QtRLSRwLmD9YXvRQ6QH7/ysNJinaQlVdC9+QYunUIqMmTvQ72bwBbBEy6FYs9gtuOHcA5Ly4Cgn8U90oMWHpY5Q/lrVSdgvK//e1vzJw5k7Vr11JeXs4TTzzB2rVrmT9/Pj/88ENDj1FEJCyGYTB3XTa/bDvIv37cUun5PimxwRvKy+C9P5oBeWQCDDgept2r9lPiE7ymvIqdHNHmlwpXGRTn4LSlBD29cW9BpUN6dKy+WGB6wVoANhgZtRuwiIhIDaICiqiVOv1BeeBSvUqZcnsk9JkCv30Ky/7nC8qry46P7m7OJOudElf5yVVvm7d9p5l9x4HD+3bi5JHp/LRpP8O7JVU6JCbgx4S2Vt+nTkH5kUceyfLly/n73//OsGHD+Prrrxk9ejQLFixg2LBhDT1GEZEa5RY7Oe25+WzMrhwAeQ3snGDeKToIX94Bv31mtj2zR8OFn0GX4VUeK+1TWNPXLRYzW16YDSU5lEd1Cnp6Y3bl9jDvXXF41S+am0nH4q24sNJ33HFV7yciIlIHDpsFq8X8sdkMvs0MdHFZNWvKAcZcaAbli1+EXpNg8In8luX/jJvUP4UfNoTRtqy0AJa8ZN4feU7QU4+dORLDCO5+4hUT4Q/KOydEQoghtlZ1CsoB+vTpwwsvvNCQYxERqbOv12RVG5DHRdrpnRILrnJ450LY6pnVE5cGJzymgFxCCu5TXs2O0UlmUF6cQ7kjeMfN+wor7Z5U3TrxnZ6pe12Gc8vJE2oxWhERkZpZLBaiHDaKylxB09SD77sqH9hvOky8GhY8DZ9cBwNmUlhqZtcn9u7Ify8eR8/bP6v+xQsPwEdXmXVYkvuYsxQrjK2qEmVRgUF5YhQcqv6lWpM6BeWff/45NpuNY489Nmj7V199hdvtZubMmQ0yOBGRcC3ZZv7LPHtEOpce1ZvZT/8EwBt/nMCa3bkM65qIwwJ8/WczIHfEwtlvQM+jwKo1uxKaNZyWaOAv9lZ8CGdczT/dV7tOfPcyACxdVVRQREQahy8oD5imXm31da9p98KKN6FoP2yfT1FZTwDio8IIK7N/g9dOg9ydZqebGX8Fq63m4zxiHP7XSIuPxGhDQXmdvonefvvtuFyVfz0xDIPbb7+93oMSEQlXdn4J932yhreWmC2kfje6K8O6JbLt77PY9vdZTOzTkUuO6s149zJ4ajQsfMY88ORnofckBeRSLUs4LdHAX+ytJIdyl7ljxXYuYSkvg9UfmPczxtf+eBERkTBEeXuVBwTiQdPXKxZ687I5/O3R1n/hOyZwanlIZUXw2ulmQJ7cB/74LQw8vvpjKoiO8H+uJsdG1OrYlq5OmfKNGzcyePDgStsHDhzIpk2b6j0oEZFwlLvc/N+n6/hkxW4AjurXiUn9UirvmLkU3jwPyoshIh6m3AlDTm7awUqrFH6mPMm8Lc7xtURLinGQW+z0TQcc06MDw7omMqxrYtXnWf4a5GVCfBcYfFJ9hy8iIhKSdyq4tzuIYRgVMuUhpq97DZhpfl5t+IKiwRcDEB1RTVhZmg9f/Qlyd0BiBlzyDcQk13rMga+RHBPBgVqfoeWqU1CemJjIli1b6NmzZ9D2TZs2ERsbG/ogEZF6MAyDgtJy3vxlJ9MHp9ElKYoZj/3I9gNm1c+7TxjMBRN7BBcGyd8LK9+EHx42A/K+0+CMVyBC/05JeIILvVWzY2Cm3JNSt1utxEc5KHGWAhDtsHHviUOqPoerHOY9at4/4npwtK3KsiIi0nIMSU9ky75C5q7L5oi+nSq1QKsyUw7Qe4rZdeTQNqLzzIRsxUy5DRfsWQHbfoKfHoNCTwG4GX+tU0AOwTPQOsRWU5ulFapTUH7SSSdx/fXX88EHH9CnTx/ADMhvuukmTjzxxAYdoIjIXz5Zy39+3up7/Mu2g9wwrb8vIAc4YXiX4HW6WavhvyeYfcjBXDt++ssKyKVWwupTDgGZ8kOUezLlDpuFSIedfflmUB7lqGE6+57lZhYhKgnGXFDnMYuIiNTk5JHpfLJiN5+s3M2fZg2isKw86PlqM+WRcWb19U1zGLz3E+CEoKD8COsqnnU8Af8MaJeW3Bum3lWvmYplAevcE6srmNoK1Skof+ihhzjuuOMYOHAg3bp1AyAzM5OjjjqKf/zjHw06QBFp33bnFAcF5ABz1u4lIiAA79UpltT4SP8O2b/B/042A/KUQTD+Uhh5rtljU6QWLGFXX/cWesvB6VlTbrdZiY30f8xGOmpYb7f9Z/O2xxFm73MREZFGcnT/FDrEONiXX8p7SzPJSI4Jer7KQm8expgLsWyaw5HZr3OlzUW04xYALLi5z/5fEi1FEJkA3Q6DnkfC+MvqnRgJXP/uqK5gaitU5+nr8+fPZ86cOaxYsYLo6GiGDx/O0Ucf3dDjE5F27qeN+333H/jdMO54fxUAn63a49v+xh8nYLFYID8LPr0BNnwFhgs6D4cLPvFnMUVqyRLumvKg6evmFxm71UJCQDXaKHsNQfmeleZtt7F1GaqIiEjYHDYrs4Z34dWFO7j1vZUc0bcjACnxkezLL6XE6WJVZi5Ltx/k3Ak9KgXBq+OOZEn5sVxk/4pbHW/xy55usP8c3o55mL7u3eQb0cTfsAaiEhpszKkJbXdZV537lFssFmbMmMGMGTMacjwiIkGWbD8IwBWT+3D2uO7sOlTMO0t3Eh/lYNv+Qp47b4zZqzJ3F/x3NhzcbB7ona6ugFzqIbjQWzU7BhR681Zfd9isQS1iapy+fmCjeZsyoA4jFRERqZ1LjuzNqwt3APDzJrNs2rieyXy2ag/FThe3vbeStXvy2LSvgL+ePCzo2IPFTu4rv4AsI5k7HG8wbsMjsOERDvM8Xzz6UuIbMCAHmDWsC2t25zK+V93WpLdkYQflTz75JJdeeilRUVE8+eST1e577bXX1ntgItI+lJW7iQjROuq9pZnER9mZ58mUj/P8A3zzsQO4+VgzaDEMA0t5KSz5D8x7zFPVszuc8yakVVNQS6QOjHAy5cWHfNXX7TYL8ZH+NW9R1U1fNww44PlBqWO/eo5URESkZj07xQbNQgSYMSSNz1btITu/lL15Zk2UD5ftrhSUF3iqtv/TdQIZlmzOs881i791HQtjLiR12GkNPl6b1cIdMwcB4HQ6G/z8zSnsoPyxxx7j3HPPJSoqiscee6zK/SwWi4JyEQnLA5+v45UF2/nkmiPomxrv275tfyE3vbPC9zjaYWNi746VjreUFcCrp8HOheaGDj3N6epJ3Rt76NJOBAbiYRV6C6i+7rAGZ8qjqwvKC/dDWQFgMa9jERGRJlCxavrk/qm+KexeDpul4mHkl3iDYgt3lf+Boefcz8i+3VVQt47CDsq3bt0a8r6ISF3988ctADz45Xoi7VbOHtedfqlxTP7H90H7XTG5T3CW0TDgwCb46CrYuQiiEmHSbWYxN01XlwYUGIZXO33dt6Y8F2e5mT2w2yykBBQg7JxYzVq4fE+NhNgUsEfUaawiIiK1FRdQkLRHxxgSYxwM7BwfFJQXlbnILXZS7nLTMc78XCsoNT/rDuvZgQsP78WIQZ2Dq6NKrdR6TbnT6WTgwIF8+umnDBo0qDHGJCLtgHeKL5jV1AE+XbmHk0amB+139rjuXDO1r39D5lJ472I4tM18HJUI538E6aMae8jSDtU6U264MUoLALP6eo+O/oxB1w7VVFQvMP8OEJ9W16GKiIjUWkyEPxwc1jURgEFdEnzLB8GsxH70Q98B8NNtU4iPcpDnmb4+oHM8s4Z3acIRt021riXvcDgoKSlpjLGISDuy42BRyO0fLd8NQHykncfOHMHfThnqr4BdWgDvXGAG5BYr9J4MF3yqgFwaTVAcXl2m3BENdjMTbis5ZG6yWujZyd9iJqO6oNybKY/XFxsREWk6gZny3p3MH5IHpMVX2i+32ElusZNN2eYPz9415XGRbatfeHOpU4O3q666igcffJDy8vKadxYRCcH7j3oo0walseq+YzllVDd/QO4shs9vhtydZjG3mzeaGfIuw5toxNIeBU9fry4qxzeF3VqaC5jT13sk+zPl6UnVBeWeTHmcMuUiItJ0YiL9ywO9S64GdqkclHst2HIAwzB8a8oDa6dI3dXp/+LixYuZO3cuX3/9NcOGDSM2NnhB//vvv98ggxORtulgYRmX/W9plc9fd0yF6tO5u+C/J8BBcw06sx+D2E6NOEIRU2Ac7qopKI9OgoIsbKW5QDx2m5XoCBsfXXUEbsMImiJYSWG2eRuXWt8hi4iIhC0wU97Js168b2ocNqsFl9vg2CFpHN0/hS9XZzFv434e+nI9hmF+lwMF5Q2lTv8Xk5KSOPXUUxt6LCLSTny6crfv/pgeHZjUP4Vv1u1lZWYu54zvzrBuif6dDQM+udYMyOO7wPEPQ99pzTBqaY+MgFy5q9pKb0B0BwAcpQeBeBxWc5bHiIykml+o6KDnHG2v96qIiLRcgdXXE6PNqeiRdhu9O8WyMbuAY4d05neju/HbnnzfOvNH52zwfSZ616FL/dQqKHe73Tz88MNs2LCBsrIypk6dyr333kt0dDVT8kREPB7/ZgOGAat25fq23TS9P4f37cS1x/QjK7eEtITI4IOWvw6bvgFbJJz/MaT0b+JRS3sWmBx3ugwMw/AvqagoZSDsWEBKznKgB3ZbLVaIFXuC8hgF5SIi0nRiA2ZxJcb414dfMbkP7/+6i8kDzBlc50/swcbsfBZuOegLyFPiIxkZzg/PUqNaBeX3338/9957L9OmTSM6Oponn3ySffv28Z///KexxicibcTqXbk8/s3GoG3Pnzeaw/v6p6EHtYw6sBnm3gdrPzIfT75NAbk0uYq5cZfbwB6iXysAfabC0pfodnARcFLIvq5VUqZcRESagdVq4YrJfdiXX8rgLgm+7b8b3Y3fje7me9wvLZ43L53Iu0szufmdFQD07BhT9Q/VUiu1KvT2yiuv8Oyzz/LVV1/x4Ycf8sknn/Daa6/hdrtrPlhE2rW3Fu8Mehxhs3LskM6hd963Hv5znD8gH3oaHH5dI49QpDKjwjry8uqmsPc6GixWkou30ZkD2K3KlIuISMt323ED+cfpI8IKsE8c4W9dW1auGLCh1Coo37FjB8cff7zv8bRp07BYLOzevbuao6r2448/Mnv2bNLT07FYLHz44Ye+55xOJ7fddpuvkFx6ejrnn39+nV9LRJpPidPFh8t3BW07aWR65X/8S/NhxVvw39lm4avOw+Dyn+G0f4NNhUSk6VWs7eZ0VfMFJDoJ0kcDcJRtVdUZ9VCKDnnOoaBcRERargi7P3zsEBvRjCNpW2oVlJeXlxMVFRW0zeFw4HQ66/TihYWFjBgxgmeeeabSc0VFRfz666/cfffd/Prrr7z//vusX7+eE088sU6vJSLN58vVWeR7+lkmxTgY1zOZO48fFLzT3jXwzHj44FIo2Atpw8w15J2HNsOIRUxGhQns5a4air31mQrAUdZVOMJdU150EMryzfuxHWs7RBERkSb12iXjGd8rmf87Sd/RGkqtUk+GYXDhhRcSGekvxFRSUsLll18e1BYt3JZoM2fOZObMmSGfS0xMZM6cOUHbnn76acaNG8eOHTvo3r17bYYuIs3o7SXm1PUbpvXnumn9Ku+QtdrMjhcfhMQMGHE2TLzSV81apLlUypQHLNfalJ3PE3M3ce3UvvRL8/R07TERgMGW7fxmDTNTvtHzWZc2VNe8iIi0eEf07cQRfdWatiHVKii/4IILKm0777zzGmwwNcnNzcVisZCUlFTlPqWlpZSWlvoe5+XlAeZ0+Lpm9CvynqehzifSFBrzul23J5+Hvt7AzdP7MSQ9Ieg5l9tg8TZzvezxQ1OCX78gG9tHl2Pd9iMA7i6jcJ39jjkN2Bxsg49VWo+W8G+ts7w86HFJqRNnlNk+5rwXF5GVV8pPG/fxyx1TzB0SeuAAMizZ2IzysMZu++0zrICr7wzcuuZbvZZw3YrUhq5ZaY1aw3Vbm7FZjIpVbJqJxWLhgw8+4OSTTw75fElJCUcccQQDBw7ktddeq/I89957L/fdd1+l7a+//joxMTENNVwR8ShxwW2/mL/v9Yo3OK+vi9WHLByeahBhgwMl8JdlduwWg4fHu/AmD63uMo7Y9HeSCzdhYCE7fhi/9ryMMnt8M74bkWDF5XDfrzaKXeaFe/eocjp5VnFdt8D/u/YTEz3Bu+Fm1vI/YMfF3cmPMbZH9dPRLe5yZq66Coe7mB/7/5lDsX0b5X2IiIhI0yoqKuKcc84hNzeXhISEavdtFZWTnE4nZ5xxBoZh8Nxzz1W77x133MGNN97oe5yXl0dGRgYzZsyo8X9GbcYzZ84cpk+fjsPhqPkAkRagMa7bZTtyuPGdlUAJAJbIWJ7bWM7+gjK69erNtVP7Mm/Tflj2Kz06xXHCrCPMAwuysX1xM9bCTRhRSZSf/ynJKQOZ1iCjkraipfxbe+IsNxP+/j15JeUcedQkeqeYy7WuW/C1b5/AIqgH1qaTVraTMV0jg7aHYtn2I/YVxRixKUw87Wqw1KrUi7RALeW6FQmXrllpjVrDdeudsR2OFh+UewPy7du38+2339YYWEdGRgatefdyOBwN/gfWGOeUxrUnt5hSp5uenWJr3rmNaqjrtsTp4orXl3OgsMy3bcv+It/9p77bwkmjMnj3V7NjQp+UOPN1l70Kn94ArjKwOrCc+SqO9GH1Ho+0Xc39b63Dgb9om9UWciyB2/Y7upJWtpOOzt01j3vvSgAsvY7GEVH5s0tar+a+bkVqS9estEYt+bqtzbha9E/y3oB848aNfPPNN3TsqKq0Uncut8HRD33H5H98z86DRTUfIFUyDIM73l/FgcIy0hOj+ObGSSH3u+x/S5i3cT8AZ4/vDlvnwcfXmgF517Fw3rvQ66imHLpInXjbm1XbEs1jr6MrAB1KMms+caH594OE9Or3ExERkTarWYPygoICli9fzvLlywHYunUry5cvZ8eOHTidTk477TSWLFnCa6+9hsvlIisri6ysLMrKyqo/sbRbmYeKuPjlxdz78Zqg7YZhcMl/F+P0tDM66qHvKCwtD3UKqcbKzBwyDxXxn5+38cEys+/4OeO70yclllNGdaVrUnTQ/pv3FfpaoY3rFgufXAuGC4afBZd8A70nN/VbEKkTu9X8uCx311yGZa/NDLCTirbWfGJvUB6bUuexiYiISOvWrNPXlyxZwpQpU3yPvWvBL7jgAu69914+/vhjAEaOHBl03HfffcfkyZObapjSitz67krmbz4AwI0z+pMQ5cDtNnhz8U6+W78vaN/PVu5h6qBUYiPsREfYmmO4rcrW/YWc8ux8XBWCknPG98BisfDYmSMBWLs7j+OfnBe0z4So7cS+PhsOboG4znD8w2AJs12USAvg8GTKy8PIlG+O6A9A6sGlUJIHUdUsuyr0/LukoFxERKTdatagfPLkyVRX/L2FFIaXFmTB5gP8+6etnD+xB0f3D/4SuzIzxxeQA8xdt5dTRnXj5ndW8L4nqxvo1vdWEmVx0j3JwatXTCE1QdX5q/Pdb9lBAfnvJ/TgvhOHYK3Qi3lwegJvXjqBb3/L5l8/bqELB/g3f4FdxeCIhROfrD5IEWmB7J415d7ZNtXZYOtHltGBzuWH4LnD4aSnq54VoqBcRESk3Wvxhd5EAj393UZ+3nSAb9bt5ZIje3HXCYMB8wecJ+duCtr3hrdWMLl/qi8gH9o1gVcuHMOc1x8jOnMe/SyZ9LPswl7shkeBmE4w8HgYcTZ0Hg6RcU399lost9vg/WX+9bH3zB7MhYf3xFJFtntC74707BjLiz9u4kHHv4ilGNJHw9lvQnxaUw1bpMHYrZXXlFstEGo2u9Nt4cqy6/hfhxeJzd0Jb5wDN6yGmOTKO3unr8eoZoqIiEh71aILvUn7VO5y88x3m7jopV+4+vVffWu/nS43i7cd8u334k9b+WHDPgzD4Ma3V/DNur1YLHDtVH+f30v/t4Ruln380f4ZH/f6gOSXjuDMPQ9xom0Bg6w7sVsCpqIW7YdfX4GXZsKjg2HlO032nlu6L1ZnsXpXHrERNpbeNY2LjuhVZUDu1dmZyasdXuRo2yrctig45Z8KyKXV8lZfL3f7/82wWUP/HSh3u/nV6M/P0z+ChG7gLISsVaFPXJJr3kZ3aNDxioiISOuhTLm0OD9vPsDDX633Pf505R7W3HcsC7ccoKzcTae4CE4Yns7L87dx5/uruGpKX1/RsWum9uPG6f3pZcvm0HdPM273bwyN3GaeaInnhFFJHBr+Bz7el0Z6/7G8tTqfZZt3c9nAEi6NnAO7foWCLHj/EsjdAUdcD9b2u+a83OXmka/NP49LjupNx7gw2jbtWQH/nsHh5Wb/cuvJz0BK/8Ycpkij8ldf96fGrRYLYD7+ZetBxvTogM1q8e1jiYyHLiMgLxOy10HvCl0K3C4zYAeI1JIOERGR9kpBubQ4mYcqtyv7LSufz1dlAXDiiK7cNKM/c9buZVdOMXd+4M9AXT6pN+z6lVOW/B7s/qy60WsSlm6HQad+MPAEOkTGcYHnueT0Q5z6XCEPbkhi5s3/JiMxAubeB/OfhLl/gcX/gdNfhozDGvNtt1hvL8lky/5COsQ4uOSoXuEdNPf/oLzEbHs2/S/Q84jGHaRII3N4q69XCspNZ/xzAffOHsyFR/TyTXG32yyQOgjWfwbZwR0hACjN99+PjG+cgYuIiEiLp+nr0uLsyy8F4LQx3XzbsnJLWLbTDLKP6teJ2Eg7N0wPzrw+d+5oYvK2wRtnQ/EhSB9N0UkvUH79OiwXfAzH3A0jzqq0VnxMjw4c3qcjLrfBxyt2g81uBpJH3wpRiWaW681zzMrh7YzT5eYfniz51VP7ER/lqPmgXb/CpjlgscGpLygglzbBmymvbvr6Kwu3m/t4AneH1QppZt0L9q6tfNLSPM/Jo8Ae0cAjFhERkdZCQbm0ONmeoLxrUjQnDO8CwCsLtrFlnznNc0RGEgCnju7KfScOoWNsBF1iDKauuwueHmtOPU8ZBBd8TMyoM7Anpdf4micMN/f57rdsc4PFAlP/BDeshdQhUJgN/5oMn1xnTkNtJzbuLeBgYRlxkXbOn9gjvIN+ecG8HXoqJPduvMGJNKFQ1dcrLinvEGMG1k53YKZ8iPlk9jpwV2in5s2UK0suIiLSrikolxalqKyczEPFAKTERxLlMNdyL9p6EIAh6Qkkx5pffC0WCxcc3pOFN43jp4zniVz7LmBA3+lwzlu1+qI7obdZFXnVrtyg6spExsF570H6KLMg09KX4T/Hhs56tUErM3MAGN4t0VfoqlprPoDV75n3x13aeAMTaWIOa+U+5RUz5R1iHJ59PJlymwU69gFbhLl2PGd78EkVlIuIiAgKyqUF2XmwiNH/N4cfN5h9e3unxHJYz+CKxGeP6+5/ULAP3r8Ux9OjsG2fBxHxcMGncN670CHMrK5Hz46xJETZKS13s2FvfvCTCV3gD3PgnHfMNdIlufDWuVBaUKf32Zpsyjbf46AuYRShWvwivHMhuEqh7zToNrZxByfShHyF3tyh15QHPvYG7narFWwO6DTA3KHiLBsF5SIiIoIKvUkL8u+ftlLiNL/MXnZ0byb27sjYHsnERNg5ql8nispcdEmMMnfO2Qn/OxkOeHqTx6bCOW9C1zF1em2r1UKvTrGsyMxld04JQ9ITg3ewOaD/DDPQfP5Ic335SzNh2j1mANpG7ck1q6d3TYqufsfyMvjhYfP+hCvNNfk1tEwTaU2809cDM+XWCpny/BJP+0ZP4O4N5EkbDHtXmcXeBh7vP8DbDk2V10VERNo1BeXSIuQWO3l7yU4AHjl9BKd6irxF2C3MHmGu906KAYoOwqLnzWnkBXshMQNOfg4yxte7UFInT6uv/QWlVe8Ukwy/+xe8dgZkrYRXT4PLfjDbHrVBu3LMpQTpSVHV77j6XXMtf3wXmHaf+SOGSBvin77uz5TbKvzwlF/q9OxjBu6+JR+pVRR7K/Z0iIiq8COgiIiItCuavt7Cbcou4MV5W8gpKmvuoTSqtxbvoKjMxYC0eH43umvonYpz4OVZ8MODZkDesR9c/CX0OqpBKhd7g/LPV+3hy9VZVe/Y80i4fiX0mwEYMOeeer92S7XbF5RXkyk/tB1+/Id5f9ylqiItbZKv0Fs11dfzis1MuTdwt3ufT/MWe6sQlOfsMG8TMxp4tCIiItKaKChvoXbnFPP3L35j2qM/8NfP1vHy/G3NPaRG9f16cx35OeO7Y6k47dntgl1L4X+nmF9q49Lgdy/CZT9CYrcQZ6ubTvFmMDlv434uf3UpW/cX+p57e8lOTn1uvn+9eWwnmPkQWO2w5TvIWhXqlK3W3R+uZuxfv/FVwu/WISb0jms/hueOgIObIaYjjL2oCUcp0nQctsqZcmuFT9CCUu/09QqZcm9Qvm89bJ3nP8AblCcF1MoQERGRdkdBeUthGL4+2Fv3FzLjsR95/ofNvqe3HyhqrpE1iuy8Eq57cxlLth3E7TZYmWmurRxbobAb+XvNVmQvTIXdv0J0slkNffjpEFFFoFhHHWMjgx4v3HIAML9o3/ruSpZuP8QZ/1zgn7WQ3AsGzjLv//q/Bh1Lc3K7Df63cLtvGn+k3eqreB/EWQIfXQVl+dB9IlwyF6I7VN5PpA1whFhTXnH6uvc5X6bcu6Y8IR1GngcY8N4foMDTelFBuYiIiKCgvGUwDEo+uZmyZ47gt8Xf8MGvmb6Mi7fA1gfLdpFb5GzOUdZLQWk5ZeVu8krM93D3R6v5aPluTnt+AWv35FFQWk5MhI0BaQFViJ3FZjG3rJUQEQcDTzCnq3ce1ihjnNinIzERNt/jNxfvxDAMft6037ctp8jJXz4JmII6+nzzdvlrsHNxo4yrqWXllQQ9njYoLfSOW76H0jyIT4cLPzN/pBBpo+xW7/R1f6a84qwewwDDMCj3FnoLTKUf/zCkDDKX3vzygueHWM8Pr7XsFiEiIiJti4LyFqC8rITVyxYR4Soi49Nz6PfTDUy3LuGvJw/libNG+vZ75vtNzTfIevhi1R4O++s39L/rC8b+3zd8vz7b13cczOniABN7d/St26TwAHx4hTldPTYVLp8HZ70GKQMabZyDuiSw8p4ZLLzjGKIdNlbszGFFZq4vY56RbP5AsnTHIf9BvadA98OhrABeORH2rGy08TWFwtJy3v81E4D4SDtXTO7DjTP6h95541fm7YCZYLWF3kekjfBPX/dnyqMdwde9KyAgDzwGMGf2HHmDeX/th5C/x6y+brGZ9TFERESk3VJQ3gLYI6P5ZeKzLHANJtZSymzrz7wQ8Sizsp4lo4O/6nXgGmefskL47XNY9S5s+BpcLSub/r+F27nitV8pdroAKHO5ufClxeQEZP2XbjeD3Il9Opob9m+Ep0bDmg8AC5zyHCT3bpLx2m1WOidGMXVgKgDf/pbNgs1mUH7ueDObtSenBLf3i7fVZvZF73kUOItg4bNNMs6GVuJ08ft/L2L4fV/zj683AHDCiC7cdtxA+qTEVT7AMGDjHPN+/2ObcKQizcPXpzxgTbnDbn6EXnq0+e+Ty20ErTn3/cjoNWAm2CJh/wZ4dJC5rWMfcNTQ3UBERETaNAXlLcQlU4cy4d55HDrzY3b2+z0AHZY/T9p/xvH3xPdIoJCDhWVM/cf33PjWcjZlF8D2+fDYUHjzbHOd4uunw2unQWkBhmHw3frs6tt7NbKdB4u456PVNe73zbq9AAztmgjZ6+CNs6AkB5L7wAWfNEsf8KFdzRZFT87dyG9ZZnG3E0ekY7WYPywE/X+NiIWpd5n3135s/lDSyizbkcO8jftxuQ26JkVzzvju/GnW4KoP2Pcb5O40A4yeRzXdQEWaiXcqenlA9XXvj3M9O8aajw0jqDq7vUJ1dqISoM/U4G1DftcIoxUREZHWRH3KW4gIuxWw0mHQJDoMmgTLj4DPboLcnZzFTqZFzuHtXZPJNFLIPNiJl1dmc1vk+8S7c83e0B37wq5fzXW+T41hb/o0bl15OGldu/PJ1UeycMtBbnhrOUVl5UwZmMoTZ40Ka1xl5W7sVgvWil8uq3GosIzXf9nBSz9vw23AuJ7J/LLNP119TI8OrM/Kp39aHMt35uA2INZWzoi978E7D0DxQYjpZGagmyhDXlFKfHDRtz4psaQnRdM5IYrduSVs3V9IakJAditjPHToCYe2wfovYNhpTTre+tp5yCwkeETfjrx2yYSaD/BmyXsd1eAF90RaolDV112eoNz7nNsIft5RMVMOMOA42PCFef+m9RDfuZFGLCIiIq2FgvKWauTZMPgk2PQNRV/eS6e8zVxp/zh4Hzesdvek7OQvGN0nHTKXmlnmgiw6b3iVHyPfZvW+nmz/7yiWH0onP28ohUTz0fLd3HLsgKrbXHlk5ZZw7OM/MqhLPC9fNI4oR83rhg3D4NwXF7F2Tx4AidEObps5kFOfmw/AYT078PZlEyktdxPlsLFlXwFzf1nOadvuJforT6G0TgPMwmFxKbX//9ZAOsX5q43brRY+ueZIAMb0TGb3it28szST8b07+g+wWGDoqTDvEVj3casLyjMPmkF59+TYmncuL4OVb5v3+81oxFGJtBy+PuUBQbfbMO9HeKaxm9PXzUy5xVK5jzkAI8+FA5ug2zgF5CIiIgIoKG/ZImJg8InsST6Kfz51P8MsWxmTmEd6wRq2GWl84RrPG66p5L2wjNPH7OPcCX0Yef0q2DaPPR/8iS5F6znMsgG2beAK4ILISDYZ6Sx2D+Tv71j52/nTyDxYzKAu8ZV7gwMfLd9FbrGThVsOcuu7K3nirJEh9wu0alcua/fkEe2wcd+JQ5g1vAuxkXZeuvAw/rdwO387ZRgWi4UoSzn88Ai9N35N76xVUF5iVlifcieM+r05zbMZdYrzZ8pnj0gnJsL8q/K70V35ZMVu3l2ayeJtBxnWNZEnzxplziQYeIIZlG/8xqwc74huruHX2s5DxYC/mF21vrkX9q6CqETzhyORdsA7FT1o+rpRucp6mScod1RsYu5lc8CMvzbSKEVERKQ1UlDeCvROS6LjUZfgio9k8BG92JVTzICYCH5ZuI28z38D4J2lmXy+ag/L75mBo9907u/agU2rF9PfspMB1p0cZ11MH+sehlu2Mty6laJd3/Lz/UM5YMSzqf/RnHj2lZWCyJ8CWoF9vGI3547vHpwdDuHl+dsAmDoolTMOy/BtnzIwlSnp5bDyebNH75bvzMrqXhkTYPbjkDqofv+zGkjg9PUTR6b77vcNKHq2/UAR2w8UcfXUvgzsnADpoyChK+TtMoNz7zrzViDTM329ptkT7F0LC58x75/8nDJ90m74+5RXnr5uD6iyXlrurrRNREREpDoKylsBi8XCbccN9D329i4/ZVQ3/uYJygEKy1xk5ZaQkRzD7txSfjO685vRHdzwMGey5qruxOZtZsdnD9G9aC3TbUvNA7d8j/HQP7B0Hg5jL4bhZ4DFwro9ZoGzrrGQVrSBvHWF0OMUM9MTQrnLzZerswC4+Iie/if2rITV78Gif0J5sX97dDIcc7cZkKcOMud7thApcZEc3qcj5S6Do/p28m1PT6qcSd6cXWgG5RYLHH0zfHoD/PgwRCXB4Vc34ajrbudBT6a8Qw2Z8q0/mLd9psLAWY08KpGWw199PTBTbt5GBKwdL/MG5bWowyEiIiLtm4LyViwlPpJLj+5NVm4JKzJz2H6giJ2HishIjuFAYRkAT509iq/WZPH7CT2IzegIDGdnxJHc9tJL9LbsoYvlACfbfqabcz/sXGj+t/5z8rtNZlzRFs6PmMNhrg3YIl2wGIylV+CK7MDyiNGkT76Y9OHTcFtsPPXtJhZvO0hRmYuEKDujMjqA2w2f3QBLX/YPOmM8dJ8Icakw7HTztgWyWi28/sfKBc9sVgtH909h8daDjMhIZOGWg2zeV+DfYezFUJwDc+8zA/PDLmnx7Y5Ky13szS8BICO5hkz5joXmbY/DG3lUIi2Lw1d9PbxMecgibyIiIiIhKChv5e483pzuff5/fmH7gSIyPWuDD3mC8kFd4pk9Ij3omAl9OvHNxFn0S43nu/XZPLL2dHpb9vDFMfuI+PkfsPZD4td+yLP+WmfsMxKIoJxEdxH24n2MLf4KPvoKvkzgYOoE1mwewiEjhd6WCGb1iMW69N+w+n3Y/jNYrNB/Jow8x8yutqCMeF3887wxFJWV887SzMpBOcAR18Hif0NeJvz2aYsv+rZtfxGGATERNjrGRlS9o2HAzkXm/e4Tm2ZwIi1E6Ex55TXlpU5X0P4iIiIiNVFQ3kZ080w7zjxUTLnLTV5JOQAdYioHWTarhXtmDwEgPsrOnLV72Wx05c5D4/nHH46DFW+wYd0KbHk7Kes4kJIjb+eUd/Zjw00ah+hq2c8ptp843raIpNI8Ou38mn9FfO1/ge2e/wDs0XDyM2Zl8jYiOsJGdISNPp715ZuyKwTlVhuMOg9++Dv8+t8WG5SXOF1EOWws2GzWDhjdvUP1hfxyd0L+HrDaIX10E41SpGWwh1hT7u1THmEPsaa8qkJvIiIiIhXoW0Mb4Q/Ki8gpdvq2J0aHXv/tdcLwLlw2yewF/u7STD4+0AVm/YPrHX/mmLJH2H7Mc4wcPR6w4MLGbjqRMnQyd5ZfwujSf3JT0uO8VH4sm91dKIxIMStyx6ZA32lw9C1w1aI2FZAH6ptqBuVb9hX6vpz7jDoXsMDWH2HfhqYfXA2++y2bgXd/yQs/bmFFZi4A43slV3/Qzl/M287D1Ztc2h1HiOrrLsPbpzwgU+6bvq5MuYiIiIRHQXkb4a2anXmwmJwic+p6YrTDl92pisVi4Y6Zg7h2al8AHvryN+Zv3s/GbLPI29CuiVgsFl44fywAZ4/rzrPnjuGSI3vhxsp7WancV34Bx5Q9wvIzFsLtO+CWTXDee2b18Q49GustNztvUbRip4tDnv/nPkndYcBM8/4rJ8GGr2kpduUUc9HLZk/4+z9fxw5Pj/Ia15N7p65njGvM4Ym0SKH6lHtnsgdNXy93Be0vIiIiUhN9a2gjvJnyX7YdZNqjPwLQIab6LHmgK6f0JTbCRuahYs55YRFOl8GAtHhfpffpg9P49qZJ3DN7MAB3nTCYVy4ODs6GpDdvb/GmZrdZiY80V4DkBsxO8Jn+F4hPh/zd8MaZsGNRE48wtH98vTHo8dLthwBIDWgDF5I3U97tsMYYlkiLFmE3Py69mXAAw5MptwVUWi91qvq6iIiI1I6C8jaie4gs54iMpLCPj3LY6JUS63s8fXAar/xhXNAa494pcUQ5bL7HR/dP4avrjwYgLSGSpBDr19u6BM/ygJBBead+cPViGHQiGG748AooK2riEVa241DoMaQmVBOUF+6HvavN+xnjG2FUIi1bbIT5b19xWblvm8sXlPsD8zKXqq+LiIhI7ehbQxvRKS44oJo9Ip0/zRpUq3P06OgPyi8+ohdpCTW38hrQOZ5PrzmSD686olav1VYkVheUA0TGwYlPmRnzg5vh81uaNTB3G7BlX+jXT4mv4s+7vAzePh/c5ZAyCBK7NeIIRVqmWM+smIJSl2+btyWa1WLB5vkBs8RTfV1rykVERCRcCsrboFHdk3jq7FGkVhVkVaF3J39QPqRr+FPRh3ZNpEtidK1eq61IiDa/qHur3YcUnWQG5gDLX4UnR8KelY0+tlCyi6GgtJxoh40rJ/fxbe+cEEVCVBXNGBY+a7a2i4iH019q9S3tROoiNsL8+1FY6v+77kmUY7NafH8tvM9HR9gQERERCYdaorUh//z9GB79egMPnzaiTsefO74H+SXlHD+sCwlR4a9Hb89qzJR79ZsGp/4b5t4HOTtwvXcpzj98S1R001Yx31ZgRg7Duibyx6N6Extpp2NsBJMGpFTdDm3Dl+bttHsgtXazL0TaithIz/R1pwuX28BmtQRnyj3T1/M9QXlMhD5eRUREJDz61tCGHDukM8cO6Vzn4zsnRnHviUMacERtnzcoz6spKAezX3nvybieHodt/zo+f/5mZt/wbCOPMNh2T1A+snsSHWIjuGpK3+oPKC2ATLNSO/2mN/LoRFou7/R1gKKycuKjHL415Varf/p6gWfWTKwy5SIiIhImTV8XqYcOnuJ2+/JLq9wnK7eEP32wip0HiyC2E9/1vR2AmTlv4PzqbijOaYqhArDDE5SP6JYU5gELzbXkSd2hQ89GG5dISxdpt/qy4YWedeVuT6bcZvFPX88v8U5f12/eIiIiEh4F5SL10CclDoBN2QVV7nP2Cwt5bdEOrn1zGQAbOk7lnfKjsVvcOBY8Sdkrp4HbVeXxDSnH0069V0D9gGpt/tZzwNGNMyCRVsJisfiy34WeCuxuX6bcX329oFSZchEREakdBeUi9dC/czwAa/fkUVQWutjb1v2FACzbkQNA5qFibim/jD+U3US+EU3EnsWw+MVGH6vbbVDkmWXfMS7M9nXe9eT9ZjTOoERaEe8U9sLScgzDwJMoD1pT7p2+HqOgXERERMKkoFykHgakxZMU4+BgYRmD//wVT83dGPT8rpzioMdZuSVsP1AIWIgacgIPlp9lPvHNfXBoe6OONa+kHDdm4JAUE0Yhv/0bzTZuVgf0ntKoYxNpDfxt0cp9ATmY09etnvnreSXmL18xkZq+LiIiIuFRUC5SD9ERNv5z4WG+xy/M2xL0/ILNB4Ien/WvBfy8ydx2zvjuvOY6hkXugeAshBemwpoPG22sBwvNuetxkXYi7TVk8VzlMOce837PIyEq/BZ5Im1VhM38yCx3Gb7K62AWevMG5Zq+LiIiIrWloFyknkZ378D7Vx4OeLLRAV/W52/eH7TvtgNFvvvjeiXTMS6am5yXU5TYF4r2wzsXws5fGmWcB4vMoDw5Nows+Ze3wfrPwBYBk25tlPGItFYG/vXkYK4nr7imXIXeREREJFwKykUawOAu/kxygWdt+arMXOas2QvA7TMH0j05hn6pcSTHRnDl5D44bFamDEgh00jlge4vwJBTAAM+vALy9zb4GFfvzgOgY2wN68lLC+DXV8z7p/0Hehze4GMRaY28FdbN9eQBmXKLWewN1BJNREREak8/5Ys0gCiHjQi7lbJyN3nFTr5YtYfb3lsFmFNeLzy8J5dP6lPpuEkDUnhnaSZrs0vggkfNFmQHNsEz42D0+TDlTnBEN8gYP1q+B4Bpg1Kr33HLd+AqM1ugDTyhQV5bpC3wBeUQPH09YE15uWd7tIJyERERCZMy5SINJCHKnBaeW+z0BeQAI7snEeUI/QU9o0MMAJmHiiAmGS76HDr1h5IcmP8kfHQ15GY2yPgyD5lF5yb161T9jms/Nm8HzPJHISKCBX9U7nb7t9usFmwV/q7EqtCbiIiIhElBuUgDSYg2v4TPevKnoO2juidVeUxGshmU780rpcTpguTecOVCmP2EucPqd+GxIfDECFj+Rp3HVlzmIqfYrArdJTGq6h3LS/1t0AafWOfXE2mLAuPuoDXlFgtWa3BQrpZoIiIiEi4F5SINJDE6dAG11Piqg+AOMQ7f2tPt3iJwVhuMuRBOfxnSR4HFCoe2wYeXw4Jn6zS23blmljzSahAfVUUGryQPPrgMSvMgrjN0G1en1xJp6wwMXAFBucVirisPFKNCbyIiIhImBeUiDcQ7fR3g46uPYGDneABmDE6r8hiLxcKIjCTArNRe7nLjdHnmxQ45BS79Hm7bDhOvNrd9dQe8dDyseKtWY9uTUwJAUqT5mpWU5sOLx8CaD8Bqh+n3+StXiQiAd/I6hoGvy4LVYv6dslacvq5MuYiIiIRJP+WLNJDOCf6MeL/UeN6+fCK5RU7fFPWqTOqfwvzNB3j4q/Xc98laenaM4e3LJpLqPV9UAsz4K0QmwPd/g+0/m/+V5cNhl4Q1tj2eTHmHCCP0Dqvegf0bIC4NznwVMpQlF6nEE3gbBr5MubcVmq1CqlyF3kRERCRcSoWJNJBh3RJ996MjbCREOWoMyAF+P7EHIzOSKCpzAWYv8zd+2Rm8k8UCk2+Da5fD8LPMbZ/dBD8/YUYINdiTa2bKE0N1QzMMWPpf8/7EqxSQi1TBlykHvMXXvTNPKgblmr4uIiIi4VJQLtJAzjwsgwsP78kTZ42s1XExEXZevuiwoG2b9xWE3jm5F5zyPBx1s/l4zp/h5VlQkF3ta/gy5ZEhntyxEPYsB3sUjDyvVmMXaU+C+pR7onJv1fXAZSFRDmulIF1ERESkKgrKRRqIw2bl3hOHcNLIrrU+NikmghfPH+t7vHV/YdU7Wyww9S6Y8iewR5tT2T+4LLhHUwDDMPgtK998nVDT1xc+Y94OPxNiO9Z67CLtRWCY7e1T7g2+S50u33PKkouIiEhtKCgXaSGmDU7j6xuOBmDLvgLKXaGDbMAMzCfdCn/81sxwb/4WFoauzP7m4p0s25GDw2ahb0JAUF54AN48F9Z9Yj6ecEVDvRWRNs2cvu4v9Ab4fvgCtUMTERGR2lFQLtKC9O4US2K0g8IyFysyc2s+IG0wHPs38/4391aqyp5TVMb/fboWgBun9SMlOuDJL26B3z4Fiw0m3Q6pgxrmTYi0UZaAQm++oDzENHUF5SIiIlIbCspFWhC7zcqR/ToB8MP66teJ+4y9GAaeAG4nfHApBV/ch+EJGNbuyaOozEXXpGguPryH/5is1bD6PfP+RZ/DlDsa8m2ItEn+8NvAO5HFFqLFoKavi4iISG0oKBdpYSb1TwHghw37eOa7Tcx47Ad+3XHI9/zLP2/lfwu3+w+wWOD0/5rZbiB64WO8/cEHAGQeMgu89U6JDc7ofXe/eTvkFOg+oRHfjUjb4S/05l9THipTHuXQR6uIiIiETz/ni7Qwkz1B+YrMXN8U9t89O58LD+/J8cO6cO8n5nT0Ywen+XuZ2+ww5Q4++PYnTrH9xJjlf4LZx7PLE5R36+Cft2757TNY/zlYrDD5ziZ8ZyKtmyUgV+6dvh4qU24NsU1ERESkKvo5X6SFSU2IYlCXhErbX56/jTP+ucD3eMn2Q5X2udd5PvuMRPpad8PLs4ja8T0W3HRNMoPyflkfY3/vAnPnUedBSv/GeRMibVioQm+BFJSLiIhIbSgoF2mBBnWJ992vairsvI37AbOY25n/XMD/Fmwjlzhudl5OsREBu5Zwxc5bmBd5PWdk3o/t/T8weM+75sHjL4fj/9Ho70OkTQlz+rpichEREakNBeUiLVBn77R04PQxGSH3eeOXHWzdX8irC7ezaOtB7v5oDQA/uEdwdOlj5A67mDwjhm6W/aRu+QDruo8AcI27DGY+CPbIxn8jIm2IN9Y2MPzT1z1B+ZgeHZppVCIiItLaKSgXaYHSAoLycb2SuXxSH9/ja6f29d2f8o/v2X6gqNLx++jA2pF3cVjps9wTdStMuxfX5D/xc9/bcU/7a+MOXqSNCiz05kmU+9aUv3zRYb79NH1dREREakOF3kRaoGiHv8/x+F7JzB6Rzu0zB7I3r4TU+Eh2HCziw+W7AXhnaWbIc2zZX0ApEazrMBWOnIjb6WT/559rbq1IHXkLvRn4p697/zrFRzn8++mvmIiIiNSCMuUiLdBhvZIBSImP9FdYx8ygWywW/jx7CAM7x1d1OAAb9xb4ziEi9RcYbLvdwdPXAylTLiIiIrWhoFykBerVKZY5NxzNl9cdFfL55NgI3rp0YrXn2LK/EICUOAXlIg3JMAxcvurrIQq9NfWAREREpFVTUC7SQvVLi6djNQF1YoyD22cOJDU+ksfPHFnp+a37zUx5aoKCcpGGEJQp964pD8iUXzO1L9EOG7fNHNjEIxMREZHWTGvKRVqxyyf18RWBu+mdFb51rgA7DxYDypSLNBTfmnLDP309MFN+04wBXDO1HxF2/d4tIiIi4dM3B5E24oFThoXcHrgmXUTqzld9HaPKPuUKyEVERKS29O1BpI04fWw3Pr3mSKYOTA3arky5SMPzrim3aQG5iIiI1JOCcpE2wmKxMLRrIh1jI4K2a025SMMyDLPYG6jSuoiIiNSfgnKRNiY6wt/jvFNcJB1iIqrZW0TCZbH415S73Oa2itPXRURERGpLQblIG5MWsIb82XNHh+yjLCK15/2bZBA4fV1/v0RERKR+VH1dpI0587AMSsvdnDginb6pcc09HJE2w1fozTB81df1o5eIiIjUl4JykTamU1wkN07v39zDEGlzAjPlbk+mXIlyERERqa9mnb7+448/Mnv2bNLT07FYLHz44YdBzxuGwZ///Ge6dOlCdHQ006ZNY+PGjc0zWBERadcsARG4S5lyERERaSDNGpQXFhYyYsQInnnmmZDPP/TQQzz55JM8//zzLFq0iNjYWI499lhKSkqaeKQiIiIehj9TrjXlIiIiUl/NOn195syZzJw5M+RzhmHw+OOPc9ddd3HSSScB8Morr5CWlsaHH37IWWed1ZRDFRGRds4/fd3AkyhX9XURERGptxa7pnzr1q1kZWUxbdo037bExETGjx/PggULqgzKS0tLKS0t9T3Oy8sDwOl04nQ6G2Rs3vM01PlEmoKuW2ltWto16+1NXl7uotwblRtGixmftAwt7boVqYmuWWmNWsN1W5uxtdigPCsrC4C0tLSg7Wlpab7nQnnggQe47777Km3/+uuviYmJadAxzpkzp0HPJ9IUdN1Ka9NSrtnsbCtgZeWqVbgMABv79mbx+eefN/PIpCVqKdetSLh0zUpr1JKv26KiorD3bbFBeV3dcccd3Hjjjb7HeXl5ZGRkMGPGDBISEhrkNZxOJ3PmzGH69Ok4HI4GOadIY9N1K61NS7tmPzm0jNWH9jFs2DBKnC7Yup6u6ekcf/zw5h6atCAt7boVqYmuWWmNWsN1652xHY4WG5R37twZgL1799KlSxff9r179zJy5Mgqj4uMjCQyMrLSdofD0eB/YI1xTpHGputWWpuWcs1arGZtVKvVhsVTJtVut7aIsUnL01KuW5Fw6ZqV1qglX7e1GVezVl+vTq9evejcuTNz5871bcvLy2PRokVMnDixGUcmIiLtUVChN8+acquqr4uIiEg9NWumvKCggE2bNvkeb926leXLl5OcnEz37t25/vrr+etf/0q/fv3o1asXd999N+np6Zx88snNN2gREWmXvPG3YYDLUFAuIiIiDaNZg/IlS5YwZcoU32PvWvALLriAl19+mVtvvZXCwkIuvfRScnJyOPLII/nyyy+JiopqriGLiEg7ZfHkyg3A5cmU21rsfDMRERFpLZo1KJ88ebKvxUwoFouFv/zlL/zlL39pwlGJiIhU5k2KPzZnA4f36QiATX3KRUREpJ70G7+IiEgYvEH5wcIyPl25x7NNQbmIiIjUj4JyERGROrIpKBcREZF6UlAuIiISBguVA3BNXxcREZH6UlAuIiISjhDxt6qvi4iISH0pKBcREQlDqPBbiXIRERGpLwXlIiIiYQhV1E3T10VERKS+FJSLiIjUkVVBuYiIiNSTgnIREZEwaPq6iIiINAYF5SIiImEIVdNNLdFERESkvhSUi4iIhCFkplypchEREaknBeUiIiJhCFnoTZlyERERqScF5SIiImFQplxEREQag4JyERGROrIqUy4iIiL1pKBcREQkHKEKvelTVEREROpJXydERETCYAkRlStTLiIiIvWloFxERCQMoeJvBeUiIiJSXwrKRUREwhAq/Lap0JuIiIjUk4JyERGROlL1dREREakvBeUiIiJhCDVTXX3KRUREpL4UlIuIiIQhdKG3ZhiIiIiItCkKykVERMIQstCbonIRERGpJwXlIiIiYdD0dREREWkMCspFRETCUjkAV/V1ERERqS8F5SIiInWkRLmIiIjUl4JyERGRMIScvq5MuYiIiNSTgnIREZEwhAq/taZcRERE6ktBuYiISBhCxd8WBeUiIiJSTwrKRUREwhCqT7mmr4uIiEh9KSgXERGpI5s+RUVERKSe9HVCREQkDKFmqls1fV1ERETqSUG5iIhIGEKF3wrKRUREpL4UlIuIiIQhVFE3rSkXERGR+lJQLiIiUkfKlIuIiEh9KSgXEREJQ6j4W5lyERERqS8F5SIiInWkmFxERETqS0G5iIhIGEL1KbcqKhcREZF6UlAuIiIShpDT17WmXEREROpJQbmIiEgYQoXfWlMuIiIi9aWgXEREJAyhkuJKlIuIiEh9KSgXERGpI2XKRUREpL4UlIuIiITBEiItrjXlIiIiUl8KykVERMIQKvx2G00+DBEREWljFJSLiIiEI0RU7nS5m34cIiIi0qYoKBcREQlDqD7lCspFRESkvhSUi4iIhCHU8vG4SHvTD0RERETaFH2bEBERqaU7Zg7EbUC/tPjmHoqIiIi0cgrKRUREwhCYKD9ldFdS46OabSwiIiLSdmj6uoiISBgCp69b1QpNREREGoiCchERkTAEFnpTSC4iIiINRUG5iIhIGAz8TcmVKRcREZGGoqBcREQkDG5/TB6yEruIiIhIXSgoFxERqSWLonIRERFpIArKRUREwmAEZMqtislFRESkgSgoFxERqSVlykVERKShKCgXEREJQ3Cht2YciIiIiLQpCspFRETCEVjoTU3RREREpIEoKBcREQlDQEyu6usiIiLSYBSUi4iI1JKCchEREWkoCspFRETCYBiBa8oVlYuIiEjDUFAuIiISBiNoTbmIiIhIw1BQLiIiUkvKlIuIiEhDUVAuIiISBhV6ExERkcagoFxERCQMQdPXFZWLiIhIA1FQLiIiEgYjKFcuIiIi0jAUlIuIiIiIiIg0EwXlIiIiYTCUKBcREZFGoKBcREREREREpJkoKBcREQmDoVS5iIiINAIF5SIiImFQSC4iIiKNoUUH5S6Xi7vvvptevXoRHR1Nnz59+L//+z9lK0RERERERKRNsDf3AKrz4IMP8txzz/Hf//6XIUOGsGTJEi666CISExO59tprm3t4IiLSjuj3YBEREWkMLToonz9/PieddBKzZs0CoGfPnrzxxhv88ssvzTwyERERERERkfpr0UH54Ycfzr/+9S82bNhA//79WbFiBT/99BOPPvpolceUlpZSWlrqe5yXlweA0+nE6XQ2yLi852mo84k0BV230tq0tGvW5Xb57reUMUnL09KuW5Ga6JqV1qg1XLe1GZvFaMELtN1uN3feeScPPfQQNpsNl8vF/fffzx133FHlMffeey/33Xdfpe2vv/46MTExjTlcERFpw97eYuXnvWYplicmljfzaERERKQlKyoq4pxzziE3N5eEhIRq923RQfmbb77JLbfcwsMPP8yQIUNYvnw5119/PY8++igXXHBByGNCZcozMjLYv39/jf8zwuV0OpkzZw7Tp0/H4XA0yDlFGpuuW2ltWto1e/fHa3lzcSYAG/9vRjOPRlqqlnbditRE16y0Rq3hus3Ly6NTp05hBeUtevr6Lbfcwu23385ZZ50FwLBhw9i+fTsPPPBAlUF5ZGQkkZGRlbY7HI4G/wNrjHOKNDZdt9LatJRr1mr1NyxpCeORlq2lXLci4dI1K61RS75uazOuFt0SraioKOhLEIDNZsPtdjfTiEREpL1qufPKREREpDVr0Zny2bNnc//999O9e3eGDBnCsmXLePTRR7n44oube2giItLuKCoXERGRhteig/KnnnqKu+++myuvvJLs7GzS09O57LLL+POf/9zcQxMRkXZGmXIRERFpDC06KI+Pj+fxxx/n8ccfb+6hiIhIO6egXERERBpDi15TLiIiIiIiItKWKSgXEREJg6E15SIiItIIFJSLiIiIiIiINBMF5SIiImHQmnIRERFpDArKRUREwqCYXERERBqDgnIREZEwKFMuIiIijUFBuYiISBhU6E1EREQag4JyERERERERkWaioFxERCQcSpSLiIhII1BQLiIiEgbF5CIiItIYFJSLiIiEwVClNxEREWkECspFREREREREmomCchERkTAoTy4iIiKNQUG5iIiIiIiISDNRUC4iIhIGLSkXERGRxqCgXEREJAxuReUiIiLSCBSUi4iIiIiIiDQTBeUiIiJhUJ5cREREGoOCchEREREREZFmoqBcREQkHEqVi4iISCNQUC4iIhIGQ1G5iIiINAIF5SIiImFQ8XURERFpDArKRURERERERJqJgnIREZEwdE6Mau4hiIiISBtkb+4BiIiItAbXT+vPwcIyTh7ZtbmHIiIiIm2IgnIREZEwJEY7eOKsUc09DBEREWljNH1dREREREREpJkoKBcRERERERFpJgrKRURERERERJqJgnIRERERERGRZqKgXERERERERKSZKCgXERERERERaSYKykVERERERESaiYJyERERERERkWaioFxERERERESkmSgoFxEREREREWkmCspFREREREREmomCchEREREREZFmoqBcREREREREpJkoKBcRERERERFpJgrKRURERERERJqJgnIRERERERGRZqKgXERERERERKSZKCgXERERERERaSb25h5AYzMMA4C8vLwGO6fT6aSoqIi8vDwcDkeDnVekMem6ldZG16y0RrpupbXRNSutUWu4br3xpzcerU6bD8rz8/MByMjIaOaRiIiIiIiISHuSn59PYmJitftYjHBC91bM7Xaze/du4uPjsVgsDXLOvLw8MjIy2LlzJwkJCQ1yTpHGputWWhtds9Ia6bqV1kbXrLRGreG6NQyD/Px80tPTsVqrXzXe5jPlVquVbt26Ncq5ExISWuxFIFIVXbfS2uialdZI1620NrpmpTVq6ddtTRlyLxV6ExEREREREWkmCspFREREREREmomC8jqIjIzknnvuITIysrmHIhI2XbfS2uialdZI1620NrpmpTVqa9dtmy/0JiIiIiIiItJSKVMuIiIiIiIi0kwUlIuIiIiIiIg0EwXlIiIiIiIiIs1EQbmIiIiIiIhIM2m3QfkDDzzAYYcdRnx8PKmpqZx88smsX78+aJ+SkhKuuuoqOnbsSFxcHKeeeip79+4N2ufaazepDcUAAAx2SURBVK9lzJgxREZGMnLkyJCv9dVXXzFhwgTi4+NJSUnh1FNPZdu2bY30zqStaspr9u2332bkyJHExMTQo0cPHn744cZ6W9LGNcR1u2LFCs4++2wyMjKIjo5m0KBBPPHEE5Ve6/vvv2f06NFERkbSt29fXn755cZ+e9IGNdU1u2fPHs455xz69++P1Wrl+uuvb4q3J21UU12377//PtOnTyclJYWEhAQmTpzIV1991STvUdqWprpmf/rpJ4444gg6duxIdHQ0AwcO5LHHHmuS91gb7TYo/+GHH7jqqqtYuHAhc+bMwel0MmPGDAoLC3373HDDDXzyySe88847/PDDD+zevZvf/e53lc518cUXc+aZZ4Z8na1bt3LSSScxdepUli9fzldffcX+/ftDnkekOk11zX7xxRece+65XH755axevZpnn32Wxx57jKeffrrR3pu0XQ1x3S5dupTU1FReffVV1qxZw5/+9CfuuOOOoGty69atzJo1iylTprB8+XKuv/56LrnkEn1ZlFprqmu2tLSUlJQU7rrrLkaMGNGk71Hanqa6bn/88UemT5/O559/ztKlS5kyZQqzZ89m2bJlTfp+pfVrqms2NjaWq6++mh9//JF169Zx1113cdddd/Gvf/2rSd9vjQwxDMMwsrOzDcD44YcfDMMwjJycHMPhcBjvvPOOb59169YZgLFgwYJKx99zzz3GiBEjKm1/5513DLvdbrhcLt+2jz/+2LBYLEZZWVnDvxFpNxrrmj377LON0047LWjbk08+aXTr1s1wu90N+yak3anvdet15ZVXGlOmTPE9vvXWW40hQ4YE7XPmmWcaxx57bAO/A2lvGuuaDTRp0iTjuuuua9BxS/vWFNet1+DBg4377ruvYQYu7VZTXrOnnHKKcd555zXMwBtIu82UV5SbmwtAcnIyYP7y4nQ6mTZtmm+fgQMH0r17dxYsWBD2eceMGYPVauWll17C5XKRm5vL//73P6ZNm4bD4WjYNyHtSmNds6WlpURFRQVti46OJjMzk+3btzfAyKU9a6jrNjc313cOgAULFgSdA+DYY4+t1bUvEkpjXbMijamprlu3201+fr6ubam3prpmly1bxvz585k0aVIDjbxhKCjH/Afl+uuv54gjjmDo0KEAZGVlERERQVJSUtC+aWlpZGVlhX3uXr168fXXX3PnnXcSGRlJUlISmZmZvP322w35FqSdacxr9thjj+X9999n7ty5uN1uNmzYwCOPPAKYayBF6qqhrtv58+fz1ltvcemll/q2ZWVlkZaWVukceXl5FBcXN+wbkXajMa9ZkcbSlNftP/7xDwoKCjjjjDMabPzS/jTFNdutWzciIyMZO3YsV111FZdcckmDv4/6sDf3AFqCq666itWrV/PTTz81+LmzsrL44x//yAUXXMDZZ59Nfn4+f/7znznttNOYM2cOFoulwV9T2r7GvGb/+Mc/snnzZk444QScTicJCQlcd9113HvvvVit+h1P6q4hrtvVq1dz0kkncc899zBjxowGHJ1IZbpmpTVqquv29ddf57777uOjjz4iNTW1zq8l0hTX7Lx58ygoKGDhwoXcfvvt9O3bl7PPPrs+w25Q7T4ov/rqq/n000/58ccf6datm297586dKSsrIycnJ+gXmr1799K5c+ewz//MM8+QmJjIQw895Nv26quvkpGRwaJFi5gwYUKDvA9pPxr7mrVYLDz44IP87W9/Iysri5SUFObOnQtA7969G+x9SPvSENft2rVrOeaYY7j00ku56667gp7r3LlzpU4De/fuJSEhgejo6IZ/Q9LmNfY1K9IYmuq6ffPNN7nkkkt45513Ki0dEqmNprpme/XqBcCwYcPYu3cv9957b4sKyttt2sswDK6++mo++OADvv32W98flNeYMWNwOBy+YARg/fr17Nixg4kTJ4b9OkVFRZWyizabDTCnaoiEq6muWS+bzUbXrl2JiIjgjTfeYOLEiaSkpNT7fUj70lDX7Zo1a5gyZQoXXHAB999/f6XXmThxYtA5AObMmVOna1/at6a6ZkUaUlNet2+88QYXXXQRb7zxBrNmzWqcNyRtXnP+W+t2uyktLW2YN9JQmrPKXHO64oorjMTEROP777839uzZ4/uvqKjIt8/ll19udO/e3fj222+NJUuWGBMnTjQmTpwYdJ6NGzcay5YtMy677DKjf//+xrJly4xly5YZpaWlhmEYxty5cw2LxWLcd999xoYNG4ylS5caxx57rNGjR4+g1xKpSVNds/v27TOee+45Y926dcayZcuMa6+91oiKijIWLVrUpO9X2oaGuG5XrVplpKSkGOedd17QObKzs337bNmyxYiJiTFuueUWY926dcYzzzxj2Gw248svv2zS9yutX1Nds4Zh+P79HTNmjHHOOecYy5YtM9asWdNk71Xajqa6bl977TXDbrcbzzzzTNA+OTk5Tfp+pfVrqmv26aefNj7++GNjw4YNxoYNG4wXX3zRiI+PN/70pz816futSbsNyoGQ/7300ku+fYqLi40rr7zS6NChgxETE2Occsopxp49e4LOM2nSpJDn2bp1q2+fN954wxg1apQRGxtrpKSkGCeeeKKxbt26Jnqn0lY01TW7b98+Y8KECUZsbKwRExNjHHPMMcbChQub8J1KW9IQ1+0999wT8hw9evQIeq3vvvvOGDlypBEREWH07t076DVEwtWU12w4+4iEo6mu26q+Q1xwwQVN92alTWiqa/bJJ580hgwZYsTExBgJCQnGqFGjjGeffTaoXXVLYDEMw6hbjl1ERERERERE6qPdrikXERERERERaW4KykVERERERESaiYJyERERERERkWaioFxERERERESkmSgoFxEREREREWkmCspFREREREREmomCchEREREREZFmoqBcREREREREpJkoKBcRERERERFpJgrKRURE2rgLL7wQi8WCxWLB4XCQlpbG9OnT+c9//oPb7Q77PC+//DJJSUmNN1AREZF2SEG5iIhIO3DcccexZ88etm3bxhdffMGUKVO47rrrOOGEEygvL2/u4YmIiLRbCspFRETagcjISDp37kzXrl0ZPXo0d955Jx999BFffPEFL7/8MgCPPvoow4YNIzY2loyMDK688koKCgoA+P7777nooovIzc31Zd3vvfdeAEpLS7n55pvp2rUrsbGxjB8/nu+//7553qiIiEgro6BcRESknZo6dSojRozg/fffB8BqtfLkk0+yZs0a/vvf//Ltt99y6623AnD44Yfz+OOPk5CQwJ49e9izZw8333wzAFdffTULFizgzTffZOXKlZx++ukcd9xxbNy4sdnem4iISGthMQzDaO5BiIiISOO58MILycnJ4cMPP6z03FlnncXKlStZu3ZtpefeffddLr/8cvbv3w+Ya8qvv/56cnJyfPvs2LGD3r17s2PHDtLT033bp02bxrhx4/jb3/7W4O9HRESkLbE39wBERESk+RiGgcViAeCbb77hgQce4LfffiMvL4/y8nJKSkooKioiJiYm5PGrVq3C5XLRv3//oO2lpaV07Nix0ccvIiLS2ikoFxERacfWrVtHr1692LZtGyeccAJXXHEF999/P8nJyfz000/84Q9/oKysrMqgvKCgAJvNxtKlS7HZbEHPxcXFNcVbEBERadUUlIuIiLRT3377LatWreKGG25g6dKluN1uHnnkEaxWs+TM22+/HbR/REQELpcraNuoUaNwuVxkZ2dz1FFHNdnYRURE2goF5SIiIu1AaWkpWVlZuFwu9u7dy5dffskDDzzACSecwPnnn8/q1atxOp089dRTzJ49m59//pnnn38+6Bw9e/akoKCAuXPnMmLECGJiYujfvz/nnnsu559/Po888gijRo1i3759zJ07l+HDhzNr1qxmesciIiKtg6qvi4iItANffvklXbp0oWfPnhx33HF89913PPnkk3z00UfYbDZGjBjBo48+yoMPPsjQoUN57bXXeOCBB4LOcfjhh3P55Zdz5plnkpKSwkMPPQTASy+9xPnnn89NN93EgAEDOPnkk1m8eDHdu3dvjrcqIiLSqqj6uoiIiIiIiEgzUaZcREREREREpJkoKBcRERERERFpJgrKRURERERERJqJgnIRERERERGRZqKgXERERERERKSZKCgXERERERERaSYKykVERERERESaiYJyERERERERkWaioFxERERERESkmSgoFxEREREREWkmCspFREREREREmsn/AxDtMgSEh/8ZAAAAAElFTkSuQmCC"/>
          <p:cNvSpPr>
            <a:spLocks noChangeAspect="1" noChangeArrowheads="1"/>
          </p:cNvSpPr>
          <p:nvPr/>
        </p:nvSpPr>
        <p:spPr bwMode="auto">
          <a:xfrm>
            <a:off x="155574" y="-144463"/>
            <a:ext cx="288937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957086" y="1502815"/>
            <a:ext cx="3729714" cy="33595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0222" y="2059354"/>
            <a:ext cx="4572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positive correlation between Close Price and SMA_30 shows that moving averages are reliable for trend analysis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Negative </a:t>
            </a:r>
            <a:r>
              <a:rPr lang="en-US" sz="1600" dirty="0"/>
              <a:t>correlation between Volatility and Close Price suggests that when price increases, uncertainty (volatility) </a:t>
            </a:r>
            <a:r>
              <a:rPr lang="en-US" sz="1600" dirty="0" smtClean="0"/>
              <a:t>reduces.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Log </a:t>
            </a:r>
            <a:r>
              <a:rPr lang="en-US" sz="1600" dirty="0"/>
              <a:t>Returns' relationships highlight asset return dynamics needed for derivative </a:t>
            </a:r>
            <a:r>
              <a:rPr lang="en-US" sz="1600" dirty="0" smtClean="0"/>
              <a:t>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From </a:t>
            </a:r>
            <a:r>
              <a:rPr lang="en-US" sz="1600" dirty="0"/>
              <a:t>a derivatives finance view, understanding correlations supports better hedging strategies using options and structured products..</a:t>
            </a:r>
          </a:p>
        </p:txBody>
      </p:sp>
    </p:spTree>
    <p:extLst>
      <p:ext uri="{BB962C8B-B14F-4D97-AF65-F5344CB8AC3E}">
        <p14:creationId xmlns:p14="http://schemas.microsoft.com/office/powerpoint/2010/main" val="31372051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Exploratory Data Analysis 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TREND OVER TIME</a:t>
            </a:r>
          </a:p>
        </p:txBody>
      </p:sp>
    </p:spTree>
    <p:extLst>
      <p:ext uri="{BB962C8B-B14F-4D97-AF65-F5344CB8AC3E}">
        <p14:creationId xmlns:p14="http://schemas.microsoft.com/office/powerpoint/2010/main" val="40478048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7900" y="281175"/>
            <a:ext cx="6544225" cy="421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CODING: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1197404"/>
            <a:ext cx="7321605" cy="357418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# Trend over Time</a:t>
            </a:r>
          </a:p>
          <a:p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=(12,6))</a:t>
            </a:r>
          </a:p>
          <a:p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stock_data.index</a:t>
            </a:r>
            <a:r>
              <a:rPr lang="en-US" dirty="0"/>
              <a:t>, </a:t>
            </a:r>
            <a:r>
              <a:rPr lang="en-US" dirty="0" err="1"/>
              <a:t>stock_data</a:t>
            </a:r>
            <a:r>
              <a:rPr lang="en-US" dirty="0"/>
              <a:t>['Close'], label='Close Price')</a:t>
            </a:r>
          </a:p>
          <a:p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stock_data.index</a:t>
            </a:r>
            <a:r>
              <a:rPr lang="en-US" dirty="0"/>
              <a:t>, </a:t>
            </a:r>
            <a:r>
              <a:rPr lang="en-US" dirty="0" err="1"/>
              <a:t>stock_data</a:t>
            </a:r>
            <a:r>
              <a:rPr lang="en-US" dirty="0"/>
              <a:t>['SMA_30'], label='30-Day SMA')</a:t>
            </a:r>
          </a:p>
          <a:p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r>
              <a:rPr lang="en-US" dirty="0" err="1"/>
              <a:t>plt.title</a:t>
            </a:r>
            <a:r>
              <a:rPr lang="en-US" dirty="0"/>
              <a:t>('Stock Price vs 30-Day SMA')</a:t>
            </a:r>
          </a:p>
          <a:p>
            <a:r>
              <a:rPr lang="en-US" dirty="0" err="1"/>
              <a:t>plt.xlabel</a:t>
            </a:r>
            <a:r>
              <a:rPr lang="en-US" dirty="0"/>
              <a:t>('Date')</a:t>
            </a:r>
          </a:p>
          <a:p>
            <a:r>
              <a:rPr lang="en-US" dirty="0" err="1"/>
              <a:t>plt.ylabel</a:t>
            </a:r>
            <a:r>
              <a:rPr lang="en-US" dirty="0"/>
              <a:t>('Price')</a:t>
            </a:r>
          </a:p>
          <a:p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17424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INTERPRETATION: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dirty="0"/>
              <a:t> When the stock price crosses above the SMA, it is often seen as a bullish signal — suggesting that buying interest is increasing</a:t>
            </a:r>
            <a:r>
              <a:rPr lang="en-US" dirty="0" smtClean="0"/>
              <a:t>.</a:t>
            </a:r>
          </a:p>
          <a:p>
            <a:pPr algn="l"/>
            <a:r>
              <a:rPr lang="en-US" dirty="0" smtClean="0"/>
              <a:t>When </a:t>
            </a:r>
            <a:r>
              <a:rPr lang="en-US" dirty="0"/>
              <a:t>the stock price falls below the SMA, it is seen as bearish, signaling potential declines</a:t>
            </a:r>
            <a:r>
              <a:rPr lang="en-US" dirty="0" smtClean="0"/>
              <a:t>.</a:t>
            </a:r>
          </a:p>
          <a:p>
            <a:pPr algn="l"/>
            <a:r>
              <a:rPr lang="en-US" dirty="0" smtClean="0"/>
              <a:t>From </a:t>
            </a:r>
            <a:r>
              <a:rPr lang="en-US" dirty="0"/>
              <a:t>a corporate finance view, stock price trends reflect market valuation and investor confidence about the company's future earnings and stability.</a:t>
            </a:r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572000" y="1502815"/>
            <a:ext cx="4428445" cy="335951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 smtClean="0"/>
              <a:t>OUTPUT:</a:t>
            </a:r>
            <a:endParaRPr lang="en-US" b="1" dirty="0"/>
          </a:p>
        </p:txBody>
      </p:sp>
      <p:sp>
        <p:nvSpPr>
          <p:cNvPr id="2" name="AutoShape 2" descr="data:image/png;base64,iVBORw0KGgoAAAANSUhEUgAAA+UAAAIjCAYAAABlBbqXAAAAOnRFWHRTb2Z0d2FyZQBNYXRwbG90bGliIHZlcnNpb24zLjEwLjAsIGh0dHBzOi8vbWF0cGxvdGxpYi5vcmcvlHJYcgAAAAlwSFlzAAAPYQAAD2EBqD+naQABAABJREFUeJzs3Xd0VNUWwOHflPRKegIkofcuvXdpgopSRFHE8lRs74nP8hQL9i4KioKKgCKiYqFJld57rwktIb0nU+77485MZpJJJSEk7G8tVu7cem6YJLPvOWdvjaIoCkIIIYQQQgghhLjmtFXdACGEEEIIIYQQ4kYlQbkQQgghhBBCCFFFJCgXQgghhBBCCCGqiATlQgghhBBCCCFEFZGgXAghhBBCCCGEqCISlAshhBBCCCGEEFVEgnIhhBBCCCGEEKKKSFAuhBBCCCGEEEJUEQnKhRBCCCGEEEKIKiJBuRBCiBvSunXr0Gg0LF68uEqu/80336DRaDh79myVXF8IIYQQ1wcJyoUQQlwzBw4cYPTo0URFReHu7k7t2rUZOHAgn376qcN+b7zxBr/++mvVNLIUzp49i0ajsf3T6XRERkZy6623snfv3qpuXpW5ePEiEyZMoEmTJvj4+ODv70+nTp349ttvURSl0P4XLlzgzjvvxN/fH19fX0aOHMnp06dLdS3rQxXrPzc3N0JDQ+nTpw9vvPEGV65cqejbK7UrV67wxBNP0LRpUzw8PAgJCaFTp048++yzZGRk2Pa799570Wg0+Pr6kp2dXeg8J06csN3fe++95/Raf/31FxqNhoiICMxmc6XdkxBCiMqjr+oGCCGEuDFs3ryZvn37EhkZyQMPPEBYWBixsbFs3bqVjz/+mClTptj2feONNxg9ejSjRo2qugaXwrhx4xg6dCgmk4kjR44wc+ZMli1bxtatW2nbtm2xx959992MHTsWNze3a9PYayAhIYHz588zevRoIiMjMRgMrFq1invvvZdjx47xxhtv2PbNyMigb9++pKam8vzzz+Pi4sKHH35I79692bt3L4GBgaW65uOPP07Hjh0xmUxcuXKFzZs38/LLL/PBBx+waNEi+vXrV1m361RSUhI33XQTaWlpTJo0iaZNm5KYmMj+/fuZOXMm//rXv/D29rbtr9frycrK4vfff+fOO+90ONf8+fNxd3cnJyenyOvNnz+f6Ohozp49y5o1axgwYECl3ZsQQojKIUG5EEKIa2L69On4+fmxY8cO/P39HbbFx8dXTaOuUvv27ZkwYYLtdffu3bnllluYOXMmX3zxhdNjMjMz8fLyQqfTodPprlVTr4nWrVuzbt06h3WPPfYYI0aM4JNPPuG1116z3fPnn3/OiRMn2L59Ox07dgRgyJAhtGzZkvfff98hgC9Oz549GT16tMO6ffv2MWjQIG6//XYOHz5MeHj41d9cKX399dfExMSwadMmunXr5rAtLS0NV1dXh3Vubm50796dhQsXFgrKFyxYwLBhw/j555+dXiszM5PffvuNN998k7lz5zJ//nwJyoUQohqS4etCCCGuiVOnTtGiRYtCATlASEiIbVmj0ZCZmcm3335rG7p777332rbv2bOHIUOG4Ovri7e3N/3792fr1q2FzpmSksJTTz1FdHQ0bm5u1KlTh3vuuYeEhIQi25ibm8vw4cPx8/Nj8+bNZb5Ha6/smTNngPx54+vXr+eRRx4hJCSEOnXqOGwrOKd82bJl9O7dGx8fH3x9fenYsSMLFixw2Gfbtm3cfPPN+Pn54enpSe/evdm0aVOxbYuLi0Ov1/PKK68U2nbs2DE0Gg0zZswAwGAw8Morr9CoUSPc3d0JDAykR48erFq1qszfE4Do6GiysrLIy8uzrVu8eDEdO3a0BeQATZs2pX///ixatKhc17Fq06YNH330ESkpKbZ7Ajh37hyPPPIITZo0wcPDg8DAQO644w6H/4PTp0+j0Wj48MMPC5138+bNaDQaFi5cWOS1T506hU6no0uXLoW2+fr64u7uXmj9+PHjWbZsGSkpKbZ1O3bs4MSJE4wfP77Ia/3yyy9kZ2dzxx13MHbsWJYsWVJsr7oQQojrkwTlQgghromoqCh27drFwYMHi91v3rx5uLm50bNnT+bNm8e8efN46KGHADh06BA9e/Zk3759TJ06lf/973+cOXOGPn36sG3bNts5MjIy6NmzJ59++imDBg3i448/5uGHH+bo0aOcP3/e6XWzs7MZMWIEmzdv5u+//y7Uy1kap06dAig09PqRRx7h8OHDvPTSS/z3v/8t8vhvvvmGYcOGkZSUxHPPPcdbb71F27ZtWb58uW2fNWvW0KtXL9LS0nj55Zd54403SElJoV+/fmzfvr3Ic4eGhtK7d2+nAe+PP/6ITqfjjjvuAGDatGm88sor9O3blxkzZvDCCy8QGRnJ7t27S/V9yM7OJiEhgbNnz/Ltt98yd+5cunbtioeHBwBms5n9+/dz0003FTq2U6dOnDp1ivT09FJdqyijR4/Gw8ODlStX2tbt2LGDzZs3M3bsWD755BMefvhhVq9eTZ8+fcjKygKgfv36dO/enfnz5xc65/z58/Hx8WHkyJFFXjcqKgqTycS8efNK3dbbbrsNjUbDkiVLbOsWLFhA06ZNad++fZHHzZ8/n759+xIWFsbYsWNJT0/n999/L/V1hRBCXCcUIYQQ4hpYuXKlotPpFJ1Op3Tt2lWZOnWqsmLFCiUvL6/Qvl5eXsrEiRMLrR81apTi6uqqnDp1yrbu4sWLio+Pj9KrVy/bupdeekkBlCVLlhQ6h9lsVhRFUdauXasAyk8//aSkp6crvXv3VoKCgpQ9e/aUeC9nzpxRAOWVV15Rrly5oly+fFlZt26d0q5dOwVQfv75Z0VRFGXu3LkKoPTo0UMxGo0O57BuO3PmjKIoipKSkqL4+PgonTt3VrKzs5222Ww2K40aNVIGDx5sW6coipKVlaXUq1dPGThwYLHt/uKLLxRAOXDggMP65s2bK/369bO9btOmjTJs2LASvw9FefPNNxXA9q9///5KTEyMbfuVK1cUQHn11VcLHfvZZ58pgHL06NFir2H//1eUNm3aKLVq1bK9zsrKKrTPli1bFED57rvvbOus36cjR47Y1uXl5SlBQUFO35f2Ll++rAQHByuA0rRpU+Xhhx9WFixYoKSkpBTad+LEiYqXl5eiKIoyevRopX///oqiKIrJZFLCwsKUV155xfZee/fddx2OjYuLU/R6vTJ79mzbum7duikjR44stn1CCCGuP9JTLoQQ4poYOHAgW7Zs4ZZbbmHfvn288847DB48mNq1a7N06dISjzeZTKxcuZJRo0ZRv3592/rw8HDGjx/Pxo0bSUtLA+Dnn3+mTZs23HrrrYXOo9FoHF6npqYyaNAgjh49yrp160pM0Gbv5ZdfJjg4mLCwMPr06cOpU6d4++23ue222xz2e+CBB0qcP75q1SrS09P573//W2iIs7XNe/futQ1pTkxMJCEhgYSEBDIzM+nfvz8bNmwoNgP3bbfdhl6v58cff7StO3jwIIcPH2bMmDG2df7+/hw6dIgTJ06U+nthb9y4caxatYoFCxbYhl/bZxe3LjtLcme9d2fZyMvK29vbocfd2lMP6hD9xMREGjZsiL+/v8MogDvvvBN3d3eH3vIVK1aQkJDgkEPAmdDQUPbt28fDDz9McnIys2bNYvz48YSEhPDaa685zUIP6hD2devWcfnyZdasWcPly5eLHbr+ww8/oNVquf32223rxo0bx7Jly0hOTi62jUIIIa4vEpQLIYS4Zjp27MiSJUtITk5m+/btPPfcc6SnpzN69GgOHz5c7LFXrlwhKyuLJk2aFNrWrFkzzGYzsbGxgDqMvGXLlqVq05NPPsmOHTv4+++/adGiRZnu58EHH2TVqlWsXr2aXbt2ER8fz9SpUwvtV69evRLPZR36Xly7rUHyxIkTCQ4Odvj31VdfkZubS2pqapHHBwUFFZqz/eOPP6LX6x0eJLz66qukpKTQuHFjWrVqxTPPPMP+/ftLvAerqKgoBgwYwLhx45g/fz7169dnwIABtkDbGhzn5uYWOtY6J9q6z+XLlx3+lSVYz8jIwMfHx/Y6Ozubl156ibp16+Lm5kZQUBDBwcGkpKQ4fN/8/f0ZMWKEw1z++fPnU7t27VJlcw8PD2fmzJlcunSJY8eO8cknnxAcHMxLL73E119/7fSYoUOH4uPjw48//sj8+fPp2LEjDRs2LPIa33//PZ06dSIxMZGTJ09y8uRJ2rVrR15eHj/99FNpvj1CCCGuExKUCyGEuOZcXV3p2LEjb7zxBjNnzsRgMFRZIDFy5EgUReGtt94qc53nRo0aMWDAAPr160f79u2LLG9m30N7Nazte/fdd1m1apXTf/bltpwZO3Ysx48ft9VTX7RoEf379ycoKMi2T69evTh16hRz5syhZcuWfPXVV7Rv356vvvqqXO0ePXo0sbGxbNiwAYCAgADc3Ny4dOlSoX2t6yIiIgA1wLX/Z9/LXxyDwcDx48cdAtspU6Ywffp07rzzThYtWsTKlStZtWoVgYGBhf7v77nnHk6fPs3mzZtJT09n6dKljBs3Dq229B+dNBoNjRs3ZsqUKWzYsAGtVut0rjqoowZuu+02vv32W3755Zdie8lPnDjBjh072LhxI40aNbL969GjB0CR1xBCCHF9kpJoQgghqpQ12Zd9gFZwiDlAcHAwnp6eHDt2rNC2o0ePotVqqVu3LgANGjQoMaGc1ahRoxg0aBD33nsvPj4+zJw5szy3cdUaNGgAqMPJi+ohte7j6+tb7tJXo0aN4qGHHrIFt8ePH+e5554rtF9AQAD33Xcf9913HxkZGfTq1Ytp06YxefLkMl/T2rtt7Y3WarW0atWKnTt3Ftp327Zt1K9f39bDXTDje2lHMyxevJjs7GwGDx7ssG7ixIm8//77tnU5OTkOWc+tbr75ZoKDg5k/fz6dO3cmKyuLu+++u1TXdqZ+/frUqlXL6YMIq/HjxzNnzhy0Wi1jx44tcr/58+fj4uLCvHnzCk2L2LhxI5988gkxMTFERkaWu71CCCGuHekpF0IIcU2sXbvW6Xzav/76C8BhWLqXl1ehQEmn0zFo0CB+++03hxJWcXFxLFiwgB49euDr6wvA7bffzr59+/jll18KXc9ZG+655x4++eQTZs2axbPPPlue27tqgwYNwsfHhzfffLNQWStrmzt06ECDBg147733yMjIKHSOK1eulHgdf39/Bg8ezKJFi/jhhx9wdXVl1KhRDvskJiY6vPb29qZhw4ZOh5uX5vpff/01Go3GIZP46NGj2bFjh0NgfuzYMdasWWPLAg8wYMAAh3+lqTm+b98+nnzySWrVqsWjjz5qW6/T6Qr9/3/66aeYTKZC59Dr9YwbN45FixbxzTff0KpVK1q3bl3itbdt20ZmZmah9du3bycxMdHp9Aurvn378tprrzFjxgzCwsKK3G/+/Pn07NmTMWPGMHr0aId/zzzzDECxZduEEEJcX6SnXAghxDUxZcoUsrKyuPXWW2natCl5eXls3ryZH3/8kejoaO677z7bvh06dODvv//mgw8+ICIignr16tG5c2def/11Vq1aRY8ePXjkkUfQ6/V88cUX5Obm8s4779iOf+aZZ1i8eDF33HEHkyZNokOHDiQlJbF06VJmzZpFmzZtCrXvscceIy0tjRdeeAE/Pz+ef/75a/J9sfL19eXDDz9k8uTJdOzYkfHjx1OrVi327dtHVlYW3377LVqtlq+++oohQ4bQokUL7rvvPmrXrs2FCxdYu3Ytvr6+pSqJNWbMGCZMmMDnn3/O4MGDC9WOb968OX369KFDhw4EBASwc+dOFi9ezGOPPVbseadPn86mTZu4+eabiYyMJCkpiZ9//pkdO3YwZcoUhxEAjzzyCLNnz2bYsGH85z//wcXFhQ8++IDQ0FD+/e9/l/r79s8//5CTk4PJZCIxMZFNmzaxdOlS/Pz8+OWXXxyC2+HDhzNv3jz8/Pxo3rw5W7Zs4e+//y5Uws7K+rBm7dq1vP3226Vqz7x585g/fz633norHTp0wNXVlSNHjjBnzhzc3d2LfV9ptVpefPHFYs+/bds2Tp48WeT/Re3atWnfvj3z58+vsgdMQgghyqgqU78LIYS4cSxbtkyZNGmS0rRpU8Xb21txdXVVGjZsqEyZMkWJi4tz2Pfo0aNKr169FA8PDwVwKEO1e/duZfDgwYq3t7fi6emp9O3bV9m8eXOh6yUmJiqPPfaYUrt2bcXV1VWpU6eOMnHiRCUhIUFRlKJLak2dOlUBlBkzZhR5L0WVqSrIWvZsx44dRW6zlkSzWrp0qdKtWzfFw8ND8fX1VTp16qQsXLjQYZ89e/Yot912mxIYGKi4ubkpUVFRyp133qmsXr262PZYpaWl2b6333//faHtr7/+utKpUyfF399f8fDwUJo2bapMnz7dafk6eytXrlSGDx+uREREKC4uLoqPj4/SvXt3Ze7cuQ4l3KxiY2OV0aNHK76+voq3t7cyfPhw5cSJE6W6B+v/n/Wfi4uLEhwcrPTq1UuZPn26Eh8fX+iY5ORk5b777lOCgoIUb29vZfDgwcrRo0eVqKioIkudtWjRQtFqtcr58+dL1a79+/crzzzzjNK+fXslICBA0ev1Snh4uHLHHXcou3fvdtjXviRaUQq+16ZMmaIADmUBC5o2bZoCKPv27StVm4UQQlQtjaIUUZtDCCGEEOIG165dOwICAli9enVVN0UIIUQNJXPKhRBCCCGc2LlzJ3v37uWee+6p6qYIIYSowaSnXAghhBDCzsGDB9m1axfvv/8+CQkJnD59Gnd396pulhBCiBpKesqFEEIIIewsXryY++67D4PBwMKFCyUgF0IIUamkp1wIIYQQQgghhKgi0lMuhBBCCCGEEEJUEQnKhRBCCCGEEEKIKqKv6gZUNrPZzMWLF/Hx8UGj0VR1c4QQQgghhBBC1HCKopCenk5ERARabfF94TU+KL948SJ169at6mYIIYQQQgghhLjBxMbGUqdOnWL3qfFBuY+PD6B+M3x9fSvknAaDgZUrVzJo0CBcXFwq5JxCVDZ534rqRt6zojqS962obuQ9K6qj6vC+TUtLo27durZ4tDg1Pii3Dln39fWt0KDc09MTX1/f6/ZNIERB8r4V1Y28Z0V1JO9bUd3Ie1ZUR9XpfVuaKdRVmuhtw4YNjBgxgoiICDQaDb/++qvD9oyMDB577DHq1KmDh4cHzZs3Z9asWVXTWCGEEEIIIYQQooJVaVCemZlJmzZt+Oyzz5xuf/rpp1m+fDnff/89R44c4cknn+Sxxx5j6dKl17ilQgghhBBCCCFExavS4etDhgxhyJAhRW7fvHkzEydOpE+fPgA8+OCDfPHFF2zfvp1bbrnlGrVSCCGEEEIIIYSoHNf1nPJu3bqxdOlSJk2aREREBOvWreP48eN8+OGHRR6Tm5tLbm6u7XVaWhqgzjswGAwV0i7reSrqfEJcC/K+FdWNvGdFdSTvW1HdyHu29BRFwWQyYTKZUBSlqptzQzMajej1ejIyMtDrr31Iq9Fo0Ol06HS6IueMl+VnSqNcJ+8ojUbDL7/8wqhRo2zrcnNzefDBB/nuu+/Q6/VotVpmz57NPffcU+R5pk2bxiuvvFJo/YIFC/D09KyMpgshhBBCCCFqMK1Wi7+/Px4eHqVK3CVqPkVRyMrKIjU1FbPZXGh7VlYW48ePJzU1tcSE49d1T/mnn37K1q1bWbp0KVFRUWzYsIFHH32UiIgIBgwY4PSY5557jqefftr22pqKftCgQRWafX3VqlUMHDjwus/2J4SVvG9FdSPvWVEdyftWVDfyni2Z2WzmzJkz6HQ6goODcXFxkcC8iimKQmZmJl5eXlXyf6EoCgaDgStXrhASEkK9evXQah3TtVlHbJfGdRuUZ2dn8/zzz/PLL78wbNgwAFq3bs3evXt57733igzK3dzccHNzK7TexcWlwn/RVMY5hahs8r4V1Y28Z0V1JO9bUd3Ie7ZoOTk5KIpC7dq1ZeTtdcJsNmMwGPDw8CgUDF9Lrq6unDt3DkVRCv38lOXnqUqzrxfHOge84DdZp9M5HR4ghBBCCCGEEJWlKoM/cX2qqPdElfaUZ2RkcPLkSdvrM2fOsHfvXgICAoiMjKR3794888wzeHh4EBUVxfr16/nuu+/44IMPqrDVQgghhBBCCCFExajSoHznzp307dvX9to6F3zixIl88803/PDDDzz33HPcddddJCUlERUVxfTp03n44YerqslCCCGEEEIIIUSFqdKgvE+fPsWWEwgLC2Pu3LnXsEVCCCGEEEIIcWNxVgmrOujXrx9t27blo48+quqmXBWZGCGEEEIIIYQQNdTly5eZMmUK9evXx83Njbp16zJixAhWr15d1U2zmTZtGhqNBo1Gg16vJzo6mqeeeoqMjIxij1u8eDGvvfbaNWpl5blus68LIYQQQgghhCi/s2fP0r17d/z9/Xn33Xdp1aoVBoOBFStW8Oijj3L06NGqbqJNixYt+PvvvzEajWzatIlJkyaRlZXFF198UWjfvLw8AAICAmpEAr7qfwdCCCGEEEIIcQ0pikJWnrFK/hU3/begRx55BI1Gw/bt27n99ttp3LgxLVq04Omnn2br1q1FHnfgwAH69euHh4cHgYGBPPjggw691uvWraNTp054eXnh7+9P9+7dOXfunG37b7/9Rvv27XF3d6d+/fq88sorGI3GYtuq1+sJCwujTp06jBkzhrvuuoulS5cCak9627Zt+eqrr6hXr56tNF2/fv148sknbefIzc3l2WefpW7duri5udGwYUO+/vpr2/aDBw8yZMgQvL29CQ0N5e677yYhIaHU38/KIj3lQgghhBBCCFEG2QYTzV9aUSXXPvzqYDxdSw7jkpKSWL58OdOnT8fLy6vQdn9/f6fHZWZmMnjwYLp27cqOHTuIj49n8uTJPPbYY3zzzTcYjUZGjRrFAw88wMKFC8nLy2P79u1oNBoA/vnnH+655x4++eQTevbsyalTp3jwwQcBePnll0t9nx4eHrYecYCTJ0/y888/s2TJEtu1CrrnnnvYsmULn3zyCW3atOHMmTO2oDslJYV+/foxefJkPvzwQ7Kzs3n22We58847WbNmTanbVRkkKBdCCCGEEEKIGubkyZMoikLTpk3LdNyCBQvIycnhu+++swXzM2bMYMSIEbz99tu4uLiQmprK8OHDadCgAQDNmjWzHf/KK6/w3//+l4kTJwJQv359XnvtNaZOnVrqoHzXrl0sWLCAfv362dbl5eXx3XffERwcjNlsJi0tzeGY48ePs2jRIlatWsWAAQNs17aaMWMG7dq144033rCtmzNnDnXr1uX48eM0bty4LN+mCiVBuRBCCCGEqLESMnJJzTbQINi7qpsiahAPFx2HXx1cZdcujbIMc7d35MgR2rRp49C73r17d8xmM8eOHaNXr17ce++9DB48mIEDBzJgwADuvPNOwsPDAdi3bx+bNm1i+vTptuNNJhM5OTlkZWXZhp4XdODAAby9vTGZTOTl5TFs2DBmzJhh2x4VFUVwcHCR7d67dy86nY7evXs73b5v3z7Wrl2Lt3fh3wWnTp2SoFwIIYQQQoiKlmc00/XN1SgKbP5vP0J83au6SaKG0Gg0pRpCXpUaNWqERqOplGRuc+fO5fHHH2f58uX8+OOPvPjii6xatYouXbqQkZHBK6+8wm233VboOHf3on8GmzRpwtKlS9Hr9URERODq6uqw3dkQfHseHh7Fbs/IyLD19hdkfaBQVSTRmxBCCCGEcGrmulOMnLGR1CxDVTelXJbuu4jBpGA0K5xLyqrq5ghxTQUEBDB48GA+++wzMjMzC21PSUlxelyzZs3Yt2+fwzGbNm1Cq9XSpEkT27p27drx3HPPsXnzZlq2bMmCBQsAaN++PceOHaNhw4aF/hWXKd3V1ZWGDRsSHR1dKCAvjVatWmE2m1m/fr3T7e3bt+fQoUNER0cXaldJAX9lk6BcCCGEEEI49fbyo+w7n8q8rWeruillZjYrzFp/yvY6K89U5L7bTifyn5/2ccuMjWw4fuVaNE+Ia+Kzzz7DZDLRqVMnfv75Z06cOMGRI0f45JNP6Nq1q9Nj7rrrLtzd3Zk4cSIHDx5k7dq1TJkyhbvvvpvQ0FDOnDnDc889x5YtWzh37hwrV67kxIkTtnnlL730Et999x2vvPIKhw4d4siRI/zwww+8+OKLlXqv0dHRTJw4kUmTJvHrr79y5swZ1q1bx6JFiwB49NFHSUpKYty4cezYsYNTp06xYsUK7rvvPkymon8/XAsSlAshhBBCiEJM5vz5qEmZ1a+nfMvpRE7G55dwysgpXI4pMSOXV38/zJgvt7J413n2n0/lnjnbScjIvZZNFaLS1K9fn927d9O3b1/+/e9/07JlSwYOHMjq1auZOXOm02M8PT1ZsWIFSUlJdOzYkdGjR9O/f3/b/G5PT0+OHj1qK7H24IMP8uijj/LQQw8BMHjwYP744w9WrlxJx44d6dKlCx9++CFRUVGVfr8zZ85k9OjRPPLIIzRt2pQHHnjA1uMfERHBpk2bMJlMDBo0iFatWvHkk0/i7+9f5bXOr++JEEIIIYQQokrYB6Y5xqrtRSqPvbEpDq8zcx2D8hyDiTu/2MKpK4WH9Z5NyCTI2832OjEjl3NJWbSPrFUpbRWiMoWHhzNjxgyHpGkFFUwK16pVqyLLhIWGhvLLL78Ue83BgwczeHDpE+FNmzaNadOmlXn7mjVrHAJqd3d3PvjgAz744AOn52nUqBFLliwpdbuuFekpF0IIIYQQhVxMybYtH7qYVsye16djl9MdXmcUCMrfXn7UFpBHBnjy1+M9bdsuWO49x2Bi86kEBn64gds+38z2M0mV3GohxI1IesqFEEIIIUQh55Pzg/J9sSks2hnLnTfVrcIWlc3Ry+qDhFBfN+LSch2C8s0nE5i76SwA/xnUmHu718PbTc9t7WqzZM8FTsRlsOLQZZ6Zv4mu7Ge85gINXS7g/essjE2aYwhsgs7NG1Iv4OruCcFNIKIduPtV6D2YzQoGsxk3felKYAkhqicJyoUQQgghRCFnExyHdb/460Gah/vSsnbFBp6VIddo4rSlF/ymqAD+PHDJYfj6FxtOAzCuUySP9WtkWx8dpGZgnrH2JH20e1npMpswTXL+iVOB7Rucf4DW6KBeT+j7ItTtWCH3cPdX2zl6OY21/+lDoN1weiFEzSJBuRBCCCHEDSg9x4CXqx6tVlNoW1JmHrtj1GD06YGN2Rubwpqj8czZeIYPxrS9xi0tu1PxmRjNCr7uehqGeAP5w9eNJjM7z6rD0O/u4ph46p4ukei3fU6fnNU0154DIM8rApcGvZh73JXYdIUoTRx9tXvJwo0jShS9QnIIMsZBaiycXgeXD8Lju6+613zuprNst7Rzb2wK/ZuFXtX5hBDXLwnKhRBCCCFuMMcupzP0k3/o3zSEWRM6OATme2NTuGv2VjItJcQahXhTL8iLNUfjiU2uHrW+j8WpQ9ebhvni7aZ+3E3PMRKblMVby46SmWfCx11PkzCf/IMUBf/N03kkbw5owaRoWOZ5C8OfmAWunrhvi2HuLwcAmGZ3LZ8EPbe2r81/bnLB95cJkHAc1r4JQ94qd/szco18YVfObf3xKxKUC1GDSaI3IYQQQogbzKaTCZjMCisPx/HtlrO29dl5Jv71/S4y80xEB3oyqXs9+jYNIcLfHYAdZ5PZfDKhilpdekcvqUnemob7ULuWBwBL912k73vr+PPAJQA6Rgegsz6MuLALfroXNn0MwG+1JtIp93OSe78Grp4AjO1Yl0/HtWNKv4YO10rPNfLdlnO8vDEbbn5TXbltFhz5o9zt/3DVcZKz8svQfbflHBtPXP/fdyFE+UhQLoQQQghxgzl5Jb9+95vLjtoyle88l8Sl1ByCfdz4fUoPXhrRHHcXHeF+Hrb9x3+17Zq3t6yOWu6nSZgPLSPyh5Eb7Wqvd60fqC7smQ+z+8HhXwENDHmXIY9+xCeTBzGuY35iO61Ww4g2ETzevxFfT7yJZU/0pGejINv2vw5cgoYDoP1EQIEf71IDfVPZarwfupjK1xvPAHBzizDb+ul/HSlUtkoIUTNIUC6EEEIIcYM5Fa8G5f6eLuQZzcz+R018tuucOo+8e4NAfNxdbPuH+DgmGUu19uKmxMCJv2HvQki7eA1aXjrWzOtNw3ypG+BBmK/a09+mjh+1/T1oU8ePcZ0j4fwu+ONJ9aBmt8CDa6Hzg7jqtXRvGIReV/ijsotOS/9moTQL96VxaP7w91yjWa2NPuRt6PSQmvjt0C/w9zQAsvKMjPliC5+tPVlku+dvO8ewTzYC6rSBz+9qz8dj2wJw5FIa9Z77i8PVsDydEKJ4MqdcCCGEEKKcFEVBoymcKO16dyUjF4ABzUJZvOs8CRm5GExmW1DeIaqWw/56nZb372jDv3/aB0DmxSP4bX8Dji/L36lOR5j897W5gWKkZOURl6beX5MwHzQaDT8+1IUjl9Lo2zQEV50WxZCL9sB8WPsGmPKgyTC441vQlq2/KsDL1eH1N5vO8NHYdjD0HTUT+48TYMsMUMysNHVj+xnYdiaJR/s2LHSuN/86YssKD9C5fgBarYaRbWuzJyaFbzafBeDFXw+w5JHuZfyuCCGuZ9JTLoQQQghRDtP/PEzXN9cQn55T1U0pM2tPd21/dVj6umNXaPTCMv6xzFvuEBVQ6JjbO9ShlU8GH7p8RtjCAZaAXAMhLUDrAud3wMW91+oWnDp8MY175+4AoF6Qly3JW1SgFze3DMdNr0NjyEY7/zb4/XHIuAzBTeHWWWUOyAECCwTlZvvR5c1GQM//qMtbP2fUjgn84foCzTVnC53neFy6Q0AO4KrLr01+f496uGBkgm4V9yW8D789CuvfgZzUMrdZCHH9kaBcCCGEEKIcZv9zhstpOSzcFlvVTSkTRVFIzbYE5bU8Cm0P93N3zEpuZcjhQ9Nb3KrbhNaUy05zE5b3/QMe2QzNb1H32TW3Mpvu4EJKNuNnb+Xvw3EAHLyQytBP/mFvbAp6rYaXRjR3cg/Z6lzvc5vAzRcGvgb3rwR333K1wdvdcdDpyfgMxx36vQh3zuNK3cFkKm600J7jD9cXUGb3d0gEt8pyD32bBPNw7wa46rWM7WSZz56VRN1tr7LX7z+87jKXEebVsOd7WDsdvh8NxtxytV3cGGbOnEnr1q3x9fXF19eXrl27smzZMod9cnJyePTRRwkMDMTb25vbb7+duLi4Ys+7bt06NBoNGo0GrVaLn58f7dq1Y+rUqVy6dKkyb8nm22+/pV27dnh7e+Pv70+7du148803bdunTZuGRqPh5ptvLnTsu+++i0ajoU+fPoW2nT9/HldXV1q2bFmZzXcgQbkQQgghRBnlGEy25Z3nkqqwJWWXmWeyJTyr4+8YlM+a0IFfH+2en5Xc3j/v0dB8mkTFh1tzX2F03ks8vCyVhdtjoMN96j4HFkPc4cq+BQBe/f0Qm08lMvm7nQDM23LOtu2DMW3p2yTE8YCts+CjVnBqDbh4wl2LofvjV1VPXF/g+3TqSgYm++5yjYb4OoNY2fJdeud+xF+mTmg1CpoLO9WHAxveA5PBFpQPbB7Gszc34cirN6vz1XNS4btbYNtMvHLjSVD8+NQ4iottHgdXHzi/Hb4bCcdXgtmEEAXVqVOHt956i127drFz50769evHyJEjOXTokG2fp556it9//52ffvqJ9evXc/HiRW677bZSnf/YsWNcvHiRHTt28Oyzz/L333/TsmVLDhw4UFm3BMCcOXN4/vnneeyxx9i7dy+bNm1i6tSpZGQ4PhgLDw9n7dq1nD9/vtDxkZGRTs/9zTffcOedd5KWlsa2bdcmsaUE5UIIIYQQZXQ2MdO2/M+JBI5cqj7Jt1Ky8gBw1WsJ9M5P4Oam1zK4RSihlqRoDlIvwJbPAHjBcD97lEaAGpA+t+QAM06HQlhryMuA2X3h2LLC56hg55OzHV7vO58CwBd3d+CWNhGOO2+fDcufhcwr4Fsbxv8IkZ2vug1Nw/J72N30WnKNZmKT8mu5Z+YaGfzRBl745SAJ+PGI4Uk658wgvc396g5rXiNnehT3Xn6daM0l+jcLQaPRqA9FTEZYOB4uHwCvYLhzHq81WsT7xjt56PxglLHfq4F5zBZYcAcsffyq70eUgaJAXmbV/CtDFv4RI0YwdOhQGjVqROPGjZk+fTre3t5s3boVgNTUVL7++ms++OAD+vXrR4cOHZg7dy6bN2+27VOckJAQwsLCaNy4MWPHjmXTpk0EBwfzr3/9y7bPjh07GDhwIEFBQfj5+dG7d292795t2z5p0iSGDx/ucF6DwUBISAhff/210+v+/vvvjBo1ivvvv5+GDRvSokULxo0bx/Tp0wu1b9CgQXz77be2dZs3byYhIYFhw4YVOq+iKMydO5e7776b8ePHF3n9iiaJ3oQQQgghymB3TDL/+n6Xw7plBy/TLLx8Q6CvtRTLfHJ/Dxe83PLnLdeu5eE8ad3FvfDDXWDI4oxHC5bndARg5l3t2Xkuma83nuG9VSfoM2kuLbc/Cyf/hl8fgcd2gFdQ4fNVEK1dW88nZ3HCMnS8Ve0CPd9nN8Kyqepyr6nQeyroXKgI0UFe/PhgFwK9XXl84V4OX0rjRHwG0UFeAOw/n+pQbxwgjgCGnxxBV4OGqfofCDBnMEq3meG6beh/WqQGXBoNxB+B3DTQu8OEnyG8DY8HZ7D00HoOXEjllHdvGj64Tq2JvuMr2Ps9tL8bIrtUyL2JEhiy4I2IkverDM9fBFevMh9mMpn46aefyMzMpGvXrgDs2rULg8HAgAEDbPs1bdqUyMhItmzZQpcuZXs/eXh48PDDD/PUU08RHx9PSEgI6enpTJw4kU8//RRFUXj//fcZOnQoJ06cwMfHh8mTJ9OrVy8uXbpEeHg4AH/88QdZWVmMGTPG6XXCwsJYt24d586do169esW2adKkSUydOpUXXngBUHvJ77rrLqf7rl27lqysLAYMGEDt2rXp1q0bH374IV5eZf9+l4X0lAshhBBClMH0P4/Ysntb7YlJrqLWlJ11Prmfh4stERpAqI+THnJjHvwwHtLOQ2BDlkb/D9DQJNSHwS3C+N/w5nRroNb7PpzqBmMXQmhLyE7KD4Qrif3I8VGfbcZkVgjwciXcz+4+Lh+AxfeDYobWY6Hv8xUWkFt1rh9IwxAfGoV6A3AiPt227cCFFKfHnEvM4gdTP27KncVE7RusMbVFjwlit6lD0mO3qQG5Ry0Y8QmEtwGgQbA33RuoDzrWHYuHoIYw7D01GAdY9iyYzRV6f6L6O3DgAN7e3ri5ufHwww/zyy+/0Ly5mnPh8uXLuLq64u/v73BMaGgoly9fLtf1mjZtCsDZs2cB6NevHxMmTKBp06Y0a9aML7/8kqysLNavXw9At27daNKkCfPmzbOdY+7cudxxxx14e3s7vcZLL72En58f9evXp0mTJtx7770sWrQIs5P3//Dhw0lLS2PDhg1kZmayaNEiJk2a5PS8X3/9NWPHjkWn09GyZUvq16/PTz/9VK7vQ1lIT7kQQgghRCnlGEzstwyTXv9MHxIy8rh95mZ2nE0i12iqFr0dFyzDvsP9PfCyC8qDC9QiB+Dwr5B2AbxD4YE19Igz8Xf8YV4c1gytJSquY0kWdzktB/SucMun8FV/OPgzRPeEDveqPb8VYNPJBDacuMLwVhFcSs3Pep9gKfHWIsI3v7f/ynGYc7M6pD6oiVqmrBLL1zUKUYOHk3H5c1r3nS8+O/pzQ1twT7ehJGfeD1nHIekUGCz3FdgAItqDzvHjep8mwWw8mcD641eY3LO+urLf/+DgL3BpL2z/Arr8C1HJXDzVHuuqunYZNGnShL1795KamsrixYuZOHEi69evtwXmJWnRogXnzqk5G3r27FkoUVxBimV4vfVnMS4ujhdffJF169YRHx+PyWQiKyuLmJgY2zGTJ0/myy+/ZOrUqcTFxbFs2TLWrFlT5DXCw8NZuXIlMTExbNy4kc2bNzNx4kS++uorli9fjtaumoKLiwsTJkxg7ty5nD59msaNG9O6detC50xJSWHJkiVs3LjRtm7ChAl8/fXX3HvvvSV/o66CBOVCCCGEEKV0PC4dg0kh0MuVyABPIgM8CfJ2JSEjj70xKbSve/0PYY+xzHmODPDARZf/wbVHQydDzbd/qX7t9AC4+9EhCn6f0sNhlzDLHPTLaZZgsnZ7aD9RzcT+x5PqcPYx35c7IE7PMbD6SDwGk5lnFu8H4Iv1p53u2z7Srr76+rfUgLxuZ3UO+VUkdCuNBsFqUH7GLt+A9QHOt5M6EeLjxp6YFH7YEcPLI5o7lJ0L89OBX2sILxwoFNSnSTCv/3mEbaeTyMoz4umqB+8Q6DYF1r0By/+rTjkY+VmhgF5UII2mXEPIq4KrqysNGzYEoEOHDuzYsYOPP/6YL774grCwMPLy8khJSXHoLY+LiyMsLAyAv/76C4NBHWHj4VG4YkNBR44cASA6OhqAiRMnkpiYyMcff0xUVBRubm507dqVvLw82zH33HMP//3vf9myZQubN2+mXr169OzZs8RrtWzZktatW/PII4/w8MMP07NnT9avX0/fvn0d9ps0aRKdO3fm4MGDRfaSL1iwgJycHDp3zs83oSgKZrOZ48eP07hx4xLbU17ykyqEEEIIUUqXLb2zdQI8bb1AXRsE8fu+i2w+lXjdBuVpOQZ+3B7L6YRMYpLUoDEyQO1te3pgY05fyWBUu9qOByWfVWuPa7RqkF2EUMtw8Ti7nmuGvA0+YfDPB3D0D7XHvcWt5Wr7G38dYeH2wmXnGoV489ld7Rn04Qbb6/t7WuaWxh+Bg0vU5aHvqcPAK5mfpzosPiPHCMCZhExik7LRaqBtXX/8PFxoFu7L+M7OMz6XVoNgb2r7e3AhJZutpxPp1zRU3dDz32A2wj/vw/4f1ID8lhmVOjpAVE9ms5ncXHV0SYcOHXBxcWH16tXcfvvtgJpRPSYmxjbvPCoqqtTnzs7O5ssvv6RXr14EBwcDsGnTJj7//HOGDh0KQGxsLAkJCQ7HBQYGMmrUKObOncuWLVu47777ynxf1p7/zMzMQttatGhBixYt2L9/P+PHj3d6/Ndff82///3vQr3ijzzyCHPmzOGtt94qc5tKS4JyIYQQQohSiktXP8iG2g317tYgkN/3XWT98St0jPLDeB1O6f187SlmrT/lsM6aOfzx/o2cH3ToF/VrdA+1J7YIgV6uAKRk2yU007tBn/+qScvWvwWrXoLGQ8DFybz1EtgH5HfeVIdFO9XSRje3DKNxqA/jO0dyLjGTT8e1x9dNr/YS//UMoECzEaXqfa4IXq7qx+r0HCPpOQaWHVRrNfdsFIyfR8XNY9doNLSN9OdCSjanr2TSr6llg04P/V6AiHZqubU934NHAAyYBlpdcacUNdhzzz3HkCFDiIyMJD09nQULFrBu3TpWrFgBgJ+fH/fffz9PP/00AQEB+Pr6MmXKFLp27VqqJG/x8fHk5OSQnp7Orl27eOedd0hISGDJkiW2fRo1asS8efO46aabSEtL45lnnnHa4z558mSGDx+OyWRi4sSiHwSCGigHBgZy8803ExkZyaVLl3j99dcJDg62PUwoaM2aNRgMhkLz5wH27t3L7t27mT9/vm1OvNW4ceN49dVXef3119HrKyd8rg5Tn4QQQgghrgvxliHa9mXDrIm39samMGHOTtZcvP56Js8lOvYcje1Yl56NismMfvJv2PC+utyi+HrFesvcTYf63FbdHwefCEiJgTWvgTG38D7FUBTF1tGr0cBro1ry4Zg2DGgWyuQe6nzqN25txfzJXQhw18Kv/4Ive6vJ0vQe0PfFMl3valgz2V9Oy6HbW2tYd+wKUGBIfQUJsTwUupLh5PvZdCgM/1Bd3vyJWsc8p/i57aLmio+P55577qFJkyb079+fHTt2sGLFCgYOHGjb58MPP2T48OHcfvvt9OrVi7CwMIegujhNmjQhIiKCDh068NZbbzFgwAAOHjzoMF/966+/Jjk5mfbt23P33Xfz+OOPExJS+EHfgAEDCA8PZ/DgwUREFJ/Z3novY8aMoXHjxtx+++24u7uzevVqAgMDnR7j5eXlNCC3trF58+aFAnKAW2+9lfj4eP76669i23Q1pKdcCCGEEKKU4mxBeX5Ped0AD/w9XWylxg4lX399HkmZ+XM3J3WvxwvDmjkvfwaQdBoWjAWzQU3U1mZcsefW6dTzOA3KXb1gwMvwy0OwZYaa/O2WGdBoQOF9nTifnG0ryXzolcG46XXc2q4Ot7ar47hjdgr8/jgc/g00Omg6TJ1jHVL4A3ZlsU+al55jZPuZJADHbPAVJMSSKf9KehEPOTrcCzo3+PPfcPYf2PAeDHqtwtshrn+lqbPt7u7OZ599xmeffVbq8/bp08eW0K0k7dq1Y8eOHQ7rRo8eXWi/zMxMkpOTuf/++0s85+23387AgQPx9fV1SOpmb9q0aUybNq3Ic3z00Ue25U8//bTI/cLCwjCZTCW26WpIUC6EEEIIUUqJGWpwG+idH5RrNBrCfN1tQXlMhhqUBbhUbOmtq2ENyudP7kx3Zwnd7O1dqAbkkV1hwhI1o3ox9JYs7EZnQTlA6zGQm67OL0+/CL89Ak/sA5eSE0YdupgGqFnVPV2dfGzNTlFroh9fppY907nCHd+qvcXXmNP2AWGVEJRbM+UXGZQDtB2nzqVfOAa2z4auj4FPaIW3RYirZTabSUhI4P3338ff359bbrmlqpt0zV1/j3KFEEIIIa5T9jW+7dmXEzOjYce566tueXKWGpQHeBUfYKMosP9Hdfmm+0sMyAF0WmtPeRGT6TUaNXv743vAry5kxKnznVET532y+gQPfreTH3fEWM6jsOZoHLvOJfP1RjXLerNwJwn0TAZYdA8c+1MNyIMaw7gfqiQgB/B0dT5vu3J6ytX3W3xaCdMBGg+GOh3BmK0mgBPiOhQTE0NoaCgLFixgzpw5lTZv+3p2492xEEIIIUQ5peU4D8rt55gDbD2dxOCWxc+JvFbMZoVkSy9+iUF5zFZIOQeu3uoQ8FKwzik3mkoYyuriDt2fgL/+Axs/JDeqN7fPPc+FFLVu+vazSYzpGMmqw3E8/P0u22Ferjru6Vog+/OZDbDlMzizHly84J7foG7HUrW3stiXl2sc6k24nwfpOQaigyq+bFYtT/X/MdU+uZ4zGg30fQHmjVJL1EX3gOY3Xi+kuL5FR0eXeih8TSU95UIIIYQQpVRUT7n9HHOALaeTrlmbSnL4Uhoms4JOq8Hfs4Qh9ft/UL82uwVcPUt1fl1Jw9fttZsAvrUh7QK6Wd1ol7bGtikly4DBZOZkfLptXaMQbxb/qxut6/jnn2Pjh/DtCDi+HNDAbV9UeUBeUG1/D76d1Iklj3R3CNYrio+7NdN7CUE5QP0+0GgQmPJg0d3q/HILo8nMYwv3sixWQgIhqpL8BAohhBBClJI1KPd1L76n/OjldBKdZcauAu+tPAbA0FbhuOmLKY2VfA4OWsqgtRlb6vPrtcUkeivIxQMm/k5OVF/0ioG3Xb5kRN0cLKcgOTOPi5Z654/3a8iqp3urQ9cVBc5tht8ehb+nqTu3HgMPrFHLnl1nrInYKos1KM/MM5X8fddoYMz36igFwLzhPWJizgKw/0IqKw7Hs/y8loMX0iqzyTXCjd6bKwqrqPeEBOVCCCGEEKWQazSRY1DnTRfsKbcPwnQa9UPa1iruLc/KMzJl4R7WHbuCXqvh3wMbF71z8lmYOwRyUyG4qZp1vZTye8pLV6D9g11GOp97iG3mpnhpcnkz9w0GeRzDjTwSM/O4ZBnOHu5vlwhu2bNq+yxz0en9LNz2JdRuX+p2Xgu+lmB5WOvwSr2Oj91DoYwcY6Ht87acpcVLy9lyKlFdoXeDAa+g1L4JrTGb/bMf5vt/jjgkivtk7clKbXN15mJJ2piVlVXFLRHXG+t7wuUqE3vKnHIhhBBCiFJIy1aDH40mv6fSyqFEmheczYBzSY61wa+1N/46wu/7LgJwS5uI4uc2r3sL0i5AUBO4+xcoosSQM/riSqIVkJ1n4vN1pzCaFZ51fYLl7i/jnXaSWbzCEde6bDgQTWyyJSi3JkjbuwC2fwFo1PJsbcdBvV6lbt+1tPzJXpy6kkHPRsGVeh1XvRY3vZZco5m0HAN+dtMScgwm/vfbIQBe+u0gq57urW7QaDjfYSp1L9zJcN0W0v7uyxzNKEAdabD2WAKHL6bRPMIXs1khLceAv2fJif5uBDqdDn9/f+Lj4wHw9PQsuqSguCbMZjN5eXnk5OQUWRKtMimKQlZWFvHx8fj7+6PTFTMKqRQkKBdCCCGEKIXUbDWDuY+bHq3W8QO5/fB1fzcFMjQlJ+GqZD/uiLUt1w8uJiDPTVfrewOMnAG+ZUtQV2JJNDv7z6dgNCuE+Lix6r9jcUlsD+vfIuPwKpppYzn9z1ROGp5Aq9HQKtRdLc/2x1PqwX2egz7Plqlt11qEvwcR/iWXeqsIPu4u5Gbkkl6gp/z0lfyHQecSs1AUxRZAbjE352PDQzzh8it1NXE8yUK2aeuzxdwCgN0xyTSP8GXc7K1sO5PE/4Y35/4e9a7J/VzvwsLCAGyBuahaiqKQnZ2Nh4dHlT4g8ff3t703roYE5UIIIYQQpZCUWXQG8yC7uuUBlsW0qwjKU7Ly+H3fRUa0iSh3b6XBLhu6ffsKOfQrGLIgsKFaPquMdJZeKlMR2ddzDCZ+2hlLnQBPDlvqjneIqqUmQAtpCnd8w9ffzOdfZ6YwTLedBOUbtoffReCiW+DiHvUkjQZBr2fK3LaazNddT0JGLvHpOaxdG8/A5qE0DvUhNjl/iHWeyUxCRp6tZF9MYhaLTb3xuOkuWux+hbG61byo/55b8l7HhI5ziZmkZhvYdkadevHZ2pNM6BJZfC6CG4RGoyE8PJyQkBAMhqp94CbAYDCwYcMGevXqddVDx8vLxcXlqnvIrSQoF0IIIYQohaRMdf6ts6DcVa/lt0e7k5NnYNGqLdys3c59J96Gn5tAh3shqps67r2Unl60jzVH41l9NJ5v7ut01W0vMihXFNgxW11uN6FMbbQqrqc8O8/E0E/+4UyC41D+DlG1HF6bIm7irRPjecllHhP1q5h4ZZW6wd0Puk2BLo+WaUj9jcA6heLeuTsA+OfEFX54sCvnLcP/rS6kZNuC8rg0NYlemL8X37hPYEjeFlpozzHP/X0+zRvGucRQTsTlZ79Pysxj1rrTPDGg0bW4pWpBp9NVWCAmyk+n02E0GnF3d6+yoLwiSVAuhBBCCFEKiZnq8PUAL+cBbpu6/hgyU0jN+p1BrosgGziwDw4sgk4PwtB3S32tNUfVIbLrjl0pV1uNJseka37OSqEpCuz7AS7tA50btLunXNcqbk75S78dLBSQA3SuF+jwum6AJ8+YbiYNT+7Sraad1pJ0bPiH0PL2crWrpmsY4sO+86m219bEghcKBOUXU7JpW9cfgMuWoDzExw29bzDPXZrMDJdP6abZSzfXvXx6/jKHLj6unl9znvt0K2ix8QLK7gQ03qEw5K3rdj6/ENWZBOVCCCGEECU4ejmN5QcvAxDopKccgJit6BfcyaAcNVDa6tqFLi0bw+7vYPts6HAfhDav1HbGJmXx7M/76dbAMegt1GZDDvx8Pxz9Q33d7i7wcjymtIrLvv7PiQTb9Vf/uze/77tILS9XWtXxc9hvZNvafLnhNIvje7POfSA7x2rAmANNh5WrTTeCh3vX5+fd522vG4Z4A4Vrl286mcCCbTH4ebrYpg+E+bnj5arnL3MXRuSF8UHwXzRJ28gjuXNYs+YkH7sYGK7fgU6xnCsLyEqA70ZCvxehx9PlGlUhhHBOgnIhhBBCiGLEJGZxy4xN5BnVoDPAu4igfNVLaHJSSdGH8HH2YNZ7jmLNLQMgOwWOLIV1b8KYeZXa1ru/3sbZxCw2W0thAa+NbEH9YG/HHXd9owbkWhfo8RT0+k+5r6m3DCs3K2A2K2g08PwvBzmfnMXlNLUG+bpn+uDj7sLdXaOdnsNVr2XV073ZdS6ZyABP8ClmDrwAoFGoDw/3bsCs9acAbIkFs/JMAHi66sjKMzF/W0yhY8N83akb4Mm2M0kcUqI5Uu8BTh7xYVjeMgYa14MOUOBcQHfeu9wOl6B6vF9vJ5p9C2H1qxDaEhoPvmb3KkRNJ5NzhBBCCCGK8d7KY7aAHKBhwQAX4PIBiN2GotXzW9SLzDUNITnHckzf5wGNGpivegnOboSc1MLnKEJmbuE61EU5m+hYR7l+sFfhQNhsVoNygEGvQ78X1DrW5aSzy0RvNCtcSMlm4fYYWy9594ZBDnW1i9MhqpZt/rMo2X+HNOWfqX2B/MSCmXnq+6VRiJP3KVDL04UGwd5M7lmPMTfV5ZeHu6DRaljf8FkeznuSj4y3Mc/nfhj/E76TfmGltgdL4sNZ1Xga3DRJPcne+ZV+b0LcSCQoF0IIIYQo4NnF++n25mqmLT3EUkut70UPdWXpY925rX3twgfsnAuA0mQYJld/AHIMlqA8pBm0v1td3vQxfDMM3oqEGZ3Ucl/plwudzj7QXbi9cE+nM85KsAU4y9x+7C+4cgRcfaDN2FKduzh6u7aazAon4zMctv9nUJOrvoYomjVfQK7RTI7BRFau2lPeMMSn0L6tavvxxq2t0Go1NA3z5e3RrWlZ2xeA5hG+LDd34iPjaOj2ODQeRC1vN4a1CgfgwXm72B9mmd9/5A9IKd37UghRMgnKhRBCCCHsnE3I5MedsVxMzeGbzWdt6zvVC6B1HX/HmriKos4Xt/Q8m9tPxMXy6SrbYEJRLMnPhrwDA6ZBk6HgV1ddl3AMds6BrwdC2iWHNni65Gd3PnIpndI4fSWj0LqoQLv65GYTrHoZFt+nvu54P3j4l+rcxXHsKTc7BOWNQ71pU/fqryGK5u2qt03vXnU4ztZT3ji0cE/571N6MMQSZBc0sHkoLSJ86RBVi1va5j94ameXKf+VHVo10Ztigq2zKvAuhLixyZxyIYQQQgg7/5xMKLSuyCHVa6fDBktW9bYTUKJ64nZgmW1zjsGMh6sOXDzUudtWmQkQswVWvgjJZ2HerTD+B6gVjaIoZBtMtl1zjfnLxUnJcuwpb1PHj/8Mbqy+UBRY8QJsm6m+rtfbsT1Xwb6n3GhS+POA+oDB3UXLwge6VMg1RNG0Wg0+bnrScoxMWbgHV736VKhxaOGe8uKE+Ljx5+M9C623Hwav02qg2xNwZoP6IKpuR2g2UsrVCXGV5CdICCGEEMLOgfMpDq/b1PHjq3tuKryjyQBbPlOX+78MI2eARmPrKQccgmsHXkHQbATc8xv4hKvDyT/vCkd+Jz4916Hmd2JGXqnanWGZe14/yIv5kzvz66PdCffzUOeQr/pffkA+aqZ63QroJQfHnvIF22PYE5OCi07Dhmf6ElhUfXRRoTxc80dWWPMfFHyQ1LacIxY6RQfQxpIt/1JqNjTsD3U6giETfroXVk8r13mFEPkkKBdCCCGEsGM/XPyVW1rw22M9nA/BvrQPDFngUQu6P2krEaXVYOutdBaUH72cxr++36XW764VDZOWQ1QP9Vx/PcPBGMee+sTM3FK125oQrl6QF90bBqnD7OMOw+ddYPOn6k5D3oG24yu0nJVGo7EF5u+uOAbAvwc1IcTXvcKuIYqndfL/6WkXqAPMn9y5fOfWavhobDsAkjMN6ntnwhLoacnYv+UzSDhZrnMLIVQSlAshhBBC2IlNVjOYr3iyFxO7RRe947lN6tfIroWG73pYusuz8woH5ffN3cGyg5eZsnC3uqJWNNz9C3gFQ/olMg+qtcNbRKgJuM4mZDH52x28vfwoOUX0vMel5XAhJRsALzfL7MTcDPhxgjp33d0PBr8JnR8q6fbLxb63vHO9AB7oWb9SriOccxaUe7npmdyjHq46LQse6Jz/vigHPw81mVxGrhGDyQzuvtD/f9BoMJiN6kgMIUS5SVAuhBBCCGGRnmOwzc2uXcuj+J3PbVa/RnUvtMndkqitYBCdYzBxKTUHgIMX0ki1zgPXu0L7ewBoePYHAIa1DsfXXU+eyczfR+KZue6UrSa1vcSMXAa8v55P16i9ld7uenUO+V/PQNIp8K0NU3ZD10dK8R0oH/uQ8LVRLR2CdFE1PF11vDCsGbv+N4BuDYKu6ly+7vkBfZp9lv9Br4FGp2b0l95yIcpNgnIhhBBCCIvzyWpvcy1PF7yL61k0m+DcFnU5qluhzR6WoLzg8PXYJMc64jPtg+wO96JotDTP2UN9zUW61A9k7X/68O2kTtzSJgKARTti8zO6W+yJSSHdVstcoX/SD/BhC9i3ADRauG22Ooe9EuXa1XFv4KyOu6hUneoFOLxuF+mPt5sejUZT6hrxxdHrtPhYfh4cSu8FN4H6fdTlDe+oD4OEEGUm2deFEEIIISysNckbhpQQWF7cA7mpaq3vsNaFNlt7ygsOXz+TkOnweu6mM9zbLZowP3fwjyS33kDcT6/gU5dPaWhqiZt3V3o3DqZzvQCWH7rMxdQcTl3JsNWg3rBpI2kbZvOUXsNlJYDu2oP0j92mnlzrAoNeh+jCPfmVSXrJr72XhjfHz8OFqEBPejQMokGwt2Ppvgrg6+FCeq7RMSgH6PEknF4L+3+EoMbQ6z8Vel0hbgTSUy6EEEIIgZpZes7GMwA82KtB0TuazbDSMoe20UDQFe7jsCbZKthTfi5R7Skf3jqcm6JqkWs08/jCPZxLVIP1PfUfJF3xoIX2HG7zRsBZdd66u4uObg0CAZi94QwY88ha/gqdVo7ittxfeUL/C2+6fM1w3TbMGh0MeRf+GwNdHi7/N6QcQn0l23pVqOXlyrRbWnBf93o0CvVBWwkPRqzzygsF5fV6wVBLWcD174CxdIkJhRD5JCgXQgghhABmrjtFrtFMx+haDGgWUvSOe+ZBzGZw8YKBrzrdxd2S6K3gnPKzluC7XpAXI9uqQ9K3n02i97vrUBSFFUnh9M39gCM+3cBsgIVjYf8iMBl4vH8jAH7aFcvFH57Ac+sHuGsMHDFHssDYjzWmtmwwteKnZp9A5wfB1fNqvyVlVtu/hHn4otoqMigHuOl+8AwCU65alUAIUSYSlAshhBBCAOuPXwHg4d4Nih/6u2ee+rXPs+Bf1+kuXq5O5t+SH5RHBXrRqV6g42ljU1h9NI4E/Lg4cKaaQC43DZY8AO83pf3FH7mjsY6Rmn+IOLkAgCfzHmFI3ps8b5zMoT5fMc3vdXoOur3M915Rate69g8CxLVRbFCu0UBdS8k16/QJIUSpyZxyIYQQQtzw4tNzOJeYhUYDHQskzXJgMsLlg+pyk6FF7lbbX63RbU0cZ3U2QR2+Xi/Ik6hAxwD2P4v2EZuk7t++QQQ0/xX+eQ92zoXMeFj+LO8CuKr7zzUO5ldzDwAe6FmPKf0bMcXSm15VGgR7Ven1ReXx97QE5VlOgnKAup3g2J+WoHzKtWuYEDWABOVCCCGEuOHtOpsMQJNQH3yLy1adcByM2eDqDQFFzzuvG6AG3Na54gC5RhMXU9WgOyrQy5YMzuq0JQmcj5teDYA0Guj7PPR6BrbMgLVvopiNXDDXYqu5Oe8YxwCw/pk+RAVWbTD89MDGrD4az/096lVpO0TlKbanHOx6yrerWdgrONGcEDWZBOVCCCGEuOFtO5MEwE3RtYrf0TpfNqw1aIueBRgZoM6ttiZ2A7UcmqKAt5ueQC9Xh/1Dfd2IS1MTZIX5uTsOn9e5QI+noMsjnLqSyYCPt9g2+Xu6EBlQ9UPGH+/fyDbnXdRMviUF5RFt1Yz/GXGQcg5qRV+ztglR3cmcciGEEELckJYfvMS8recwmMz8sV8thdazUXDxB13aq36NaFvsbqE+6vD1hIw82zrr0PXoIE9b0P3tpE6MaBPB8id60aOhWku8bV1/5yfVu1HLx7FHvFVtvwovfSWEM9ae8pSignIXDwhvoy7Hbr9GrRKiZpCeciGEEELccAwmMw9/vxuAIC9XEjLy8HHX069pMVnXIb+n3Bp8FME2/zY7D0VR0Gg0DknerHo3DqZ3Y/VBwDf3dWTr6STa1PUr5ryOPexTBzctvr1CVJASh6+DOoT9wk51XnnrO69Ry4So/qSnXAghhBA3HPu53htOJADQINgbF10xH43MZri0X10uISj381D7PQwmhaw8tSyarRxaEfO/9TotPRoF4VPMnHadXf3pWRPa06pO0QG8EBXJ+qAprdigvJP69fQ69edFCFEqEpQLIYQQ4oZzIi7Dtrz+WDwA9YNKSJaWeBIMmaD3gKDGxe7q4aLD1RLgW4f7WueXF8y6XlYvj2jOyLYRDGgWelXnEaIsStVTXr8PuPmqPytH/7g2DROiBpCgXAghhBA3nHNJ+QnYLqbmANAs3Lf4g2xJ3lqBVlfsrhqNBj9Lz2JKljqv3NpTHl1S8F+C+7rX4+Ox7dAX16svRAWzzSkvqiQagIc/dH5YXV7/tvSWC1FK8ttcCCGEEDec5Kw8h9cdomoxvnNk8QfFWLKelzB03crfI7+uc57RzAVLzfLoKi5fJkR5WIPybIOJPKMabOcaTWRbpmfYdPkXuPpA3EGI2XytmylEtSRBuRBCCCFuOCmZ+b19A5uH8s19HfFyKyb/bfxR2P2dutxoYKmuYZ2Dm5SVR2xyFmYFvFx1BHm7lnCkENcf+1wHqdkGFEVh1Gebuen1VeyLTcnf0TMAGvZTly/uubaNFKKakqBcCCGEEDcca0/5a6NaMvuem4pNroaiwJ//BrMBGt8MjQaV6hphfmqt8osp2bbEclGBXlLCTFRLOq0GX3f1wVVqtoGULANHLqWRmWfi281nHXcOa6V+vXzg2jZSiGpKSqIJIYQQ4oZjnRdby7OYYNwq9Tyc2whaPQx9F0oZVNetpQbl55OzcXdR56BHBlxdkjchqpKfpwtpOUZSs/PIyDXa1mfmGR13DJWgXIiyqNKe8g0bNjBixAgiIiLQaDT8+uuvhfY5cuQIt9xyC35+fnh5edGxY0diYmKufWOFEEIIUWNYe8preZZiKPmFXerXkObgX8K8czt1LQF4bFIW6Tlq0OLrIf0hovqyz8BuX1YwuWDyN2tPecJxMORcq+YJUW1VaVCemZlJmzZt+Oyzz5xuP3XqFD169KBp06asW7eO/fv387///Q93d/dr3FIhhBBC1BSp2QYuWTKulyoov7hb/Vq7Q5muU7eWJShPzrYlw/J0laBcVF/elrwLGbkmziTYBeWZjokT8Y0Aj1pgNsKVo9eyiUJUS1X6l2HIkCEMGTKkyO0vvPACQ4cO5Z133rGta9CgwbVomhBCCCFqqPdXHiMj10j9YC8ah3qXfMAFa1DevkzXqWMbvp5lG+rr6Vp8KTUhrmfWoDwz18jRS+m29YV6yjUatbf8zAZ1CHtE2wprQ2q2gT/2X2RYq3D8S/NQTYhq4Lp9XGs2m/nzzz+ZOnUqgwcPZs+ePdSrV4/nnnuOUaNGFXlcbm4uubm5ttdpaWkAGAwGDIZi6iqWgfU8FXU+Ia4Fed+K6kbes6IynIjLYN7WcwBMG94UxWzCYDYVfYDZhP7iHjSAIaQ1lPB+tH/fBnvp0Wggx2DmXGIGAO56jbynxXWlLL9rPVzUQbZpWbkcvpRqW5+SlUdeXp5DEkNtSAt0ZzZgurQfcwW+5x9fsJv1JxLYfS6Jt25tWWHnFdVLdfiMUJa2aRRFUSqxLaWm0Wj45ZdfbAH35cuXCQ8Px9PTk9dff52+ffuyfPlynn/+edauXUvv3r2dnmfatGm88sorhdYvWLAAT09JriKEEEJUhbQ82BKvoUuIgl8Vdm5tvKzhpzM6GvuZebS5ucT9/bLO0ufYSxi0Hixr/TmKpmw93S/v0pGSpyHATSEpV8Nt0SZ6h18XH72EKLMfT2vZHKelX7iZNZccZ8G+3dGIu113X52kTXQ49wWJXo3Z2PjFCmvDE1vUi+g0Ch90KeaBmhBVLCsri/Hjx5Oamoqvr2+x+17XPeUAI0eO5KmnngKgbdu2bN68mVmzZhUZlD/33HM8/fTTttdpaWnUrVuXQYMGlfjNKC2DwcCqVasYOHAgLi6lyNoqxHVA3reiupH3bM1y+6yt7L+QxhVdLRbc37HK2nFwxXE4c5YuzaIZOrRpiftrt30Ox0BXvwdDho0ocf+C79vvL+1gx9lkknLVHsSb2rZmaIfaV30fQlSUsvyu3b/8GJvjzpHmGgCkEOLjRlqOgRyDmY49+9jyKACQ0BC++IKAvPMMvXmQWr3gKiVm5MKW9QA0Dfdl6NCuV31OUT1Vh88I1hHbpXHdBuVBQUHo9XqaN2/usL5Zs2Zs3LixyOPc3Nxwc3MrtN7FxaXC/8Mq45xCVDZ534rqRt6zNcP+C+qHkx1nk6v0//NimjrFLTLQq3TtiNkCgLZeL7RlaLf1fVs3wJMdZ5Nt6309XeX9LK5Lpfld6+uhfsbeFZMCqIHxibh0LqXmkJGnOB4f2gzcfNHkpuFy/E9oNfqq27gj5optWaPRyM+SuK4/I5SlXVWafb04rq6udOzYkWPHjjmsP378OFFRUVXUKiGEEEJcjVKW+K4Uczed4c/9lwCoU6sUU9riDsHpdepydI9yXbNuget4SfZ1UY15uanTN6yTX5uF+diSrSUVzMCu1ULnh9XlP5+GlNirvv7mUwm25aSMvGL2FKJ6qdK/DBkZGZw8edL2+syZM+zdu5eAgAAiIyN55plnGDNmDL169bLNKf/9999Zt25d1TVaCCGEEOXm6VJ12cdf+f2wbTncr4Tyqjmp8MNdYMyG+n0hol25rmmtVW7lIdnXRTXm5eYYOjQN9+HABTXhW0rBDOwAvafCqTVwYSf88jDc+8dVPZnbfCrRtpyYmYeiKA7J5YSorqq0p3znzp20a9eOdu3UP3RPP/007dq146WXXgLg1ltvZdasWbzzzju0atWKr776ip9//pkePcr3tFoIIYQQVcvT7froKQ7xLTzVzcG+HyH5DPhFwug55Q4kgrwds9p5VOFDCSGuVsGgvH1kLWp5qe/x5CwnPdc6F7h9Nmhd4NxGSD5b7msrisKF5Gzb61yjmVxjyckahagOqvQvY58+fSgp+fukSZOYNGnSNWqREEIIISqT13XSUxzkXUJQbh22ftN94BlQ7uv4uDvOKWxdx6/c5xKiqtmPMBnWOpyoQC9qearv8ULD160C6kNwE4g7CFeOQkC9cl0712jGaHaMG7LzTLjLgy5RA1y3c8qFEEIIUTPYP4D3qKI51QaTY4+ai66Yj0AmI5y1JJWt3+eqrutrVyPqgZ71ZKitqNbaR9ayLY/rGAlA/SBvAA5fLCbTdLCl0kH8kXJfOysvv/yZ1vJjlG2QkmiiZpCgXAghRI2XYzAxe8NpYpOybOv2xaZwPjmrmKNERUmwS8jk4+4YlOcaTXz1z2lOxmdUahtSs53Mdy3Kpb2QmwrufhDe5qqu6+uR31NesNdciOpGp9Ww4slefDSmLd0bBgLQIUoN1HfFJBc9AjbEEpRfOVrua2fmGgFwd9HahtHnSFAuaggJyoUQQtR4//p+F9P/OsLLSw8B8O3ms4z8bBP3zNlexS27McQkZRa57fO1p3j9zyMM++SfSm2DfRKqT8aVkLTNOnS9Xi/QXt3QWPuHEDqt9JKL6q9JmA+j2tW2jfpoFu6Lm15LSpaB0wlF/KwHN1O/XkVPeWaeGpR7u+ltuRmkp1zUFBKUCyGEqNEURWHtMbW27Zqj8QB8ueE0AKevZGI0SaKgynY2IX9EQl6BxEzrjqv/N5WdsMmahKpugAe3tIkofmdbUN77qq8rid1ETeeq19Kmjj8Au84lO98pxBKUJxwHc/kC6cxc9ThPV72tioH0lIuaQoJyIYQQNdp5u2y99YO9SMnK40JK/roikxOJCnMsLt22XDAoz7b0flV6Gy6rbahnmf9apLwsiN2mLl/lfHLAYQ55Sclthaiu2luGsO8uKiivFQ0unmDMgcSTzvcpQZbld4Wnqw53vaWnPE8eqoqaQYJyIYQQNdq+8ym25fQcI3M2nXXYHp+ee20bdANadyzetpxXYGSCffKmynToolpLuWWEb/E7bpkBpjzwrQ2BDSu0Df6eriXvJEQ11D7SHyimp1yrg9CW6vKl/eW6hrWn3MtNj7v0lIsaRoJyIYQQNdr+86m25SvpuXyy+oTD9isSlFeq88lZHI/LT+JWMAt6tl1QbjZXXk/ywQtqZuhWtYspSXbwZ1g7XV3uPbXctckLevv2VgxtFcYdN9WpkPMJcb1pFq4+7IpJKiZ5Zu0O6tedX4O57D3c1kRvXm56PFzUEEbmlIuaQoJyIYQQNdq+2JRC65qE+tCrcTAgQXllW2uZx2+dW20/fN1kVmxzvUEdyVAZ8oxm2/D1lkUF5VlJ8Od/1OWuj0GHeyvs+mM6RvL5XR1w08v8clEzWed45xrNRU/T6PoIuHhBzBbY812Zr2Edvu7lqpNEb6LGkaBcCCFEjWUyKxy8kFpo/WP9GlLLUy1PlZZThlJZosysSfZubhkGOAblF5Kzse8cL1PZsjI4EZ9OnsmMr7ueOrU8nO+08QPITlKzRA+YVintEKKmctPnhxRFJm30j4R+L6rLa6aXubc8My8/0Zu7iwxfFzWLBOVCCCFqrNNXMsjMM+HpqmPHCwMY1iqccZ3qMrRVuK1UVWX1zgpIyMhl44kEAAa3UIPyxMw8W0/aySvpDvvP336uUtphfTDTsrafQ+I1G5MR9v2oLvf/H+iknrgQZeFuV2Ug11BMsN1xsprwLTO+yJrlaTkGVhy6XCjgzsq1lkSz6ym/RjkphKhs+pJ3EUIIIaqnw5fUecTNw30J9nHjs7va27Z5u6mBlwTllefrjWfIM5lpU8ePFnYJ1hZsj2HBthgOXUxz2P+L9ae586a6NAguIUN6GVnnkxc5dP3sBjVI8AiARoMq9NpC3Aj0Wg1aDZgVyDWagCIebOldoW4ntezguU0Q2rzQLp+vPcWs9adoGubD71N64KJT+xAzrCXR3PQYLENsZPi6qCmkp1wIIUSNZa2PXT/Yq9A2a095Rq4MX68sf+6/BMDknvUdhre+8MvBQgG5VVHrr4Z1PnmzcJ/CGxNPwe9PqsstRkkvuRDloNFo7IaUlzAsPaqH+vXsP043741VM7gfvZzOa38ctq23n1Nu/f2dli0PVUXNIEG5EEKIGutcYiYAUYHFBeXyoa6yWOfrNw3zwdOt6MF5t7WrbVs+eqlig3JFUTgerwbljUIKBOXGPPj2Fkg5p9ZR7vnvCr22EDcS64M3tae8GNHWoHyT03nlrnYJEX/YEWvLQ2E/p7yWpbxgil2iSCGqMwnKhRBC1FjnLOV5ogI9C23zdpM55ZXNvoSRt5ueN25t5XS/B3rVZ2LXKACOVHBQnpiZR0qWAY2GwsPiT/4NaefBKwTuXwV+UrJMiPIqdU957Q7qvPKsBIg/XGhzul3yTfvKCZm2OeV6W6LOZAnKRQ0hQbkQQoga61yiGpRHO+0plznllSnXaMJgUud9elkegIzvHEnj0MLzxesFeTGiTQQARy6lF9p+Nawl7wK9XG1lm2wOLVG/thoN3iEVel0hbjS2oLyknnK9K0R1V5dPryu02fo7Wa9VkzJaH9RZg3JPNx3+lp7y5CyZfiRqBgnKhRBC1EgZuUYSMtSALLLYnnL5UFcZMnPzP5h72QXDbev6F9rX3UVH03BfQOHOzAWYPmoLexdWSDvSLGXWfN0LzBU3ZMOxZepyi9sq5FpC3Mhsw9dL6ikHqN9b/XpqdaFN1t/JjUPV6SZXLL/HsyzD173shq/vjU2RsmiiRpCgXAghRI0UY+klr+XpUjggQ+aUVzZrr5abXotel/9xo23dWg77zZrQAQDv1BN87/UxT7ssRpdyBn59GN5rDN/fDru+gaQzZa5rDPm9btb/b5uTqyEvA3zrQJ2bynxeIYQjt7LUDm98MwoaOLUGYrY5bLL+zNYLUkc4WUe7ZFoSvXm66mzD1wG+31o5pRSFuJYkKBdCCFEjnbAk94oOKjx0HeyCchm+Xiky7OZ/2mtTN78s2WN9G3JzyzDIToG5Q+hh2m7bpmi0kBGnzvv+/Qn4pC283xjWTAdT6Uc3WJPN+XoUeDBjHbreYhQ4q10uhCgT60/ROyuc1x+3UhSFqeuyWGy29JYv/6/tgZvRZLb1iFuDcuuIJ2umdS83PbVredjOt/JwXEXdghBVRoJyIYQQNcryg5f4cNVxnvhhL6DWKHfGN+cST+sX8aryKaZDv13DFtZ8JrPikOTNXpNQHzwsPWq23uutMyE7mVTPKIbkvkl0zgISHzsJk1fDgGkQ0Q50rpB5BTa8Az9OgLMbQVFs51Xslu0V6ilXFFj7Bhz8WX0tQ9eFqBB7Y1MAOB6XUex+x+MyWLTzPO/k3Umezgsu7oYz6wHHkUvRdkH56SsZJGTk4qLTEB3khaernm/u6wioFRvMZuc//0JUFxKUCyGEqDHOJmTy8Pe7+Xj1Cdu6hiGFE4sB+K16isf1v3K7biPaxfdV2BzmG9355Cw6Tv+bO77YAhQOyvU6La1qq73lvh4ukJcF22YC4D1kGkcUNQt7Fh7qsPIeT8GD6+C58zD0PdDq4fhy+GYYOX+9AMBna0/S4Pm/GPvlFlYfcew1KzSn/NASWP+2utzz31CnQ4V/D4S40WXnFT2E3Vqq8gr+nArqp660zC23PkRzd9ES4ecOqFORdp5Va5e3j6xlG33To2EQAa5GvHLiOH3mZP4FcjMgZqv6VYhqQoJyIYQQNcae2GSH190bBnJbOydlrpLOoD27AbOiIdYcjEYxqUMo87KuUUtrrm83nyUpM8/Wie3tpiu0z1MDG3Nbu9oMbB6q9ljnpIJ/FLoWowj0UhM4ZRkKTCvQu0GnB+C+ZSitxwLgvuMztq+Yz7srjmFWYOvpJJ74Ya9DQJCeW6CnfMvn6tfuT0D/lyrwzoW4sfVtEmxbtg45dyYuPX/bEa9O6sKh38Bssk038XF3oXVdf/w8XLiYmsPKw5cBCPJxsx2r3/YZ27X3scV9Cg3n3aSOoDm2HGZ2gzmD4Z16MLu/OgVGiOucBOVCCCGqvZSsPK6k57L/fCqgDpE+OX0I8yd3wc+zcJI39qm94ts1reid9yEG7wjISbENoRTlt+Os44ORgc1DC+3TtUEgH4xpS9D5v2H1K+rKjveDVounJYjPKqqnrW4ntrSezmzjUAAit7zESO1GanMFUIe/LtoZa9s9OVOtY+zr7gLnd8GFnepQ+K6PXdV9CiEcfTimrW05Pr2YoDw1x7a8zbULuPtDagyc/Nthuom3m542lmoNZy2JO61TXzi7CVb+Dz0mDIpl3ZHfYeEYSLEkfjPlqT/vP9wF6Zcr5B6FqCwSlAshhKjWzidnMeCD9fR7fx2rLAl/Hupd3yHjt4O0S7DnewBWug3AjJaU8B7qtnObr0WTa7TYJPXD8+d3teeLuzswuUd95zseXAI/jFfniQc3g/YTAfB0UXu0nQ1/Tc02cCk1myV7LjDDOIp4xZ8wEvjY9XM2uT/BG/rZRGsu8eWG0xhMauKoAxfUBzUNQ7xh2yz1RC1uk7rkQlQwf09X2kX6A/kZ052JS8sPyq/kaKDdBPXFjq/sgnL1Yaq1nKK1593TWl5x8yeAQlz922iU+x1TdVNRonupv0sa9IenDsGU3RDaCow5sPq1CrxTISqeBOVCCCGqtbmbzpKQkUd6jpHzydkAtK7j73znfT/CZ50g7QJ4BbPXqzsACQGWecVbZqgf3opIGiaKl5FrJNHSM92jURCDW4Sh1TrJbJ4SA0unqMsd7lXnjHv4A+DhWnRP+cQ52+n65hoW7zpPKt4Mz53Op8ZRHDOrUxTG69eyzu3fvJn5Est3nSAj18ixODULf2f3c3DoF/VEXR6usHsWQuQLsNQPT87KK3If++HryVl5cNMk9cWJVXieWwOAr2W6iTUnRUqWOqzdw1WnTnc5pe5Xa+B/8PNwZVFmWzZ1nwuPboW7l4BfHQhsAMPeU8+993u4fKDiblSICiZBuRBCiGpLURRb77i9+s7KoKXEqrWvc9Og9k0w8Xdc3dX9ToYNhbZ3gWKGf96DE6squ+k1krWXvKja8GQlwZ//hhkd1RrhdTrB0PfBxd22i6ctKHecU242K7bszqD2oMVTi/eNdzI47x1e8H0DGg7EjJZeugP4bprOlfRcFAUGuR0k4MeRYDZAvV5qNnchRIWzPlQrLtGb/fD1lCyDGjy3nQAodNz+OO00J2w5IAqWVPRw0amjbEx5ENQE1/AWDGkZBsDfR5yURovsAk2Hq8vzboVL+67i7oSoPBKUCyGEqLaOx2UQk5SFq15LVKAnAKPaRjjvnd01Vw26o7rD/SshpJltiGR6HjDqc+jyqLrv+relt7wcYixBeWSAp/Mdfv0X7PhKHU7qGQTD3ged44duzwI95VtOJfLq74e5UiBx1P096/PX4z1Z958+LHqoK/+67z6YsJiNXWYD0Dv1Nwyn/0GDmee136rXbDgQxnxfkbcshLBjnfOdbSgmKE/PD8qTLCNrGPER5kaDcFXy+Ld+EamWqgm24eoWTdI2w7Kp6ovWdwDQp4k6FWXr6UTyjGa++ue07QEhAMM/grDW6lSZRRNtNdGFuJ5IUC6EEKLa+nydWganZ8MgFj3Ulcf6NuR/w5sX3tFkhN3fqcudHwKtpU62pRcm3ZLxl+5PgN5dTQ50em2lt7+msX4QrussKL+wWy1lptHCmPnw9BEIb11oNw9X9f/EGpSPm72VOZvO0PmN1bZ99FoNt7WrTfMIX6KDvOhUL4A6tdRrZtXpzgJjXwCi1jzGdy5vEa1cAFcfuGMuuPtV6D0LIfJ5ltBTnmMw2YaiA6TlGDCZFdC5kDXgbcyKhh66Q/hlqcka7UsqupFHv8Mvqr3kzUdB9ycBCLOUTkvPMfLeymO8/ucRxs3emn9R72CY+Du4+UHyGTizruJuWIgKIkG5EEKIamndsXh+23sRrQaeGNCIUF93/jO4CYHeboV3PrtB7SXxCIAmQ22rrUMkMyxls/AJtSUcY9c3lXwHNc+ZBLX+sNOe8h1fq19b3QnNhoPe1ek5PK09bQWGr9tb9HBXop1NUUD9EP+m8S4uasNxy7lCT91BdUPb8eDmU8o7EUKUh7tr8T3llyxD1/WW0UyKgq1XPNerNuvN6oO6aXV2AY7D1wdqd+FmTAffOnD716BzseyjXjMzz8jSvRcBbPlFbDz8bT3r7Pr2am5RiEohQbkQQohqJzvPxP9+U4Ote7vVKzqxm9XBJerX5iNtH+QAvN2tPeV2AWAbtQY2J/6GjCsV1eQaLyvPyPKDatmhJmEFgl+TEY79pS63u6vY83iU8KEeoH1krSK3ebrqSceT+9w+YGPL1/nL1ImNPkOh34uluAshxNWwVU8o4ud3x9kkAFrW9rM9FE3MyGXH2SRSsg0sNPUDIOTYfNj/E75aNYj3IIf/uqilLGk73mHai7U3PTPXSKbdwzxrzXMb6wPXo39CZsJV3KUQFU9f8i5CCCHE9WXm+lPEJmUT4efOvwc1Ln7nI3/Y6pLT8naHTd5uljnl9kF5RDt1/uHl/ercxTvmVmTTq61Lqdl4u+lt8/AL+mP/JRIz84gM8GRoq3DHjTFbIDsJPGpBZLdir+OmV/sL8oxmjKbCcz9Hd6hT7PFell6zY8kKO/wG87GhPmOj69LD3bfY44QQV8/DVf35LWr4+uaTajDco2EQyVlq1YyZ606xZM8F6gZ4cNHcnmNKJE1yY2DJZG7RudPQNQwTOupoEsj2rI1HjycdzulpmfJiMCkYTPm/y49fTuem6ID8HcNbq7/fL+6BPfOgx1MVeOdCXB3pKRdCCFHt/LzrPADPDmnqMOewkIt74KeJYDZCqzsguofD5vzh63Y9KhoN3PIpaHRwaAmc/LvC21/dXEnPpeuba+j1TtHz7H/aqc4BHdOxLi72NeKzkuDPp9XlJsMKJXYryNUSlOcazbZhrQAvDW/O74/14PVRLYs93ss1//wfrz4BgJ+n8wcJQoiKZc0J4SwoVxSFTacSAejWMBB/S/m0JXsuABCblI0JHf/S/g+6TQH/KHSmHFppz9JWewqzouFcl1fB1XHqileBZHBWRy6nF17Z4V7165rXYeec8tyiEJVCgnIhhBDVSmxSFhdSstFrNQxoFlr8zv98oAbkjW+GUbPUgNuOj7Ph6wARbfNr5x5YXEEtr76spciSswwYnPRef/XPaXacTUarcdKTvXgSJBxX54H2fb7Ea9n3lG88mT/EdFKPerSq44e7i/MP4FYFH9LotRqGtgwvYm8hREWyZl/PcjJ8/UR8BlfSc3F30dI+shYBRTwsy9AHwKDXYcpueHgjB9u/yizvR3nQ4z3CbxpZaH+9Tou7S35IYw3Sj11OK3zythPUB7RmI/zxFJz5pzy3WaXWHovn83UnUaRCSI0iw9eFEEJUK8fj1N6PxqE+xfeSxx+BI7+ry/1fdtpDWyjRm73mt8CO2XBqjZqNSOOkzNoNwkWXf+9X0nOJ8PewvT54IZXX/zwCqKWJQn3za46TeErNYq/RwYTF4Fe7xGu52gXln61Vs+uX5VtfsITSyyOa06auf+lPIIQoN+vPX46lp9xoMqO3jJzZZHnI1jE6AHcXHbU8nSd7tP4OQKeHsFa0vKUVxY+PUUfI5BjU8mr3dItm5rpTXE7NLbyjTg+3zQadK+ydDxs/gHo9y3iXVeu+uTsAaFvHn24Ng6q4NaKiSE+5EEKIaiU+Xf2gFe7nXvyO698BFGh2C4Q6KZMGtl5Xp/Mf63QCrR4y4iA19mqaXO1l5uZ/fy6lOmY1/m3vBdvy1JubOB54yJJgr35vCGlWqmu5Wj7A59r1yA9vHVHqtlp72gF6Nw7m7q7RpT5WCHF17OuU/3vRPpq/vIKDF1IBOGYZTm5N1OhfVFCuK3t4Yn1A2zjUm7aWh3CJmU6CclCf8vX6j7p8eh2kXy7z9apKll0iuysZRdyfqJYkKBdCCFGtxKepH0SCfZyUPgMwm2HzDDj0i/q697NFnss699lodjIM0MUdQi39M+d3lru9NYF9FuNnfz7gsO3UFbUM2mujWtI0rEAytYOW/4MWt5X6Wq569UN9rsFsq1V+X/foUh+v0Whsgflbt7cq9XFCiKtnfdCZmWfk593nyTOaGf7pRs4nZ5GcpfZkB1l+dwd4OR++7qovf1Der2koQd5qsJ+YkVf0AQH1oW5nUMxw4KcyX6+q2Jd6M5pk+HpNIkG5EEKIaiU+XS2RE1JUUL76FVj5AqCoSX3Cih74aK2V62yeNJAflCedKmdra4Y0u4Rrp65kcD45i9RsAwcvpHL4ojpvs0HBuuFXjkH8IdC6qHXJS8k2p9xkJjVLva6/R9kStW36bz/W/qcP4X4eJe8shKgwdWqpP3OnLQ/rrFYciiPZ8vNcyzKXvMie8nIE5a1r+6HXahjZNoJAL/VvQ2JJPcnW8pd7F6pTlKqB2KQs2/I7K45WYUtERZOgXAghRLViHb4e7Otk+Hp2Mmz/Ul0e/CYM/6jYc+m16p9Bk7OecgBfy7DptIvlaWqNkWD34VZR4OddF5g4ZzvDP93I5TT1IUnDUG/Hg6y14Rv0U0uhlZL1A3l2npF0y1z/oj68FyXI2416BR8SCCEqXZ1aHk4fmCZk5JKcqfZcW+eSFzmnvBzD19+8rRW7/jeQZuG+BFp6yjPzTEWWZgOgxa2gc1MfHu76pszXrApH7TLKx6Xl2qYGiOpPgnIhhBDVwh/7L7Lh+BViEtWegtr+ToLy3d+BIQtCWkCXf5WYIUyvs/aUlxSUXyp3u6u788lZzP7nDAChvuqH7a/+OW3LyA7wYK/6hPjY/X/EbIOtn6vLLW4t0/WsQbn14QuAXxl7yoUQVUOj0dAhqvBDuLMJmbaecn9LT3mtIoavu5QjKNdqNbbfE95uelvCuQspWUUf5FEL+r2oLi//rzq65zp36KJjEB5neSgqqj8JyoUQQlz3TsSl89iCPdwzZzvH7LKvOzAZYftsdbkUATnkZxU3mosYvm4Lyi84317DGU1mnvpxr+31g70a4OOut/VgRwV6sn/aIJ4fapfELSUW5t0KuWkQ1R1aln4+OeQPX7d+2PR116PT3riZ74WobqyJ3Owdu5xOSlYpe8rLMXzdnkajoUmY+vfh8CUntcrtdX0M6vcFYw7snFviuS+n5pCUWcxc9Up28IJjmbeLKdlF7CmqGwnKhRBCXJcUReFoioaEjFy2n01y2Obtpqe2f4H5wnvmqVnSPQKg1ehSXcM6fL3IhDm+lhJeN2j29Y9Xn2DH2WQAJnWvx9iOdelcL8C2vUfDIHzdC/R27fsBDJkQ0Q7uWgz6Iub+F8H6gTzHoD4oCSspy74Q4rrS3klP+emETFtCTWswHuBVOUE5QLNwNenkkUtOapXb02qhzTh1+ULxCT1Tsw0M/GA9fd5di7GoPCQVaF9sisPw9NQsAzGWOeVB3urv1fMSlNcYEpQLIYS4Li3efYGZR3T0em8DL/xy0GHb3V2j0Nj3hC9/Dv54Ul3uOBlcSpfgy9oDW2RPea1o9Wt2MmQlOd/nOnAmIZNe76zl281nK+ycMYlZtjrhH41py0sjmuPlpneoUT6pRz3HgxQFDixSlzs9CK6eZb6uW4EP5NYP10KI6qFl7aJ/ZrUacHdRf8atw9gL0lfAyBjr7w1rIspi1blJ/XppHxiLTg53LjGT9FwjaTlGNlpqrleWrDwjIz/bxPBPN9rmxVuHrkcGePJw7/oAnE+SoLymkKBcCCHEdSEuLYff9l7AbOlNWXUkHig833v6rS2ZOtiuHval/Zb5yxro9jj0eqbU17SVRCuqp9zNG3wsQ9iTTpf6vNfaz7vOE5OUxctLD5WccbiUft17AbMCPRsFMapdbdt6T1e9bbl+wWRqF3dDwnE1eVLT0mdct+dmKYlmJUG5ENWLm15H94aBAMy+5yY6Ruf3nHu66m0PVO1/1u3zRlTEkOzmpe0pB7U8mkcAmPLg8sEid0u1q0Jhn3CtMrz4a347Dl9KJddoYuc5ddRSy9q+RAaoDzxjk4uZMy+qFQnKhRBCVLhLqdn879eDXCjDh6uJc7bzxA97+X7bOQwmM9vPqB9AxtxUx7bP0se6c1fnAr3kmz5Sv7a4FQa9BvrSZ+rW2+aUKyhFlcQJbKB+jT9c6vNeaxmWOd4Ah0rTM1QK1mGTfZqEOKyf3LMeLWv78tLw5o7/DwA7vla/Nh8J7uULpgsOXW0a5lPEnkKI69UXd9/EP1P7MrB5KC0i/GzrPVx1TvcPt5umUhEBb9MwHzQaNWFkiQ8qNRqo01Fdjtlc5G72c8mtNdcrQ0pWHkt25+cxWbAtliYvLueDVccBaFnbj8hANSiPSZKgvKaQoFwIIUSFe+C7nczbeo4pC3aXav/4tBzbB7Efd8SyLzaFzDwTXnqFB3tG2/aLCrTrmTXkwJ75+aW3ej5d5na6aPP/DBqLKotmHdp4rugPa1XtUmr+w4/TVzIq5JxHLqvBffMCPdVB3m78MaVn4aHrJ1bBgcXqcqcHy33dguWQCl5fCHH983bTU9fSm9vE7sGaV4GgfFynugR4ufLZXe1tgbm1F/hqeLnpibKc50hJyd4AGvRVvx79E1DLZK46HEdcWg65RhMrD13mfHL+79mUTIOzs1SIgkPuf9593uF153qB1K2l3ltKlsGhB19UX/qSdxFCCCFKT1EUW4bY3TEpJe4fl5bDuC+32l5fTMlml2WYXkNfhcgAT165pQUuOm3+EMeEk/DtcEi3lCprOhzCWpW5rTpdfk+vyazg4qwTp14v2PghnPlHnTNdiqzu19ql1PyyOKcTMq/6fIqicMHyAbR+cCnqfR9YDD9PBhRoOCD/QUY52PeUB3q5Euyk5rEQovqwD8o9XB1Djzdva82rI8246LQsfKALH/59nId7N6iQ6zYL9+VsYhaHL6XSo1FQCTvfopZFi9kKaZdYf1HLA9/tJMDL1Wm29crsKT9czJB7Pw8XW8m5IG9XEjLyiE3Kwq+2X5HHiOpBesqFEEJUqIupjnVTSxo6+MHK45xOyLTVwE7OMtiG7tX2UnuvJ3aLZnznSPUARVGTuqVfUud793sRbv2iXG21TyhkKCqbbt0uoHWBtPOQfKZc16lsF1Pyv+fWWsBXIzPPhHXgQKHs6gUZ82DVS4ACbcbD2AVX9eDCvkySl5u+8BB5IUS10sSufKWz37PW3B7RQV58PLZdheWRsA7xjkvL/xuUazQ5n6rkVxvqdAIUWDqFmDj1wXBR5c9SKuD3bFEK9pRPv7WlbfnBXvVty9aRCDKEvWaQoFwIIUSFOl5gPqC119sZRVFsWWzfGd2GIS3DAGy1yMPsk6hnJsCRP+CvZ+DsP6D3gEnL1MRubt7laquL3VBpa7K3aUsP8eiC3fkf3Fw983t+z/xTrutUplyjiQS7Bx/moobhl0F6jvqBU6/V2DIlF+noH2odd+9QGP5hmUugFWQ/5zRcyqEJUe15ueX3jqddw6HW1geKfx24xMELqcQmZdHu1VW88GsRydwGvqL+XTm5ipsOTAPAw+nwKUjJrryecmtekGbhvmx5rh93dY5ixZO9mHpzEx6yC8ojJSivUSQoF0IIUaE2FSgVs/bYlSL3PR6XwYWUbFx0GjpG1+K+7vVsnax1/N1p6KuowfjGD+GjVvDjXbBjtrpD/5fyS5aVk06rsV3PYDZjNit8s/ksf+6/xIl4u7nZ9XqpX89suKrrVYbLBUYmmCogKE/LVhPH+Xq4lNxTvXOO+rX9RHCpmCB63v2daFPXn+m3ln1KghDi+mWflLKyeVseBlxKzWH4pxt5Z8UxsvJMLNgW4/yAqG4wbiEAzRJW4ksG/+rTgPsL5s+g8nrKcwwmTlrygsy59ybC/dQn003CfHikT0P0dg+SoyQor1FkTrkQQogKczYhk++2nAPg/h71+HrjGf7Yf5GXRzTH3UmPw9J96jD13o1D8HTV06leAKuf7o1eqyWMBBK/uweXj/bkHxDUGAIaQJMh0P6eCmmztUN89obTPDGgcaH1gGVYIxB/pEKuWZEKZrg3FZVFvpQyco0ctSR583Ev4WNC3GF11IJGBx3uvarr2uvZKJiejYIr7HxCiOtDlqXm9rXg7eb4++v3fRdLPqhBXwhuhu7KEQZodxPs05V6BUs/AtmGyrmPE3EZmMwKAV6uhPkW/5DTOnw9VoLyGkGCciGEEFctK89IfFou0/86Qp7JTK/GwbwwtBnLD17mQko2YyyJ3GZNaG978q8oCkstH5JGto2wnat+zmE4shRl6yzCzZbeiJDm0G0KtBlXaYnWZv9zhgd65g8NdLiMt6UsWFZipVz7alxKqdie8vu/2cG2M0lACUH5lWOw4E51uckQdU6mEEJcJ7yL+f2lKAoajYZ/Tlwh12BmQPPQ/I3NR8L6I9yq20i211O20pn2ciopKLfWVW8W7lPiKCUZvl6zyPB1IYQQV23cl1vp8946Vh2OQ6fV8NLwZmi1Gm5vrwZq+2JT2Bebwg/bY23HJGcZiE1Se3n7NwuBtItqBu+vB8LmT9GYDaR4RGO8eyk8sgXajq/0zOeZdr04eUa7hESegerXrMQCXehVz1oOTWdJWnc1QXlGrtEWkAO4653Pp8RsggVjIDUWAhvCzW+V+5pCiJrv1nbq34Lb2l27h3c+BXrKbdU7gByDmVyjiQe+28mD83Y6lJWk9Z0Y0dFTd5Bua0bT4NhsvFED3zq11IfKBpOCsajkoFfhoqUdDuU/i2BNZHchOVtti6LAsWVwfmeFt0tUPgnKhRBCXBWzWWHf+VTb61Fta9MwRM22O7xNhMO+qw7H2RKoWT8EBXm74pl+Dr69BQ78pO7YZCjGYR+xvsk0lMhu1+AuVJl28x1znQXlZgPkFl2upipcsPSUWz8smq/iocHBC6kOry8VmK9uc/QPNRO9Ry2YtBL865b7mkKImm/6rS2ZNaEDr41qWfLOFcS+p7x7w0D2vjTQ9vAyLcfAheRscgxmzApsO53/MJLABnzmMhGjosU78QBRe95ljuu76DDRIsIXLWZAIcdY8UF5YoaaQC7Qy7WEPSHUxx1XnRajWSE+9oT6UHvhWPiqP/w9TR3NdJ09RBZFk6BcCCHEVYlNdhw6d3fXKNuydXid1eFLabZs7NYEZXe6b4PPOkPiCfAMgsmrYdxClLYTQHNt/0xlFdVT7uIOrpYM75kJXE+sDzfq1lK/19Ys8uVxxq7GubuL1qH8jo3JCGteV5c7TgavwHJfTwhxY/B01XNzyzCHTOyVzX5OuY+bmrTS1xKop2YbOJ+c3zu+7Yzj1KTvGUa33E+51OMNzC7edNIe4zX9XO5kFdvdHuFn12nkJsZS0awl2EoTlGu1GuoEeBCtuUTI/H5wcHH+xo0fwmedYEZHSD5X4e0UFU+CciGEEFfFOgfOqm6t/DpmzpK7zdl0BkwGUi+f4S7d3zyV+ZHaA12/D9y/Mr/8WBXIzMvvKc8rODTRM0D9mpXE9cT6cKO2v/p9v5pEb9ZzjetUlwPTBjOxW7TjDooC27+AhOPgEQDdHi/3tYQQojLZ95RbSy1ah7CnZhscHig79JSjPpSNpxaZrSeSMuA9AMbr19D/1FsEadLooD2B/3f94OymCm2ztbxloHfpSku6aeF9l1noDRnkBrVUH2qPmgXRPdUEnIknYOULFdpGUTkkKBdCCHFVdsekOLyu5en8Cb+rXv2T4394Phmv1uG29YOZ7jIHF8UAjYfAhCUQ2KCym1usbLue8tyCiXw8all2KrruelWwluYJ8lG/71dTpzw+XQ3KQ33dHWq4A2DIUYdGrnhefd17Krj7lvtaQghRmYK88gNba5UKW1Bul9ME4HRCJvFp+dN1rCOl3PRaNC1v5xnDg/xjakmOXwP+pCdHzXXR5STBr/8Cc8UNY0+09pR7l9xTDjA5cD8dtCdIVzyYXWe6+lC77Ti49w94YI2607Hl193DZFGYBOVCCCHK7d0VR/lyw2mHdVqt82Rsj7bR8XnEX7zh8jXemhwMio6LSgCXOr8IYxeAtoikYteQ/ZzyQj3lrj6WDRlcT1KyrcMd1Q+gxqsIyq095U5L8ez6Bo4vB60LdH8COj5Q7usIIURls/9bZM2W7msJyo/FpTNr/SmH/T9be5KnF+0lLi2HXKO6v5tei7e7np9Mfbjb8DzGR7bzuttT3Jr3CiYXb0g5B7FbK6zNyZagPKAUw9dJvcDIpDkAzDYOY2+qt+P2iLYQ2kodibZvYYW1UVQOCcqFEEI4UBTFNoTO6scdMUxdvI9Lqdl8v/Wcbd7bZ2tPOTuFg2X/6sCcRpt5/PBYhiZ9D8CXxmE0zv2W/9VbRPiQZ0B7ffw5KnJOOYCb5QPPdRSU5xhM5BjUdlp7Vq4m0dvlNPX/PdSvQFBuzIPNn6jLQ96Gga+CTqqqCiGubx+PbUuQtxsvDmsO5Afl7644ZtvH+hDy2y3nWLL7And+sQXrs01XvRYXnZaVT/VixZO98HbT4+6iIxt3kqKGqDvt+6HC2ptueTDs4+5S/I4JJ+DL3uhTzpDnHsRc083sOJvEtKWH2H8+JX+/dhPUr6tegiN/VFg7RcWTv6hCCCEcvLviGJ+vO8WsCR24uWUYiqLw7M8HAFi08zwA647FM/sex7nf3RsGcm+3euoLsxn2/wg7vqLZpb00M1t6oOt2Rml3Nz+vi8Q9OZvnhzW7ZvdVGuft5hjmFgzKXS0lanKvj6B8zdE4Plx1AlDLoVk/bF5NSbS4tCJ6yvcthLQL4B0Gbe8q9/mFEOJaGtm2NiPb5pdhsy+LZtUhuhZ/7r9ke30uMf/vgJulLGTjUB/bOmuulMt1hhB88ic4taZC2pprNNkeBnuXlBBvywzIvAIhzckZ9S3GmafJzjbwzeaz7DibxJ+P91T36/QAXNgFBxbBLw9BgxPg6ln8uUWVkKBcCCGEzaXUbD5fp/Z+v/HXEW5uGcZFJ2Wx/j4ST3y6Y2/6/Mld8l+s+p/6ocHKPwp6/hva34NGo+HHpnlkG0yE+3lwPdlwPD+zeqGecmv29bxMrgezN5zhgKWEmaerDhfLaANrUJ5nNNvm8RfnZHwGbnotIb5uthEQDkF52iXY+IG63G2KmoleCCGqIWdBed8mIQ5BuT1nv0M9XNR1cbXa0kqjg9RYSIkB/8iraltmbv5ILS/XYqZzmc35vd6Dp+Mb0ZhlT9Tmkfm7OXwpjRNxdg+OtToYNRPO/gPpl+DCTqjX66raKSrH9TFeUAghxHXhc7vh6FcsQffxy+mF9vNy1bHsQP6HmHn3d1IXks/B70/mB+R9X4QnD8CT+6HDRNCoc/z8PV2vm4D8+/s725ZjkvJ7SAoPX7fOKS/8/agKZxPzHw6k5xhtMwBMZoWfdsbS4uXl/H04zumxu84ls+5YPGcSMhn6yT/0fW8dfx+OB9QPof6elg+uF/fAzK6QfBa8QqDDvZV4R0IIUbkKBuVPDmhEhH/+g0YPu4ohOq3GVtfcnrWnPFNxh7qWv33r3oK0i1fVNmtOEw8XHfqCiTbtXdwNWQng5qtmWQeig7x47442APh5FnjwoNNDVHd1+dzmq2qjqDwSlAshhADU7LQ/7Iixvc42mMgxmGxlY7o1yK9HHeHvwdpjVwB4cVgzejYKhsxE+Hog7Jqr7tT9Sej9zFX3HlS25hH5GcSz7TKuWxP92FxHw9cVRSE122B7PbhFKDrLAw+TovDM4v0YTAqTv9tZ6FiTWeHeudu5d+4O7vxiC3lGM0azwlcb1YR9TXxy0BxfAYd/gyUPqtnmw1qp2XzdvAudTwghqgvfAnO1vd30Dg+I6wV52Zbdihhp5Gnpxc7MNeU/qNw7Hz5sAft/Knfb0nPUoNy+lJtTJ1aqXxv0BV3+/Vh79Qs9UAaI6qZ+laD8uiXD14UQQgDw5fpTGEwKXeoHsOtcMgaTQlJmHvGW5F8NQ7xpEOzNvK3n8HHXczJeDU5b1/EHkwF+mggZceAXCaM+h+geVXg3pafXOc8WX/Tw9aoPyjNyjbakdH8+3oN6QV4cvqjWiy9YEi0lKw9/uzJ1iRm5tg9/1tEQ3bQHufniDh5zSaBbzjFYmOVwDkbNguAmlXU7QghxTRQsNebpqicqwBN/TxdSsgz0bRrM4Uvq79Kipv9YA/v0HAN0GqPWA9/+JZzfriZUaz4S9KUraWYvw9JTXuJ8cmtQ3miQw2q30gTlsdvVxJ3laJ+oXNJTLoQQgtEzN/PtlnMAPNq3oa0cS1Jmni35V4iPG4NbhAGQkJFnq/va2D0VfrpXnbPm6g3jf4R6PW1D1a93LkVkfs8tWBLN7fqZUx5neVDi466nRYQfnq562zDLgiXRbpmxiS2nEm01yC+nOeYI6K3dxwLXN7hHv4r+uj14KFkQ0ADqdlF7yHv/F8JaXoO7EkKIytWlXiB6uyHpXm46tFoNq5/uzTu3t+b+HvVt24pKmmlNqpmWY1D/zrW+Qx1J5BMO6RfhQPl6yzNLE5Snx6nTigAaDnTYZH2IUGiUF0BQE/AIAGM2XNpXrvaJyiU95UIIcYPLyDWy81wyAK46LT0aBlHL05W4tFw1KLf0pob4uuPlpg7bs8697u0Vg//cB9XeY40WbpsNoc2r5kbKqaie8lxDET3luVU/p9z6oCTULiGbNSg3mxVqebqQnKUOb49JymLc7K1EBniyYWpfWy3yxqHeNA1y5eXzCyAXzgX2IMa/M13btUHffMR1U6ZOCCEqip+nC13qB7LxpJrU0xoAB3q7cWfHuih2JSUNBR/MWvhahpenZRvzV+rdoMu/1J7yDe+qI8VqRZWpbeklBeVmE6x4Tl0Obws+oQ6bXS3z0M0KGE1mx3npWq3aW370Dzi3Cep2LFPbROWTv7hCCHGDO5uQ3/P77aROaDQah57yeLsA0P7DQgQJfMI7akBeuwNMXg1Nh17bxlcAvZNEPgCJlkzkNtfR8HVnpcu0dnPK7YerW1kfpFgfskQFevFJ9GYCc2PBO5SoBxbS8+6X0LccKQG5EKLGGtwiP5j1dHUMgDV2I7ycDgMnv6c8PcfguKHDvWpCzOQzMKsnXNpfpnZZe8qtD78LWf0qHPwZtC4w4OVCm+2H2+c5e6BgHcIes6VM7RLXhvzVFUKIG9wZS1B+U1QtulqSuVl7YC+mZttKn4X6uuHlpqePdi/fuLzNarf/4GdKgpAWcM9vULt91dzAVdJoNLg46S2PKzDM+3oavm4dgh7i62ZbZ+3xN5kVsvKMTo8DOBmXzk2aozyb8Dysfk1dOfA1cPct8hghhKgpBjYPsy276oueZlXE6HV8rD3lOQV+z7r7weRVENEOclNh08dlaleOJdGom4uToNxkzE+iOnIGNOhXaBeHoNzpvHJLBvZTayH+aJnaJiqfBOVCCHGDs9a6bhSan1k7OlDNQHsiLsNWuzrExx2/ixuZ4/IufXT78NDkkRvQVJ1Dbi0XVk3pnfQMxxcMyq+j7OvW5Hv2PeXW7OsJGXm2OecFZeeZiDl3iu9d36Rh2jZAgTbjofWdld5mIYS4HoT5uXNX50jaR/rTsrZfmY+3JnpLyzYU3lgrGoZ9oC4f/QOyU0p93lxLIO2udxKUn98BOangUQta3eH0eL1Wg3Xgl9OgPLwNNBwAplz4eTIYnf+dEFVDgnIhhLhBXUjJpt/76/hyg1oKq2uDINu26CBPALafSQLARaehVuIePP94CK1GYZmpI0Ny38T1sc3gX/faN76C2c8rt5a7iUvLdZhfiOv1U6fc2ZxyrZNh+H893pOjr91se52clUf/xAW4awzkhLSFx/fArTOrTVI+IYSoCNNvbcWSR7rj5iQAHtBMHd7+zGDnFSccEr05E9EOgpuBMQf2/VDqNll7yt1dnIRnJ1aoXxsOAK3z4e0ajcYu2ZuToFyjgZGfg2cgxB2AI7+Xum2i8klQLoQQN6h3lx/l9JX8odj2dcgbhagBqJphXeED96/QzBmEJiuRg+ZonjQ8ykX3hmiK+HBQ3bjaJcSJDFAfSGQbTLYSNYDj8HWliHGN18hlJ0G5s7nx9YO9cHfR/b+9+w6Pqkz7OP6dlt4IJIFA6L03KTaKgCJiWXtZ27r23nV11X3XddW1113d1XXtvTfEhlIEpIP0FiCElt4mM+f940xNJsmkt9/nurxm5sw5Z56RAzP33M9z36TEm9Pc9+/eyunMBcA19c+Q3LvSMSIi7dmDpw7j3csncuXkPiGf97dEq2KZkMUC4y4x7//wd9jwVZWfGV+u3sO5Ly5kb14JJZ7iopV+KDAM+O0z836FNmgVeT/LQq4pB7M43DDPzKjMJdWeS5qWgnIRkXZq2wF/L+qBnePpFOdfnzyoSzzdOkQDcLrtB2a75pq9WEedR/EZb9ItpQP/vmBsk4+5sQRmypNjI3z9XnMDpyd6p6+7y5t92p93+npawJpya4Vs9+0zBxLlWZuYHBNBFKV0+epSIi1OfnEPJKb/lKYbsIhIK9ExLpKxPZODir4FSoj2Vl+vIlMOMOr3kDYUig/B62fAvyZD0cFKu13+6q/8vOkAD3y+rupMefY62L8BbJHQ/7hK5wgU4QnoqypSB5iZfIDdv1Z7LmlazRqU//jjj8yePZv09HQsFgsffvhhlftefvnlWCwWHn/88SYbn4hIW/Lxit2M/9s3LN5mfjEIDDgHdQku8mWxWDhpZDrdLNncY3/F3HjMn+GkZzhs6CDm3jSZsT2Tm2zsjS1wTXm0w0ZSjJkJySkKDMr9a+6bswK72234eo53TqzcEg3g+mn9uHySP8szpmcH/mJ/mZTcVRwy4njQcQUWVVgXEam1eE+mvLDMRXlVGWl7pFkAdeLV5mfHnuXw06NVnnPrgSJff/GoioXelr1q3vadVmNBTu8PytUG5d6irHtWmgXkpEVo1k/kwsJCRowYwTPPPFPtfh988AELFy4kPT29iUYmItL2XPvGMvbmlXLruyspLC1n+wH/1PWj+nWqtP85Set4M+KvxFlK2Bk/Ag6/pimH26QCq69HRdhIijZbigVlyq02cJhT25uzV/nBojKcLgOLhaDZDYHT1ytOfzxxcAdOtM0H4CrnteTF9mqawYqItDHe6utQzRR2gNhOcOz9cPrL5uNfXoDt/nZk3sw4gMvtptQzfT0oU774RVjoiZNGnFXj2Lxryqucvg6Q3MeskVJeDPtUhb2lqKI7fdOYOXMmM2fOrHafXbt2cc011/DVV18xa9asGs9ZWlpKaal/WmFeXh4ATqcTp7OaaSa14D1PQ51PpCnouhWvrfsLGX7f1752L3fOHMAJQ1ODrg3Lrl9J/+IiLBaDTKMTO496hM4uN1T3Qd/AmvKaDQpobRbio8yg9kB+cdDr2yNisTiLcBblQnzz/F3KzjWXHSRGOcDtwuk2v9i5AzIedqsRNO6MvGVEWZzsMZKZ7x7C2Gi7/i1oJPq3VlobXbO1FxNho6jMxYGCYuIiaiiU2WMSth5HYt3+E7x0HO5+x+I69WW2Hyzz7ZJb5PS1snRYPX8WuZnYP78VC+CaeC3uvsdBDX9GDs9nWVFJWbV/nrYuw7Fu/5nynUswOoYuaNfStYbrtjZja9agvCZut5vf//733HLLLQwZMiSsYx544AHuu+++Stu//vprYmJiGnR8c+bMadDziTQFXbft08ZcC+DPnro8EfnQDm7SctbwxRdrgvY/bOtTpGOwI24Ur3e4kkF7dvP5nt1NOWSfprhmiwttgPllJnt3JqVlAFZ+WrwMY4e/QM8xTgtxwMIfvuZg3PZGH1co2/IB7NjcZXz++ee+7YVOczvAhnVr+fyQ/8904M43AJjnGgZYKC84GHSsNDz9Wyutja7Z8DkwPzO+/OZ7MuJq3J2IhLMZ2sFN15xFWDd+xY+v3s+P1vF4P5d3HSoi1l0IWFm/dg2fH1hNr31zGG64OBjbl3nFY+CLL2p8He9n2c8LfyFnfdUFSQcXJ9IP2LnoI1bu7hDOW26xWvJ1W1RUVPNOHi06KH/wwQex2+1ce+21YR9zxx13cOONN/oe5+XlkZGRwYwZM0hIqH4dRricTidz5sxh+vTpOByOBjmnSGPTddu+lJW7fdPYth0o5K7nFwGVp9nNGjeQ44/sGbwxZzv2ZWZV1i7nPMVNKQMbebShNeU1++KOhewqMmdWDejbi5xiJ6sO7Saj9wCOn+SvUG7b8whkZTNx1BCMGqrgNpZ5m/bD6l9J6ZDA8cdP9G3PL3Fy55LvABg5fBjHj+1mPuEsxv7c7eax7mEA3HryeA7r2bq/iLVU+rdWWhtds7X39Oafyc0uZPjY8Uzs3bHmAwA4E+P7B+DnR4jN/Jb/lBzue8aNhVyigRIOGz2S40d0wfb6vwFInHAex0+oebYwwCu7fmFnYQ7DR47m2CFpVe5nWVsGH3xOj4gcuh1/fJjjb1law3XrnbEdjhYblC9dupQnnniCX3/9tcrqh6FERkYSGRlZabvD4WjwP7DGOKdIY9N12/ZtP1DIzCfmccbYDO49cQgfrsgiv6ScDjEODnkKl0XarYzqnsTph3WvfD2sfB0woPcUHOnDmv4NVNAU16wjoCVabFQEVk8RtLxSF3a73f85FJ0EgL28EJrp75F3CWNCVPD/l0h3wBT8CM9z5WXw3V8gfzf7rSl87R7LPbMHc3i/1KYedrujf2ultdE1G76E6AigkCKnUbv/Z+P+gDH/cQ4z1tLfspMNRobvqT25ZgHP2KgIHK4i2P4zALbBJ2IL8zWiI8zQrtywVD+uLkMBsB7YhNVuN9u4tVIt+bqtzbhabOnVefPmkZ2dTffu3bHb7djtdrZv385NN91Ez549m3t4IiIt1uuLdlBU5uLl+dsA2JNjftBfenQfjhvSGYDnzxvDm5dODCoUBkB+lr/S65gLm2jEzS8wKDerr5uF3l6Yt5U/vrLUv2NUonlbktuUwwtS4InK46KCf1cPrL7usFmgrAj+PR0WvwBAxPF/5b1rpnLRESryJiJSHwlR3rZotaxentiVPV2OAeCPts9C7hLlsMLGOWb7zU79oWPofulVHktwEbmQknuDxQqleVCwN+zzS+NpsZny3//+90ybNi1o27HHHsvvf/97LrroomYalYhIy9chNsJ3v8TpIivP2z4rkssnjWZvXmlQKy2ffRvglZPMD+iEbjCgdU5pq4vgoNyKPeDxN+sCvrD4gvKcJhpZZfmlnqA8MvgjPLBPucNmhRVvmG14opLg+H+QMPx0hjbhOEVE2qqEaDMDmldS+yJjP3Q8k7N3f83p9h85QCIfJl/Cb9n+biiRdhus8qwfH1B9QeyKvO3UimsKyu2RZmB+YBNs+wmGnVar15GG16xBeUFBAZs2bfI93rp1K8uXLyc5OZnu3bvTsWPwGg2Hw0Hnzp0ZMKB1VgkUEWkKMRH+gm6PfL2eX3ccAiAtIQqLxRI6IAf44hbI323+Mn/2m2CPCL1fG2QPaIkWHWEjJiL449EwDHMKewvOlAdWkLdbMNvvAEy6DYaf3lTDExFp8xKivEF57TLlbrfBUxs6sMd5Gjc63uVy+ycMjUrgxvjfkZ1vdo/q4iiAjV+bBwwIby25V3S4QTnA0FPhhwdhwTPm/VY8hb0taNbp60uWLGHUqFGMGjUKgBtvvJFRo0bx5z//uTmHJSLSqhWV+T+MX5i3lRJP79O0hCqCcYBtP8OW78HqgHPfrdV0ubbAbvV/HEY5bCTFBK8DKy33tIKLSjJvS8Iv3tLQCkrNzEx8xUx5QFCecmAJ7FsHjlgYdW6Tjk9EpK1LiPZOX69dpjy32Mnu3BKedP2Om52XAXB49uv8vsch3z49Ft1jTitPHQLdxtbq/N5Mufdzv1qH/RFskbD7V9ixoOb9pVE1a6Z88uTJGEbV5for2rZtW+MNRkSkjfAG5VEOK+Uug3K3wdCuCfRIrqItpGHAd/eb90f/Hjr0aKKRthyOwEy5w0ZSdPAsgVKn2/yy0wKmr+d4ivXFRlb9Ed5t8+vmneGn+8csIiINIj6q5unr8zbu48Nlu7ntuAGken4UP1Rk9iaPi7ST2fUUPt65khNtC7jU8SXrhl3JxSkbscz/ACw2OPkZsNqqPH8o0RHeoDyMTHlcCow8G5a+DEv/Cz0Or/EQaTwtdk25iIjUjffD+PyJPZk2KI09ucWcOCI9dCeL4hz46VGzyqstAo66qWkH20IErSmPqJwpLyl3kYgD4j0tZnIzm3J4QZZsNzMq/dPiKz1nxc119vfotMOzHnHsH5pyaCIi7YJv+no1hd6e+34z8zcfYHdOMa9eMh6ny02OJ7OeFOPgxQsOY/OK2+Dzk4lc/xHPXnUnfPGOefD4yyF9VK3H5VtTXhZGUA7Qd7oZlO9fX+vXkoaloFxEpI0pKjO/JEQ5bIzrlVz1juWl8NLxkL3GfDzxKkjs1gQjbHnsFTLliRWnr3unAnbsZ97u32TOMKjHGrxyl5tv1mUztmeHylXwq3CgoJSt+wuxWOCIvhV645YV8nnHJxlY+Iv5ePzl0GV4nccnIiKheaev53sy5Rv35nPvJ2u47pj+vs/dXE8AvmDLAfrc+TkdYhxc7Ol+kRTjIC7SzohxU2DVBNi5EJ4a7X+BcZfUaVy1WlMOkOzpxnFoW51eTxpOi22JJiIideOdvh5Y8C2kHx40A/KYTnDmqzC1/dbzcFRYU15xvXZJuecLjq+NTC4UZNfrNf+3cDuXv7qUk57+OexjvFMfE6IcvumTPktf9gfks5+AmQ/Wa3wiIhJaxUJv/12wjZ83HeC9pZkcKizj7cU7OVBQFnTMoSInj8zZAECHmIAlUqf9B7qN8z/uNcn8rKmDsFuieSV5lqsVHzJnzkmzUVAuItLGFIcTlGcuhZ8eN++f8BgMmg3W9vuRULH6esWp/r4vOI4o/5eY/Rvq9ZreVmu7copr3PetxTu4/7O1vuq8idGOyjtt8wT3fae3qx7zIiJNzdcSzZMN/2XrQcDMUE979AdufW+lrx1pqAlVQf/uJ3aFiz6HIb8zP1/q8YOqN1P+6co9lJaHEZhHxkFsqnlf2fJm1X6/gYmItEKl5S7cbrNA5uZ9BSzbcajSPt5MuffDOUhZEXxwBfx7OhguGHIKDD6xUcfcGgT3Ka/8/81XfR2gk2cK+4GN9XrNin3Gq3Pbe6t4Yd5WbnxrBUClNe8YBuxcZN6fdFu9xiUiItWL97Sk3JVTTFZuCRv2FgDw5eosDhQGZ8g7xvqXJ2UkRwMwrmeFpWU2B5z+Ely3AlIH1XlcUQGfX68u3BHeQR16mrcKypuVgnIRkRYsK7eE/QVmdjTzUBEj75vDNW8uwzAMjnnkB055dj7Znl/jvbxrySr22qa8FN46D1a8bgbkvafA8Y80yfto6SpWX68oaCpgp/7m7f76BuUhst0hBL62N/NSKVN+YDMU7Tfb22gduYhIo0oIWD404YG5vvtlrsqtyDrF+aeqf3rNUdx23EBunN4/9Inr2Svc+30BYM3u3PAO8q0r31qv15b6UVAuItJCFZaWM+GBuRz54Le43Aa/bD1IsdPFZyv38MGyXb79Kk5/zvW0zPL+kg+A2wUfXwub54IjBs7/GM7/EGIrFAtrp+wVqq9XVBrY87VjX/O2ntPXA/98XG5/e9CC0nJ+3rTf1zLU2wItUELFoHzdR+Zt19FgD69onIiI1E3Q52sNZo9IByA2wkZitIMrJvfxtUhraIHFXVdlhhmUK1PeIigoFxFpoTbszQegxOlmd04xhwKCsxvfXuG773QZQcftyTWD9C6Jng/9g1vhX5Ng5Zvm4zP/B70nNeLIWx+H1Z+diLRX/mgsKW/4THlspD/4965LBDjznws498VFfLUmC/AXdwsUlCnP3QU/emY8jL6gXmMSEZGaRYVaHubhnaIOZiD+x6N6c8/swXxyzZGNPq7h3ZL478Vm0biN2QUcKqz8+VGJNyg/qEx5c1JQLiLSyA4WlvHrjkMUllbdzzSUHQeLfPc37SsImpYWyNuSBczsurcabJekaHOt8cfXQNYqiEw0q3L3nVaHd9G2edeURzv8Rd5euugw3/NBmXJvUJ6zA5w1F2mrihHwW8pBT+Bd4nSxZnceAF+sDg7K+6TEcnT/FADS4gOyLN/+HzgLIWM8DD+zzuMREZH6G9vDn62Oi7ITYbdy0RG96J0S1ySvP6l/Cn1TzddavO1gzQd0UFu0lkBBuYhII3r4q98Y/X9z+N2z87ntvZW1OnbzvkLf/S37CtmXX1VQ7g/29+Saa47jI+1mIbE1H8C2eWCPgst+UFXuKninrwdOXZ8yIJUZg9OACpny2E7giAUMyNtd59d0Bqw99P5gs2DLAd+29CQz2/Lpyj0AxEc5eOT0Edxy7AB+P9FTAd4wYP0X5v1p97brCvoiIi1B706xvvshC642gcM8heTCC8p7mre5meCqvFxKmoY+vUVEGsm2/YU8891m3+OfAtYJh2P1Lv96sM37CnxB+Z+OH0REwBro/BInbrdB5qEi9noKgaUlRsHOX+Czm8ydjrjOX8xFKvEWeqv4BcrhmcruDKy+brFAdAfzfj36ugYuOygsNYP+uZ42aeCf0v76IrOCbpTDSkp8JFdN6UtyrKdw0KGtUJIDtgjoOrbOYxERkdoZ26OD737ngDXiaQH3bdb6FW6rq/GeteXeVm3Viu9s/nBvuCB3ZyOPTKqioFxEpJFsO2Bmunt2jMFhs5BT5CTzkDnd2TCM4IreFRiGEdTubHN2AVmeLHj/zvG8ddkEX0utvJJy7v1kDUc++B3v/ZoJwE3lL5ptz4oPQtowOOrmRnmPbYXd88UpyhH8sWj1TGWv9FNKdJJ5W1K5JV24Aqv05haXsXDLAb5c7Q/Kc4qdQdfIeRN6VD7J7mXmbdpQsEdUfl5ERBrFvScO8d0PbFMZF1AErrmC8sM8Qfnq3XnkFjm575M1PPDFutA7Wywq9tYCKCgXEWkkuZ5MZ3pSNCO6JQEwZ60ZdL29ZCcD7/6SLz3rhitaszsvqLDb8p05rPcUfuuaFM2o7h04Y2wGAA9/tZ5XFmwH4P1fdzHYso2ZRR8DFhh5Hpz7jgK2Gngz4hUrr3u/T7krRuUNkSkPyL7f/dEazvrXwqC6AXnFTt9yhGiHjVnDulQ+ya5fzdv0UXUeh4iI1J4jYMZaYEeMwMrs0RVbkzaRrknR9E6JxeU2uPndFbz08zb++cOWqmvbeNeVq9hbs1FQLiLSSLxBeVKMg1nDzYDqG8/05NveWwXA5a8uDXns3HXZAEwblMphPTtQGhDAdfWsNU6KcWDDRQ9LFsdYl3Ki9WcyLHu5x/GKuePQU+HkZyAhRDAnQRxWf6G3QL5MecVlB1GJ5m1JTp1fM3BNeah6AbnFTnZ5ZlZ07RDtK0AXZPdy87br6DqPQ0REas+77AmC+5bHRtq58/iBxETY+EtANr2pnTfenF3lTQaAOQMrJG+mPLuKbLo0uub5+UZEpB3w9pdOjHYwobfZD3xlZi7lAcEYmAFfxYDr29/MD9EZgzvzu9FdufClxazetJXZtgVEz/kWyku4dO8mroxeit2o/CFbZo0mYsqdjfG22qREz9RD31ptD4svU14hKPdOXy+u+/R1Z6X0u6ljbAQHCsvILXaS5akR4GtvF8jtgj3LzfvpCspFRJpSYKY8sE1llN3GpUf34Q9H9m626esAGckxlbblFJX5ftgP0mcKLHoOVr4N0+6ByPgmGKEEUlAuItJI/EF5BP1S44h22CgoLWfCA3OD9jtQWEanuEjf4+z8ElZkmkXepnS3Yv/8Rl4u+B57lGda2WLzxhem2aPZH9kNV8E+0iw57DMS+GXYA8zq2Kcx316bMnlACn85aQhH9UsJ2u7NlFeKn6OSzNsGmr4eqH9aPAu2HKCs3E2Bp91dYBbG58AmKCsARwykDKjzOEREpPYi7IHT1+2VtjdnQA7QMa7ysrWcoioy5X2nQ8d+cGAjLHsVJlzRyKOTihSUi4g0ksDp63ablWFdE/ll20H2F5RhtfgDvR0Hi4KC8h/W7wNgSpdyUl6bDnm7/P9Ydx4O/WZARIzZlqv3JOg0gM8W7uCej9dgwY0F+Hu3kU32PtuCSLuN8yf2rLTdWlOmvIGmrwca2jWBBVsO4HQZFJaZhd5iI0O01fGuJ+8yAqzN03ZHRKS9CsyUx0bYmTowlbxiZ1BLtObUKTay0rYqg3KrFSZeCZ/eAAufg/GX+6eKSZNQUC4i0ki8RbuSPNPa+neO4xdPz9D/XHgYz32/mUVbD7LzYBERNis/bdrPGWMz2LArm/Nsc7ihaC6U7oLkPnDcA9B1jNkjO4QYT4EyAysG0Ce1ZXwpaO38a8orPNEQmXJX6OnrY3ok88K8rbjcbl8P+rjIEJny3d4ib5q6LiLS1AIz5Varhf9ceFjI5WjNJTlEpvyuD1f5atxUMvws+PwWyNlu9ixPymjkEUogBeUiIo2gxOni5037ARjUJQGAM8d256s1e7n0qN5MHpDKZyv3sGjrQbYfKOKDn1eRuOsH5n+zlJusvxLlcEIpENMRznuvxh7jMQEVXuMi7b5q71I/3i9X7orz173V10tyqauyEJnynh1j6JcWB0C5y/BVyo2rmCnP3wsr3zLvZ4yr8xhERKRuAgu9eWdVtZSAHCA2wkZ8lN334y7AoSInpeUuIu0hZldFxEDKINi7CvasaJKgfFN2AS/9vJWrpvQlPdRa93ZEQbmISAMqLC1n7m/ZvLpwO+Vug8RoB0PSzaB8WLdEFv9pmm/fHh1j6G3ZzdjVb/HHg18QHVHmey7T6ET52MvoOfXiKrPjgWICgrYJvTtit6m5RkOouiVaknlbr0y5Pygf3yuZmUM7c8HhPX297J1uNwXeoDyqwsf1V3eaPwh0GQGDZtd5DCIiUjferh3gn1XVklgsFp48exS7c4rpnhzD7//9CwB7ckroWdUU+y7DzaA8ayUMOqHRx3juiwvZm1fK+qx83r3i8EZ/vZZMQbmISAN6Yd4WHv9mIwBRDiuPnTkidIDsdnHS1r9wdeTHcAiwwDp3BvPdQ/nENZHlRh8WTZoGsSGqbocQG5ApP7Jvx4Z4K0JgobeKLdG8mfKcOp/bG5S/dNFhTBmQ6ttu92RfXG7DF5THRgZ8XB/cCqvfBYsVTnhc68lFRJqBNaCQW8sLyU2Bny29U2LZsq+Q3TnF1QTlI2D5a7BnZZOMb2+eucxvyfa6dzJpKxSUi4g0oM9X7fHdf/bc0UwdmBZ6x5Vvk7HzY9yGhbnu0bxYfjzLbYNJjI4g29OzOjW+cpGWqgRWeT2yX82ZdQmP939rpT7lDdESrdw8Z0SFH23snuyL02VQ4FtTHvBxnekpv991jPqTi4i0AC0wUV5J16RotuwrJDOnuOqdOg83b/esaJpBiY/mN4qI1IPLbfDaou3sPFgEQLTDzFpednTvqgPy4hz4/m8APFR+Jn903sQiYxBdk2KIdPj/Wa7N2rRenl+9I2xW+qTE1eGdSCiWmlqilRWAq4pqtjVwus1Mub1C25zAx3melmhBQfkuFXgTEWlJWtJa8qr06Gj2LV+9K5cdB4pC79R5KGCB/N1QsK/pBicKykVE6uPTlbv50wermfTwd7jcBrs8v0DPHpFeeefC/fDNffDiNMjZgZHQlf+6Zvie7pIUxbVT+wFwQlXVUauQHBvBD7dMZsEdU1vFl4PWwuJbU15x+nqi/34dsuVut8GBArOGQNDUdPzT18HfviYoKN+50LztdlitX1dERBpeS1xTXtHwrkkAvLJgO0c//B2LPd1ggkTGQ8c+5v0sZcubkqavi4iEsD4rn8XbDnLSyHTio4LbURWVlXPui4uY0Lsje/NKADOT+ubiHez3BFrdOlSoIrpzMbx5NhR6fnmOTMRyzlsUP77Dt0tClINTR3ejd0ocg7rE13rMPTqqDVpDs1aVKbfZzcr4RQfMP9O41MoHV2PzvgJyi51EOawM6Bz8Zx3Y+9bb694XuJcV+tf6dZ9Qq9cUEZHGYW35MTmje3QIerx6Vy6H9UyuvGOXEXBgk/lZ03da5eelUShTLiISwvVvLeeuD1cz7N6vfdlvr09W7GbZjhye+34z2wOmgP3pg9WAmbVOivH0By3cD1/fDa+cZAZvqYPhlH/CNUuh8zAm9PZ/IDpdBlarhTE9OgS1OJPm41tTToie4rGeQLxgb63P6y1qMzIjKSgIh+D6AN5Cb/He6uuZS8BwQUI39ZAVEWkhqiyc1oL0TY3jhfPHkpFsJg2ycktC79hE68rLyoPbgpaHaBPanigoFxEJ4HYbLNpygHV78nzbbnp7edA+ecX+np/LdlSeutw31bOm21UO/zsF5j8JzkLoPRku+QZGnAVxKQA8c45/XXCl7Lo0O2+mvOLsdcD3Z1iXdXfeaYOhshQV15iDJ1NeVgiL/mluUJZcRKTZvfHHCdwxcyAzBldRQ6aFmT44jQsm9gRgd1VBeZcR5m3mEnC7Gm0sm/cVBD0+VFS3+ixthYJyEZEA93++jjP/tTBo28ItB3EFzF/Ozvd/kHk3P37mSN82b19ylvzH7PUZlQhnvQHnvQ8Rwb+md4yL5N8XjGXm0M5cd0y/hn0zUm++Qm+V5q8DcZ4vYYXZtT7vkm3mjzljQwTlFoulUmAeV7bPrEWw/jOzFdrIs2v9miIi0rAm9unIZZP6tKpaLp0TzVare6qqwp4xzixmmpcJ6z5utHEsqbCm/WBhme9+fomT53/YzLb9hY32+i2NgnIRkQBLPdOKR3VP4u+/G+bbHpg531ahammnuAhOGpnO1VP6csqorlwztZ+ZPf32r+YOx/wZBh5fZT/pYwal8dx5Y+gQG9HA70bqy+or9BbiyTpOX9+bV8KOg0VYLTC6e1LIfQKnsNutFiLn/R2y15qvef7HWucnIiJ10j3ZrMK+eV9B5XafYCYPJlxh3v/xkSqmitXf5n3BAfc/f9jMyc/8zN68Eq587Vf+/sVv/PWztY3y2i2RgnIRkQDewm33zB7CWeO6M6m/OUU58Bfdiq1ERnRLwmKxcPOxA3jsjBEkr/kv/GsSlOaa08DGXNR0b0AalL/QW6hMuTcor930dW+WfGDnhEpFBL0C15knRFiwrH7ffHDGf6HXUbV6PREREa8BneNx2CwcKnKSeaiKbPm4S8ERC3tXwbafGmUcgZlxgPeX7WL5zhwe/2YD8zbuB+CbddmhZ6q1QQrKRUQ8XG6D7PxSADonmNO7DutpViu995O1rNuTh2EYvnVQn15zJC9fdBh/P3W4/yQ/Pw6f3wx5u8zpzSc+VWWGXFo+X6G36oLyWk5f968n71DlPoFt0YZF7DZrEkQmQIbWkouISN1F2m30SzW7fmzYmx96p5hk6O9p2br710YZx6GispDbf8sKHtOCLQca5fVbGpX3FRHxOFBQisttYLWYU9IheM3vLe+uYPbwdMrdBjarhf5p8QztmgguJ6z92Fx7teodc+fJd8AR14MjqhneiTQUS1Ut0SBg+nrtgvK1nqUQI6uYug7Bxd5G2baYd9JHgVW/pYuISP0ke5bL5ZeUV71T6hBY8wFkr6v1+R/5ej1uw+DmGQMqrbcvKC2noKScAwEtZAMz9vsLSoP2f/6HzRzRt1Otx9DaKCgXEfHwViJNjY/C7pk+PDIjyff89v1FLPT8YpsY7SDCboX9m+D10+HgFv+JptwFk25psnFL4wlv+nrtgvLiMrOabVJ01TUE7AHB91Bjo3mn65havY6IiEgocZFmCJhfWl1QPsi8za7duu4Sp4unvt0EwAnD0xnUJcH33LPfb+LxbzYGtUPrmxoXFJR7P/8Gdo5nY3YB8zbuZ/WuXDMJ0obpJ3cREY/MQ+Za8cDWZFEOGycM7wLAwC7x7PR8cDxxxjDYOAfeOMsMyGNTYPwVcNEXCsjbEG/C+vv1+yqva/MG5UX7oTz0NLxQSsvNoDzSXvVHcGCht/6uDeadbmPDfg0REZGqxEWZQXlBtZlyT1C+b32tWqOVBgTc8zYG11z5z09bK/Un75sSF/S4wPNDQZ/UOGZ7vn/95ZM1Yb9+a6WgXETaNcMw2LA3H5fb8P1SW7Ff+NnjugOQU+Qk81ARDsoZ+9Ml8NppcGAjxKfD5T/DzL9Dj8Ob/D1I47F6guNdOcW8/suO4CdjUyGmIxhuyFwc9jm9X0giHVV/BDs8a8qtuOlSnmluTBtai5GLiIiE5s2UF5RW0xu8Q0+wR0N5CRzaFva5y13+oHtrQEuzorJy9numrH9z4ySiHFZS4iODMukAecXmmCLtVm6aMYAeliz+uvsSCh4dDV/fZS4XbMT+6c1F09dFpF17bdEO7vpwNTdN789eT//xbh1igvZJjDYrZG/ZX4jLbXCz/X2id84DexSMPh8mXgXxaU0+dml8gUvhPlu5h/Mm9PBvsFqh9xRY/S5s/hZ6HhHWOb1ZhAhb1QUAvcsn0i37cRhOsEVAYrfavwEREZEK4sPJlFttkDoQdi8z/+vYJ6xzlwfMKss8VMzS7YdIiYukxDNLLD7KTt/UOObffgwWglvOgv8zMs2dTcayj/k84mliLaWQB8x/ytypz1Q48fnw3mwroUy5iLRbxWUu7vpwNQCPzNnAzoNmpjwjOThTnhRjBuWx7nwusn3BlfaPzCdOfg6Of9j8NVnaJGtAVB5yXXnfY8zbzd8Gbf73T1u56rVfcbrclQ4pDSNT7i301suSZW7o0EtV/EVEpEGEtaYcIGO8ebtzUdjnDvzcm7dxP6c+N5+zX1joWyKY4Ul8JMdG0CE2gs6JlQvidrPs45qNf4B5jxBrKWW3kcyL5TMpGXmRmb3f/C32/xyD3VVFS7dWSJlyEWl3tuwr4OKXF7OtQr9x/5ryCplyh5uH7P/kRNt8oiyeqV6jzoOhv2uS8UrzCVjaTaiYnN5TzNvdy6DooNlGBnjhxy1k5ZVw/sQejO/dMegQ3/T1ataUe1uijbP+Zm5IHVi3NyAiIlJBWGvKAbpPgEXPw44FYZ+73FX5w3JXTjH7882p66kJkUHP9U6J468nD+XDZbtYsv0QkZTxvOMxYlx5kDqEazOn8Ll7HOXYmXz40fSdcAm8/XvcA0+kvDi60mu1VsqUi0i789CX6ysF5OBf++RbU24YsPYj4t48hTPsPxBlcbLOncGHaVfBrMeacsjSTGrMlCd0gdTBgAFbvvdtLvNkCnYeqvwrvrfQW0R1QbnVChicYPV8ERo4u9ZjFxERCcW/prymTPkE8zZrNZTkhnXucnflGWIAmTnm52GSZ0lgoPMm9OC4oZ3pb9nJ847HGGrdRpE9Cc59m4/dh1PuySMfKCiDzkPh0u9xT7ojrPG0FgrKRaRdWbD5AF+uycJigU+vOZJPrj7S95zbMNcQd0n0BOWL/glvn48l8xdKiOCKsuuYWfZ3tva9EOxVt7OStilkUA7+VmX7N/o2eafv7TwY/OOPy23g9GQRIu3VrCm3Whhi2U4v617KrZEw4Lh6jFxERMQvNsIMcgtDBOWHCsv8wXpCF+jYFzDg+wfDOrczRKYc/ImPxBBBOUDvg/P4IuJ2pthWAPBz35sgsRvnT/TXcjlY6Ol0EpXY5pZ0KSgXkXblsW/M9lK/G9WNoV0TGdYtkeuO6ed7vnNClJnBzN8L3/7V3DjyPC6KfZov3OMBCxnJMSHOLG1RYKa8iu8Zwa3RPLzT93YeCg7KA1vB1DR9fZZtIQDZaUdDZHxthi0iIlKlKIcZ0JZWaE92qLCMqY98z1n/WoDh/SF6hue70MJnzFawNQg1fR3MpYNQRVBuGIzZ+CQ2i8E6d3ducV7K9vRZAPxp1iDiPZn9A4Xhtx9tbeoVlJeVlbF+/XrKy2uY+iAi0sxcboNyl9v3S23gL69H9evku+8tQMLcv0BZPqSPhhOfojS2W8A+bWcNk1QveE15FVF5bIp5W+jvx+qdvpd5MHj6+r78Ut/96oLyuEgHk6xmtuBgj5m1GbKIiEi1ojyFRkucwa3Fvt+QzaEiJ6t35ZGVZ3akYcBMGHepeX/+kzWee8Pe/JDbvd+/EkIF5ZlLSCzYRInh4IyyP/OOazKRnh8OIu02Th1jfger2Pe8LalTUF5UVMQf/vAHYmJiGDJkCDt2mL1br7nmGv7+97836ABFROqroLSciQ/M5ax/LfQFRYHZ7hEZSb5fYXsnGmYfzOWvmU/OfBCsVuKj/B8iypS3H9aAqLyqmNwflO/37Oefol4xUz7rqXm++962Z6EkRlnoY9ltPug6qpajFhERqZo3U17iDM6Ur97lb0+2MjNgDfn4y83b7fOhJLiFWSC32+Cmd1aEfK6ozPwBIGSmfPGLAHzqnkg+5neswCVe54zvjsUCX63Zy+pd4a1tb23qFJTfcccdrFixgu+//56oKH8Z+2nTpvHWW2812OBERBrCyswcsvNLWbL9EADRDhsdYvwfCg6blYl9zArZl2bf7+mDaZgfQhnjAMjKLfHtn5ZQuX2HtE2Wmgq9AcR6Zlp4gnJXQI/WrLwSX2G3P32wivyaKt169LDtJ8ripNRwEJUSXm9YERGRcHhnanl7h3sdKPDP5toVWKi0Yx9I7gPu8qCiphXtLyyt8jmvoKDcMGDFW7DmfQBeKZ/ueyqwGGr/tHhOHJEOwOPf+Ou3tCV1Cso//PBDnn76aY488sigLyxDhgxh8+bNDTY4EZGGkJ0X/CHROyU26N8ugNtnDuSeQbvpfegnsDrg7LfMLLlHkdMfTNmswcdK2xX4R+2uMVNuTqsrD9jRMGB3TgkfLtvFa4t2hP26GeU7AdhspNMhTj8CiYhIw/FnyoOD8uKAxxXXm9P/WPN241dVnnd3TkmVzwHERNgYmZHk3/DLv+CDS8FVRm63Kaw0/D9CV1zide0x/bBa4Jt1bTNbXqegfN++faSmplbaXlhYWOmLrohIc9uV4/+19+opfXnotOHBO7jK6V2wjIuyHzIfj7u0UrXr/ztpKB1jI3j+vDGNPVxpQQILvVW5pjy6g3lbkgOG4au87rU5u4C7P1pdq9dNLtoKwCYjvcpKtSIiInUR6VtT7g76bCsOmM5eWiGLTj9PFnvjHKjQ9uy79dn846v17DhYud2sl9UC//vDOFK9sw0NwzdtnYlXk3Dh24wICNi9Y/TqkxLH4X3MmWknPPUT5/x7cY3vszWx1+WgsWPH8tlnn3HNNdcA/ul9L774IhMnTmy40YmI1NGm7AJ+2XqQgV3iyfSs6732mH7cOL1/8I7Fh+ClWZC9xnycNhSmVO59OXlAKkvvnl5pu7RtwZnyKoLyqCTPDuVQVkC5KzLo6RWZOWFPW/dKLjaD8o3urtWuPRcREaktb6YczIy4L3Ne5g/EK643p8cR4IiFgr2QtRLSRwLmD9YXvRQ6QH7/ysNJinaQlVdC9+QYunUIqMmTvQ72bwBbBEy6FYs9gtuOHcA5Ly4Cgn8U90oMWHpY5Q/lrVSdgvK//e1vzJw5k7Vr11JeXs4TTzzB2rVrmT9/Pj/88ENDj1FEJCyGYTB3XTa/bDvIv37cUun5PimxwRvKy+C9P5oBeWQCDDgept2r9lPiE7ymvIqdHNHmlwpXGRTn4LSlBD29cW9BpUN6dKy+WGB6wVoANhgZtRuwiIhIDaICiqiVOv1BeeBSvUqZcnsk9JkCv30Ky/7nC8qry46P7m7OJOudElf5yVVvm7d9p5l9x4HD+3bi5JHp/LRpP8O7JVU6JCbgx4S2Vt+nTkH5kUceyfLly/n73//OsGHD+Prrrxk9ejQLFixg2LBhDT1GEZEa5RY7Oe25+WzMrhwAeQ3snGDeKToIX94Bv31mtj2zR8OFn0GX4VUeK+1TWNPXLRYzW16YDSU5lEd1Cnp6Y3bl9jDvXXF41S+am0nH4q24sNJ33HFV7yciIlIHDpsFq8X8sdkMvs0MdHFZNWvKAcZcaAbli1+EXpNg8In8luX/jJvUP4UfNoTRtqy0AJa8ZN4feU7QU4+dORLDCO5+4hUT4Q/KOydEQoghtlZ1CsoB+vTpwwsvvNCQYxERqbOv12RVG5DHRdrpnRILrnJ450LY6pnVE5cGJzymgFxCCu5TXs2O0UlmUF6cQ7kjeMfN+wor7Z5U3TrxnZ6pe12Gc8vJE2oxWhERkZpZLBaiHDaKylxB09SD77sqH9hvOky8GhY8DZ9cBwNmUlhqZtcn9u7Ify8eR8/bP6v+xQsPwEdXmXVYkvuYsxQrjK2qEmVRgUF5YhQcqv6lWpM6BeWff/45NpuNY489Nmj7V199hdvtZubMmQ0yOBGRcC3ZZv7LPHtEOpce1ZvZT/8EwBt/nMCa3bkM65qIwwJ8/WczIHfEwtlvQM+jwKo1uxKaNZyWaOAv9lZ8CGdczT/dV7tOfPcyACxdVVRQREQahy8oD5imXm31da9p98KKN6FoP2yfT1FZTwDio8IIK7N/g9dOg9ydZqebGX8Fq63m4zxiHP7XSIuPxGhDQXmdvonefvvtuFyVfz0xDIPbb7+93oMSEQlXdn4J932yhreWmC2kfje6K8O6JbLt77PY9vdZTOzTkUuO6s149zJ4ajQsfMY88ORnofckBeRSLUs4LdHAX+ytJIdyl7ljxXYuYSkvg9UfmPczxtf+eBERkTBEeXuVBwTiQdPXKxZ687I5/O3R1n/hOyZwanlIZUXw2ulmQJ7cB/74LQw8vvpjKoiO8H+uJsdG1OrYlq5OmfKNGzcyePDgStsHDhzIpk2b6j0oEZFwlLvc/N+n6/hkxW4AjurXiUn9UirvmLkU3jwPyoshIh6m3AlDTm7awUqrFH6mPMm8Lc7xtURLinGQW+z0TQcc06MDw7omMqxrYtXnWf4a5GVCfBcYfFJ9hy8iIhKSdyq4tzuIYRgVMuUhpq97DZhpfl5t+IKiwRcDEB1RTVhZmg9f/Qlyd0BiBlzyDcQk13rMga+RHBPBgVqfoeWqU1CemJjIli1b6NmzZ9D2TZs2ERsbG/ogEZF6MAyDgtJy3vxlJ9MHp9ElKYoZj/3I9gNm1c+7TxjMBRN7BBcGyd8LK9+EHx42A/K+0+CMVyBC/05JeIILvVWzY2Cm3JNSt1utxEc5KHGWAhDtsHHviUOqPoerHOY9at4/4npwtK3KsiIi0nIMSU9ky75C5q7L5oi+nSq1QKsyUw7Qe4rZdeTQNqLzzIRsxUy5DRfsWQHbfoKfHoNCTwG4GX+tU0AOwTPQOsRWU5ulFapTUH7SSSdx/fXX88EHH9CnTx/ADMhvuukmTjzxxAYdoIjIXz5Zy39+3up7/Mu2g9wwrb8vIAc4YXiX4HW6WavhvyeYfcjBXDt++ssKyKVWwupTDgGZ8kOUezLlDpuFSIedfflmUB7lqGE6+57lZhYhKgnGXFDnMYuIiNTk5JHpfLJiN5+s3M2fZg2isKw86PlqM+WRcWb19U1zGLz3E+CEoKD8COsqnnU8Af8MaJeW3Bum3lWvmYplAevcE6srmNoK1Skof+ihhzjuuOMYOHAg3bp1AyAzM5OjjjqKf/zjHw06QBFp33bnFAcF5ABz1u4lIiAA79UpltT4SP8O2b/B/042A/KUQTD+Uhh5rtljU6QWLGFXX/cWesvB6VlTbrdZiY30f8xGOmpYb7f9Z/O2xxFm73MREZFGcnT/FDrEONiXX8p7SzPJSI4Jer7KQm8expgLsWyaw5HZr3OlzUW04xYALLi5z/5fEi1FEJkA3Q6DnkfC+MvqnRgJXP/uqK5gaitU5+nr8+fPZ86cOaxYsYLo6GiGDx/O0Ucf3dDjE5F27qeN+333H/jdMO54fxUAn63a49v+xh8nYLFYID8LPr0BNnwFhgs6D4cLPvFnMUVqyRLumvKg6evmFxm71UJCQDXaKHsNQfmeleZtt7F1GaqIiEjYHDYrs4Z34dWFO7j1vZUc0bcjACnxkezLL6XE6WJVZi5Ltx/k3Ak9KgXBq+OOZEn5sVxk/4pbHW/xy55usP8c3o55mL7u3eQb0cTfsAaiEhpszKkJbXdZV537lFssFmbMmMGMGTMacjwiIkGWbD8IwBWT+3D2uO7sOlTMO0t3Eh/lYNv+Qp47b4zZqzJ3F/x3NhzcbB7ona6ugFzqIbjQWzU7BhR681Zfd9isQS1iapy+fmCjeZsyoA4jFRERqZ1LjuzNqwt3APDzJrNs2rieyXy2ag/FThe3vbeStXvy2LSvgL+ePCzo2IPFTu4rv4AsI5k7HG8wbsMjsOERDvM8Xzz6UuIbMCAHmDWsC2t25zK+V93WpLdkYQflTz75JJdeeilRUVE8+eST1e577bXX1ntgItI+lJW7iQjROuq9pZnER9mZ58mUj/P8A3zzsQO4+VgzaDEMA0t5KSz5D8x7zFPVszuc8yakVVNQS6QOjHAy5cWHfNXX7TYL8ZH+NW9R1U1fNww44PlBqWO/eo5URESkZj07xQbNQgSYMSSNz1btITu/lL15Zk2UD5ftrhSUF3iqtv/TdQIZlmzOs881i791HQtjLiR12GkNPl6b1cIdMwcB4HQ6G/z8zSnsoPyxxx7j3HPPJSoqiscee6zK/SwWi4JyEQnLA5+v45UF2/nkmiPomxrv275tfyE3vbPC9zjaYWNi746VjreUFcCrp8HOheaGDj3N6epJ3Rt76NJOBAbiYRV6C6i+7rAGZ8qjqwvKC/dDWQFgMa9jERGRJlCxavrk/qm+KexeDpul4mHkl3iDYgt3lf+Boefcz8i+3VVQt47CDsq3bt0a8r6ISF3988ctADz45Xoi7VbOHtedfqlxTP7H90H7XTG5T3CW0TDgwCb46CrYuQiiEmHSbWYxN01XlwYUGIZXO33dt6Y8F2e5mT2w2yykBBQg7JxYzVq4fE+NhNgUsEfUaawiIiK1FRdQkLRHxxgSYxwM7BwfFJQXlbnILXZS7nLTMc78XCsoNT/rDuvZgQsP78WIQZ2Dq6NKrdR6TbnT6WTgwIF8+umnDBo0qDHGJCLtgHeKL5jV1AE+XbmHk0amB+139rjuXDO1r39D5lJ472I4tM18HJUI538E6aMae8jSDtU6U264MUoLALP6eo+O/oxB1w7VVFQvMP8OEJ9W16GKiIjUWkyEPxwc1jURgEFdEnzLB8GsxH70Q98B8NNtU4iPcpDnmb4+oHM8s4Z3acIRt021riXvcDgoKSlpjLGISDuy42BRyO0fLd8NQHykncfOHMHfThnqr4BdWgDvXGAG5BYr9J4MF3yqgFwaTVAcXl2m3BENdjMTbis5ZG6yWujZyd9iJqO6oNybKY/XFxsREWk6gZny3p3MH5IHpMVX2i+32ElusZNN2eYPz9415XGRbatfeHOpU4O3q666igcffJDy8vKadxYRCcH7j3oo0walseq+YzllVDd/QO4shs9vhtydZjG3mzeaGfIuw5toxNIeBU9fry4qxzeF3VqaC5jT13sk+zPl6UnVBeWeTHmcMuUiItJ0YiL9ywO9S64GdqkclHst2HIAwzB8a8oDa6dI3dXp/+LixYuZO3cuX3/9NcOGDSM2NnhB//vvv98ggxORtulgYRmX/W9plc9fd0yF6tO5u+C/J8BBcw06sx+D2E6NOEIRU2Ac7qopKI9OgoIsbKW5QDx2m5XoCBsfXXUEbsMImiJYSWG2eRuXWt8hi4iIhC0wU97Js168b2ocNqsFl9vg2CFpHN0/hS9XZzFv434e+nI9hmF+lwMF5Q2lTv8Xk5KSOPXUUxt6LCLSTny6crfv/pgeHZjUP4Vv1u1lZWYu54zvzrBuif6dDQM+udYMyOO7wPEPQ99pzTBqaY+MgFy5q9pKb0B0BwAcpQeBeBxWc5bHiIykml+o6KDnHG2v96qIiLRcgdXXE6PNqeiRdhu9O8WyMbuAY4d05neju/HbnnzfOvNH52zwfSZ616FL/dQqKHe73Tz88MNs2LCBsrIypk6dyr333kt0dDVT8kREPB7/ZgOGAat25fq23TS9P4f37cS1x/QjK7eEtITI4IOWvw6bvgFbJJz/MaT0b+JRS3sWmBx3ugwMw/AvqagoZSDsWEBKznKgB3ZbLVaIFXuC8hgF5SIi0nRiA2ZxJcb414dfMbkP7/+6i8kDzBlc50/swcbsfBZuOegLyFPiIxkZzg/PUqNaBeX3338/9957L9OmTSM6Oponn3ySffv28Z///KexxicibcTqXbk8/s3GoG3Pnzeaw/v6p6EHtYw6sBnm3gdrPzIfT75NAbk0uYq5cZfbwB6iXysAfabC0pfodnARcFLIvq5VUqZcRESagdVq4YrJfdiXX8rgLgm+7b8b3Y3fje7me9wvLZ43L53Iu0szufmdFQD07BhT9Q/VUiu1KvT2yiuv8Oyzz/LVV1/x4Ycf8sknn/Daa6/hdrtrPlhE2rW3Fu8Mehxhs3LskM6hd963Hv5znD8gH3oaHH5dI49QpDKjwjry8uqmsPc6GixWkou30ZkD2K3KlIuISMt323ED+cfpI8IKsE8c4W9dW1auGLCh1Coo37FjB8cff7zv8bRp07BYLOzevbuao6r2448/Mnv2bNLT07FYLHz44Ye+55xOJ7fddpuvkFx6ejrnn39+nV9LRJpPidPFh8t3BW07aWR65X/8S/NhxVvw39lm4avOw+Dyn+G0f4NNhUSk6VWs7eZ0VfMFJDoJ0kcDcJRtVdUZ9VCKDnnOoaBcRERargi7P3zsEBvRjCNpW2oVlJeXlxMVFRW0zeFw4HQ66/TihYWFjBgxgmeeeabSc0VFRfz666/cfffd/Prrr7z//vusX7+eE088sU6vJSLN58vVWeR7+lkmxTgY1zOZO48fFLzT3jXwzHj44FIo2Atpw8w15J2HNsOIRUxGhQns5a4air31mQrAUdZVOMJdU150EMryzfuxHWs7RBERkSb12iXjGd8rmf87Sd/RGkqtUk+GYXDhhRcSGekvxFRSUsLll18e1BYt3JZoM2fOZObMmSGfS0xMZM6cOUHbnn76acaNG8eOHTvo3r17bYYuIs3o7SXm1PUbpvXnumn9Ku+QtdrMjhcfhMQMGHE2TLzSV81apLlUypQHLNfalJ3PE3M3ce3UvvRL8/R07TERgMGW7fxmDTNTvtHzWZc2VNe8iIi0eEf07cQRfdWatiHVKii/4IILKm0777zzGmwwNcnNzcVisZCUlFTlPqWlpZSWlvoe5+XlAeZ0+Lpm9CvynqehzifSFBrzul23J5+Hvt7AzdP7MSQ9Ieg5l9tg8TZzvezxQ1OCX78gG9tHl2Pd9iMA7i6jcJ39jjkN2Bxsg49VWo+W8G+ts7w86HFJqRNnlNk+5rwXF5GVV8pPG/fxyx1TzB0SeuAAMizZ2IzysMZu++0zrICr7wzcuuZbvZZw3YrUhq5ZaY1aw3Vbm7FZjIpVbJqJxWLhgw8+4OSTTw75fElJCUcccQQDBw7ktddeq/I89957L/fdd1+l7a+//joxMTENNVwR8ShxwW2/mL/v9Yo3OK+vi9WHLByeahBhgwMl8JdlduwWg4fHu/AmD63uMo7Y9HeSCzdhYCE7fhi/9ryMMnt8M74bkWDF5XDfrzaKXeaFe/eocjp5VnFdt8D/u/YTEz3Bu+Fm1vI/YMfF3cmPMbZH9dPRLe5yZq66Coe7mB/7/5lDsX0b5X2IiIhI0yoqKuKcc84hNzeXhISEavdtFZWTnE4nZ5xxBoZh8Nxzz1W77x133MGNN97oe5yXl0dGRgYzZsyo8X9GbcYzZ84cpk+fjsPhqPkAkRagMa7bZTtyuPGdlUAJAJbIWJ7bWM7+gjK69erNtVP7Mm/Tflj2Kz06xXHCrCPMAwuysX1xM9bCTRhRSZSf/ynJKQOZ1iCjkraipfxbe+IsNxP+/j15JeUcedQkeqeYy7WuW/C1b5/AIqgH1qaTVraTMV0jg7aHYtn2I/YVxRixKUw87Wqw1KrUi7RALeW6FQmXrllpjVrDdeudsR2OFh+UewPy7du38+2339YYWEdGRgatefdyOBwN/gfWGOeUxrUnt5hSp5uenWJr3rmNaqjrtsTp4orXl3OgsMy3bcv+It/9p77bwkmjMnj3V7NjQp+UOPN1l70Kn94ArjKwOrCc+SqO9GH1Ho+0Xc39b63Dgb9om9UWciyB2/Y7upJWtpOOzt01j3vvSgAsvY7GEVH5s0tar+a+bkVqS9estEYt+bqtzbha9E/y3oB848aNfPPNN3TsqKq0Uncut8HRD33H5H98z86DRTUfIFUyDIM73l/FgcIy0hOj+ObGSSH3u+x/S5i3cT8AZ4/vDlvnwcfXmgF517Fw3rvQ66imHLpInXjbm1XbEs1jr6MrAB1KMms+caH594OE9Or3ExERkTarWYPygoICli9fzvLlywHYunUry5cvZ8eOHTidTk477TSWLFnCa6+9hsvlIisri6ysLMrKyqo/sbRbmYeKuPjlxdz78Zqg7YZhcMl/F+P0tDM66qHvKCwtD3UKqcbKzBwyDxXxn5+38cEys+/4OeO70yclllNGdaVrUnTQ/pv3FfpaoY3rFgufXAuGC4afBZd8A70nN/VbEKkTu9X8uCx311yGZa/NDLCTirbWfGJvUB6bUuexiYiISOvWrNPXlyxZwpQpU3yPvWvBL7jgAu69914+/vhjAEaOHBl03HfffcfkyZObapjSitz67krmbz4AwI0z+pMQ5cDtNnhz8U6+W78vaN/PVu5h6qBUYiPsREfYmmO4rcrW/YWc8ux8XBWCknPG98BisfDYmSMBWLs7j+OfnBe0z4So7cS+PhsOboG4znD8w2AJs12USAvg8GTKy8PIlG+O6A9A6sGlUJIHUdUsuyr0/LukoFxERKTdatagfPLkyVRX/L2FFIaXFmTB5gP8+6etnD+xB0f3D/4SuzIzxxeQA8xdt5dTRnXj5ndW8L4nqxvo1vdWEmVx0j3JwatXTCE1QdX5q/Pdb9lBAfnvJ/TgvhOHYK3Qi3lwegJvXjqBb3/L5l8/bqELB/g3f4FdxeCIhROfrD5IEWmB7J415d7ZNtXZYOtHltGBzuWH4LnD4aSnq54VoqBcRESk3Wvxhd5EAj393UZ+3nSAb9bt5ZIje3HXCYMB8wecJ+duCtr3hrdWMLl/qi8gH9o1gVcuHMOc1x8jOnMe/SyZ9LPswl7shkeBmE4w8HgYcTZ0Hg6RcU399lost9vg/WX+9bH3zB7MhYf3xFJFtntC74707BjLiz9u4kHHv4ilGNJHw9lvQnxaUw1bpMHYrZXXlFstEGo2u9Nt4cqy6/hfhxeJzd0Jb5wDN6yGmOTKO3unr8eoZoqIiEh71aILvUn7VO5y88x3m7jopV+4+vVffWu/nS43i7cd8u334k9b+WHDPgzD4Ma3V/DNur1YLHDtVH+f30v/t4Ruln380f4ZH/f6gOSXjuDMPQ9xom0Bg6w7sVsCpqIW7YdfX4GXZsKjg2HlO032nlu6L1ZnsXpXHrERNpbeNY2LjuhVZUDu1dmZyasdXuRo2yrctig45Z8KyKXV8lZfL3f7/82wWUP/HSh3u/nV6M/P0z+ChG7gLISsVaFPXJJr3kZ3aNDxioiISOuhTLm0OD9vPsDDX633Pf505R7W3HcsC7ccoKzcTae4CE4Yns7L87dx5/uruGpKX1/RsWum9uPG6f3pZcvm0HdPM273bwyN3GaeaInnhFFJHBr+Bz7el0Z6/7G8tTqfZZt3c9nAEi6NnAO7foWCLHj/EsjdAUdcD9b2u+a83OXmka/NP49LjupNx7gw2jbtWQH/nsHh5Wb/cuvJz0BK/8Ycpkij8ldf96fGrRYLYD7+ZetBxvTogM1q8e1jiYyHLiMgLxOy10HvCl0K3C4zYAeI1JIOERGR9kpBubQ4mYcqtyv7LSufz1dlAXDiiK7cNKM/c9buZVdOMXd+4M9AXT6pN+z6lVOW/B7s/qy60WsSlm6HQad+MPAEOkTGcYHnueT0Q5z6XCEPbkhi5s3/JiMxAubeB/OfhLl/gcX/gdNfhozDGvNtt1hvL8lky/5COsQ4uOSoXuEdNPf/oLzEbHs2/S/Q84jGHaRII3N4q69XCspNZ/xzAffOHsyFR/TyTXG32yyQOgjWfwbZwR0hACjN99+PjG+cgYuIiEiLp+nr0uLsyy8F4LQx3XzbsnJLWLbTDLKP6teJ2Eg7N0wPzrw+d+5oYvK2wRtnQ/EhSB9N0UkvUH79OiwXfAzH3A0jzqq0VnxMjw4c3qcjLrfBxyt2g81uBpJH3wpRiWaW681zzMrh7YzT5eYfniz51VP7ER/lqPmgXb/CpjlgscGpLygglzbBmymvbvr6Kwu3m/t4AneH1QppZt0L9q6tfNLSPM/Jo8Ae0cAjFhERkdZCQbm0ONmeoLxrUjQnDO8CwCsLtrFlnznNc0RGEgCnju7KfScOoWNsBF1iDKauuwueHmtOPU8ZBBd8TMyoM7Anpdf4micMN/f57rdsc4PFAlP/BDeshdQhUJgN/5oMn1xnTkNtJzbuLeBgYRlxkXbOn9gjvIN+ecG8HXoqJPduvMGJNKFQ1dcrLinvEGMG1k53YKZ8iPlk9jpwV2in5s2UK0suIiLSrikolxalqKyczEPFAKTERxLlMNdyL9p6EIAh6Qkkx5pffC0WCxcc3pOFN43jp4zniVz7LmBA3+lwzlu1+qI7obdZFXnVrtyg6spExsF570H6KLMg09KX4T/Hhs56tUErM3MAGN4t0VfoqlprPoDV75n3x13aeAMTaWIOa+U+5RUz5R1iHJ59PJlymwU69gFbhLl2PGd78EkVlIuIiAgKyqUF2XmwiNH/N4cfN5h9e3unxHJYz+CKxGeP6+5/ULAP3r8Ux9OjsG2fBxHxcMGncN670CHMrK5Hz46xJETZKS13s2FvfvCTCV3gD3PgnHfMNdIlufDWuVBaUKf32Zpsyjbf46AuYRShWvwivHMhuEqh7zToNrZxByfShHyF3tyh15QHPvYG7narFWwO6DTA3KHiLBsF5SIiIoIKvUkL8u+ftlLiNL/MXnZ0byb27sjYHsnERNg5ql8nispcdEmMMnfO2Qn/OxkOeHqTx6bCOW9C1zF1em2r1UKvTrGsyMxld04JQ9ITg3ewOaD/DDPQfP5Ic335SzNh2j1mANpG7ck1q6d3TYqufsfyMvjhYfP+hCvNNfk1tEwTaU2809cDM+XWCpny/BJP+0ZP4O4N5EkbDHtXmcXeBh7vP8DbDk2V10VERNo1BeXSIuQWO3l7yU4AHjl9BKd6irxF2C3MHmGu906KAYoOwqLnzWnkBXshMQNOfg4yxte7UFInT6uv/QWlVe8Ukwy/+xe8dgZkrYRXT4PLfjDbHrVBu3LMpQTpSVHV77j6XXMtf3wXmHaf+SOGSBvin77uz5TbKvzwlF/q9OxjBu6+JR+pVRR7K/Z0iIiq8COgiIiItCuavt7Cbcou4MV5W8gpKmvuoTSqtxbvoKjMxYC0eH43umvonYpz4OVZ8MODZkDesR9c/CX0OqpBKhd7g/LPV+3hy9VZVe/Y80i4fiX0mwEYMOeeer92S7XbF5RXkyk/tB1+/Id5f9ylqiItbZKv0Fs11dfzis1MuTdwt3ufT/MWe6sQlOfsMG8TMxp4tCIiItKaKChvoXbnFPP3L35j2qM/8NfP1vHy/G3NPaRG9f16cx35OeO7Y6k47dntgl1L4X+nmF9q49Lgdy/CZT9CYrcQZ6ubTvFmMDlv434uf3UpW/cX+p57e8lOTn1uvn+9eWwnmPkQWO2w5TvIWhXqlK3W3R+uZuxfv/FVwu/WISb0jms/hueOgIObIaYjjL2oCUcp0nQctsqZcmuFT9CCUu/09QqZcm9Qvm89bJ3nP8AblCcF1MoQERGRdkdBeUthGL4+2Fv3FzLjsR95/ofNvqe3HyhqrpE1iuy8Eq57cxlLth3E7TZYmWmurRxbobAb+XvNVmQvTIXdv0J0slkNffjpEFFFoFhHHWMjgx4v3HIAML9o3/ruSpZuP8QZ/1zgn7WQ3AsGzjLv//q/Bh1Lc3K7Df63cLtvGn+k3eqreB/EWQIfXQVl+dB9IlwyF6I7VN5PpA1whFhTXnH6uvc5X6bcu6Y8IR1GngcY8N4foMDTelFBuYiIiKCgvGUwDEo+uZmyZ47gt8Xf8MGvmb6Mi7fA1gfLdpFb5GzOUdZLQWk5ZeVu8krM93D3R6v5aPluTnt+AWv35FFQWk5MhI0BaQFViJ3FZjG3rJUQEQcDTzCnq3ce1ihjnNinIzERNt/jNxfvxDAMft6037ctp8jJXz4JmII6+nzzdvlrsHNxo4yrqWXllQQ9njYoLfSOW76H0jyIT4cLPzN/pBBpo+xW7/R1f6a84qwewwDDMCj3FnoLTKUf/zCkDDKX3vzygueHWM8Pr7XsFiEiIiJti4LyFqC8rITVyxYR4Soi49Nz6PfTDUy3LuGvJw/libNG+vZ75vtNzTfIevhi1R4O++s39L/rC8b+3zd8vz7b13cczOniABN7d/St26TwAHx4hTldPTYVLp8HZ70GKQMabZyDuiSw8p4ZLLzjGKIdNlbszGFFZq4vY56RbP5AsnTHIf9BvadA98OhrABeORH2rGy08TWFwtJy3v81E4D4SDtXTO7DjTP6h95541fm7YCZYLWF3kekjfBPX/dnyqMdwde9KyAgDzwGMGf2HHmDeX/th5C/x6y+brGZ9TFERESk3VJQ3gLYI6P5ZeKzLHANJtZSymzrz7wQ8Sizsp4lo4O/6nXgGmefskL47XNY9S5s+BpcLSub/r+F27nitV8pdroAKHO5ufClxeQEZP2XbjeD3Il9Opob9m+Ep0bDmg8AC5zyHCT3bpLx2m1WOidGMXVgKgDf/pbNgs1mUH7ueDObtSenBLf3i7fVZvZF73kUOItg4bNNMs6GVuJ08ft/L2L4fV/zj683AHDCiC7cdtxA+qTEVT7AMGDjHPN+/2ObcKQizcPXpzxgTbnDbn6EXnq0+e+Ty20ErTn3/cjoNWAm2CJh/wZ4dJC5rWMfcNTQ3UBERETaNAXlLcQlU4cy4d55HDrzY3b2+z0AHZY/T9p/xvH3xPdIoJCDhWVM/cf33PjWcjZlF8D2+fDYUHjzbHOd4uunw2unQWkBhmHw3frs6tt7NbKdB4u456PVNe73zbq9AAztmgjZ6+CNs6AkB5L7wAWfNEsf8KFdzRZFT87dyG9ZZnG3E0ekY7WYPywE/X+NiIWpd5n3135s/lDSyizbkcO8jftxuQ26JkVzzvju/GnW4KoP2Pcb5O40A4yeRzXdQEWaiXcqenlA9XXvj3M9O8aajw0jqDq7vUJ1dqISoM/U4G1DftcIoxUREZHWRH3KW4gIuxWw0mHQJDoMmgTLj4DPboLcnZzFTqZFzuHtXZPJNFLIPNiJl1dmc1vk+8S7c83e0B37wq5fzXW+T41hb/o0bl15OGldu/PJ1UeycMtBbnhrOUVl5UwZmMoTZ40Ka1xl5W7sVgvWil8uq3GosIzXf9nBSz9vw23AuJ7J/LLNP119TI8OrM/Kp39aHMt35uA2INZWzoi978E7D0DxQYjpZGagmyhDXlFKfHDRtz4psaQnRdM5IYrduSVs3V9IakJAditjPHToCYe2wfovYNhpTTre+tp5yCwkeETfjrx2yYSaD/BmyXsd1eAF90RaolDV112eoNz7nNsIft5RMVMOMOA42PCFef+m9RDfuZFGLCIiIq2FgvKWauTZMPgk2PQNRV/eS6e8zVxp/zh4Hzesdvek7OQvGN0nHTKXmlnmgiw6b3iVHyPfZvW+nmz/7yiWH0onP28ohUTz0fLd3HLsgKrbXHlk5ZZw7OM/MqhLPC9fNI4oR83rhg3D4NwXF7F2Tx4AidEObps5kFOfmw/AYT078PZlEyktdxPlsLFlXwFzf1nOadvuJforT6G0TgPMwmFxKbX//9ZAOsX5q43brRY+ueZIAMb0TGb3it28szST8b07+g+wWGDoqTDvEVj3casLyjMPmkF59+TYmncuL4OVb5v3+81oxFGJtBy+PuUBQbfbMO9HeKaxm9PXzUy5xVK5jzkAI8+FA5ug2zgF5CIiIgIoKG/ZImJg8InsST6Kfz51P8MsWxmTmEd6wRq2GWl84RrPG66p5L2wjNPH7OPcCX0Yef0q2DaPPR/8iS5F6znMsgG2beAK4ILISDYZ6Sx2D+Tv71j52/nTyDxYzKAu8ZV7gwMfLd9FbrGThVsOcuu7K3nirJEh9wu0alcua/fkEe2wcd+JQ5g1vAuxkXZeuvAw/rdwO387ZRgWi4UoSzn88Ai9N35N76xVUF5iVlifcieM+r05zbMZdYrzZ8pnj0gnJsL8q/K70V35ZMVu3l2ayeJtBxnWNZEnzxplziQYeIIZlG/8xqwc74huruHX2s5DxYC/mF21vrkX9q6CqETzhyORdsA7FT1o+rpRucp6mScod1RsYu5lc8CMvzbSKEVERKQ1UlDeCvROS6LjUZfgio9k8BG92JVTzICYCH5ZuI28z38D4J2lmXy+ag/L75mBo9907u/agU2rF9PfspMB1p0cZ11MH+sehlu2Mty6laJd3/Lz/UM5YMSzqf/RnHj2lZWCyJ8CWoF9vGI3547vHpwdDuHl+dsAmDoolTMOy/BtnzIwlSnp5bDyebNH75bvzMrqXhkTYPbjkDqofv+zGkjg9PUTR6b77vcNKHq2/UAR2w8UcfXUvgzsnADpoyChK+TtMoNz7zrzViDTM329ptkT7F0LC58x75/8nDJ90m74+5RXnr5uD6iyXlrurrRNREREpDoKylsBi8XCbccN9D329i4/ZVQ3/uYJygEKy1xk5ZaQkRzD7txSfjO685vRHdzwMGey5qruxOZtZsdnD9G9aC3TbUvNA7d8j/HQP7B0Hg5jL4bhZ4DFwro9ZoGzrrGQVrSBvHWF0OMUM9MTQrnLzZerswC4+Iie/if2rITV78Gif0J5sX97dDIcc7cZkKcOMud7thApcZEc3qcj5S6Do/p28m1PT6qcSd6cXWgG5RYLHH0zfHoD/PgwRCXB4Vc34ajrbudBT6a8Qw2Z8q0/mLd9psLAWY08KpGWw199PTBTbt5GBKwdL/MG5bWowyEiIiLtm4LyViwlPpJLj+5NVm4JKzJz2H6giJ2HishIjuFAYRkAT509iq/WZPH7CT2IzegIDGdnxJHc9tJL9LbsoYvlACfbfqabcz/sXGj+t/5z8rtNZlzRFs6PmMNhrg3YIl2wGIylV+CK7MDyiNGkT76Y9OHTcFtsPPXtJhZvO0hRmYuEKDujMjqA2w2f3QBLX/YPOmM8dJ8Icakw7HTztgWyWi28/sfKBc9sVgtH909h8daDjMhIZOGWg2zeV+DfYezFUJwDc+8zA/PDLmnx7Y5Ky13szS8BICO5hkz5joXmbY/DG3lUIi2Lw1d9PbxMecgibyIiIiIhKChv5e483pzuff5/fmH7gSIyPWuDD3mC8kFd4pk9Ij3omAl9OvHNxFn0S43nu/XZPLL2dHpb9vDFMfuI+PkfsPZD4td+yLP+WmfsMxKIoJxEdxH24n2MLf4KPvoKvkzgYOoE1mwewiEjhd6WCGb1iMW69N+w+n3Y/jNYrNB/Jow8x8yutqCMeF3887wxFJWV887SzMpBOcAR18Hif0NeJvz2aYsv+rZtfxGGATERNjrGRlS9o2HAzkXm/e4Tm2ZwIi1E6Ex55TXlpU5X0P4iIiIiNVFQ3kZ080w7zjxUTLnLTV5JOQAdYioHWTarhXtmDwEgPsrOnLV72Wx05c5D4/nHH46DFW+wYd0KbHk7Kes4kJIjb+eUd/Zjw00ah+hq2c8ptp843raIpNI8Ou38mn9FfO1/ge2e/wDs0XDyM2Zl8jYiOsJGdISNPp715ZuyKwTlVhuMOg9++Dv8+t8WG5SXOF1EOWws2GzWDhjdvUP1hfxyd0L+HrDaIX10E41SpGWwh1hT7u1THmEPsaa8qkJvIiIiIhXoW0Mb4Q/Ki8gpdvq2J0aHXv/tdcLwLlw2yewF/u7STD4+0AVm/YPrHX/mmLJH2H7Mc4wcPR6w4MLGbjqRMnQyd5ZfwujSf3JT0uO8VH4sm91dKIxIMStyx6ZA32lw9C1w1aI2FZAH6ptqBuVb9hX6vpz7jDoXsMDWH2HfhqYfXA2++y2bgXd/yQs/bmFFZi4A43slV3/Qzl/M287D1Ztc2h1HiOrrLsPbpzwgU+6bvq5MuYiIiIRHQXkb4a2anXmwmJwic+p6YrTDl92pisVi4Y6Zg7h2al8AHvryN+Zv3s/GbLPI29CuiVgsFl44fywAZ4/rzrPnjuGSI3vhxsp7WancV34Bx5Q9wvIzFsLtO+CWTXDee2b18Q49GustNztvUbRip4tDnv/nPkndYcBM8/4rJ8GGr2kpduUUc9HLZk/4+z9fxw5Pj/Ia15N7p65njGvM4Ym0SKH6lHtnsgdNXy93Be0vIiIiUhN9a2gjvJnyX7YdZNqjPwLQIab6LHmgK6f0JTbCRuahYs55YRFOl8GAtHhfpffpg9P49qZJ3DN7MAB3nTCYVy4ODs6GpDdvb/GmZrdZiY80V4DkBsxO8Jn+F4hPh/zd8MaZsGNRE48wtH98vTHo8dLthwBIDWgDF5I3U97tsMYYlkiLFmE3Py69mXAAw5MptwVUWi91qvq6iIiI1I6C8jaie4gs54iMpLCPj3LY6JUS63s8fXAar/xhXNAa494pcUQ5bL7HR/dP4avrjwYgLSGSpBDr19u6BM/ygJBBead+cPViGHQiGG748AooK2riEVa241DoMaQmVBOUF+6HvavN+xnjG2FUIi1bbIT5b19xWblvm8sXlPsD8zKXqq+LiIhI7ehbQxvRKS44oJo9Ip0/zRpUq3P06OgPyi8+ohdpCTW38hrQOZ5PrzmSD686olav1VYkVheUA0TGwYlPmRnzg5vh81uaNTB3G7BlX+jXT4mv4s+7vAzePh/c5ZAyCBK7NeIIRVqmWM+smIJSl2+btyWa1WLB5vkBs8RTfV1rykVERCRcCsrboFHdk3jq7FGkVhVkVaF3J39QPqRr+FPRh3ZNpEtidK1eq61IiDa/qHur3YcUnWQG5gDLX4UnR8KelY0+tlCyi6GgtJxoh40rJ/fxbe+cEEVCVBXNGBY+a7a2i4iH019q9S3tROoiNsL8+1FY6v+77kmUY7NafH8tvM9HR9gQERERCYdaorUh//z9GB79egMPnzaiTsefO74H+SXlHD+sCwlR4a9Hb89qzJR79ZsGp/4b5t4HOTtwvXcpzj98S1R001Yx31ZgRg7Duibyx6N6Extpp2NsBJMGpFTdDm3Dl+bttHsgtXazL0TaithIz/R1pwuX28BmtQRnyj3T1/M9QXlMhD5eRUREJDz61tCGHDukM8cO6Vzn4zsnRnHviUMacERtnzcoz6spKAezX3nvybieHodt/zo+f/5mZt/wbCOPMNh2T1A+snsSHWIjuGpK3+oPKC2ATLNSO/2mN/LoRFou7/R1gKKycuKjHL415Varf/p6gWfWTKwy5SIiIhImTV8XqYcOnuJ2+/JLq9wnK7eEP32wip0HiyC2E9/1vR2AmTlv4PzqbijOaYqhArDDE5SP6JYU5gELzbXkSd2hQ89GG5dISxdpt/qy4YWedeVuT6bcZvFPX88v8U5f12/eIiIiEh4F5SL10CclDoBN2QVV7nP2Cwt5bdEOrn1zGQAbOk7lnfKjsVvcOBY8Sdkrp4HbVeXxDSnH0069V0D9gGpt/tZzwNGNMyCRVsJisfiy34WeCuxuX6bcX329oFSZchEREakdBeUi9dC/czwAa/fkUVQWutjb1v2FACzbkQNA5qFibim/jD+U3US+EU3EnsWw+MVGH6vbbVDkmWXfMS7M9nXe9eT9ZjTOoERaEe8U9sLScgzDwJMoD1pT7p2+HqOgXERERMKkoFykHgakxZMU4+BgYRmD//wVT83dGPT8rpzioMdZuSVsP1AIWIgacgIPlp9lPvHNfXBoe6OONa+kHDdm4JAUE0Yhv/0bzTZuVgf0ntKoYxNpDfxt0cp9ATmY09etnvnreSXmL18xkZq+LiIiIuFRUC5SD9ERNv5z4WG+xy/M2xL0/ILNB4Ien/WvBfy8ydx2zvjuvOY6hkXugeAshBemwpoPG22sBwvNuetxkXYi7TVk8VzlMOce837PIyEq/BZ5Im1VhM38yCx3Gb7K62AWevMG5Zq+LiIiIrWloFyknkZ378D7Vx4OeLLRAV/W52/eH7TvtgNFvvvjeiXTMS6am5yXU5TYF4r2wzsXws5fGmWcB4vMoDw5Nows+Ze3wfrPwBYBk25tlPGItFYG/vXkYK4nr7imXIXeREREJFwKykUawOAu/kxygWdt+arMXOas2QvA7TMH0j05hn6pcSTHRnDl5D44bFamDEgh00jlge4vwJBTAAM+vALy9zb4GFfvzgOgY2wN68lLC+DXV8z7p/0Hehze4GMRaY28FdbN9eQBmXKLWewN1BJNREREak8/5Ys0gCiHjQi7lbJyN3nFTr5YtYfb3lsFmFNeLzy8J5dP6lPpuEkDUnhnaSZrs0vggkfNFmQHNsEz42D0+TDlTnBEN8gYP1q+B4Bpg1Kr33HLd+AqM1ugDTyhQV5bpC3wBeUQPH09YE15uWd7tIJyERERCZMy5SINJCHKnBaeW+z0BeQAI7snEeUI/QU9o0MMAJmHiiAmGS76HDr1h5IcmP8kfHQ15GY2yPgyD5lF5yb161T9jms/Nm8HzPJHISKCBX9U7nb7t9usFmwV/q7EqtCbiIiIhElBuUgDSYg2v4TPevKnoO2juidVeUxGshmU780rpcTpguTecOVCmP2EucPqd+GxIfDECFj+Rp3HVlzmIqfYrArdJTGq6h3LS/1t0AafWOfXE2mLAuPuoDXlFgtWa3BQrpZoIiIiEi4F5SINJDE6dAG11Piqg+AOMQ7f2tPt3iJwVhuMuRBOfxnSR4HFCoe2wYeXw4Jn6zS23blmljzSahAfVUUGryQPPrgMSvMgrjN0G1en1xJp6wwMXAFBucVirisPFKNCbyIiIhImBeUiDcQ7fR3g46uPYGDneABmDE6r8hiLxcKIjCTArNRe7nLjdHnmxQ45BS79Hm7bDhOvNrd9dQe8dDyseKtWY9uTUwJAUqT5mpWU5sOLx8CaD8Bqh+n3+StXiQiAd/I6hoGvy4LVYv6dslacvq5MuYiIiIRJP+WLNJDOCf6MeL/UeN6+fCK5RU7fFPWqTOqfwvzNB3j4q/Xc98laenaM4e3LJpLqPV9UAsz4K0QmwPd/g+0/m/+V5cNhl4Q1tj2eTHmHCCP0Dqvegf0bIC4NznwVMpQlF6nEE3gbBr5MubcVmq1CqlyF3kRERCRcSoWJNJBh3RJ996MjbCREOWoMyAF+P7EHIzOSKCpzAWYv8zd+2Rm8k8UCk2+Da5fD8LPMbZ/dBD8/YUYINdiTa2bKE0N1QzMMWPpf8/7EqxSQi1TBlykHvMXXvTNPKgblmr4uIiIi4VJQLtJAzjwsgwsP78kTZ42s1XExEXZevuiwoG2b9xWE3jm5F5zyPBx1s/l4zp/h5VlQkF3ta/gy5ZEhntyxEPYsB3sUjDyvVmMXaU+C+pR7onJv1fXAZSFRDmulIF1ERESkKgrKRRqIw2bl3hOHcNLIrrU+NikmghfPH+t7vHV/YdU7Wyww9S6Y8iewR5tT2T+4LLhHUwDDMPgtK998nVDT1xc+Y94OPxNiO9Z67CLtRWCY7e1T7g2+S50u33PKkouIiEhtKCgXaSGmDU7j6xuOBmDLvgLKXaGDbMAMzCfdCn/81sxwb/4WFoauzP7m4p0s25GDw2ahb0JAUF54AN48F9Z9Yj6ecEVDvRWRNs2cvu4v9Ab4fvgCtUMTERGR2lFQLtKC9O4US2K0g8IyFysyc2s+IG0wHPs38/4391aqyp5TVMb/fboWgBun9SMlOuDJL26B3z4Fiw0m3Q6pgxrmTYi0UZaAQm++oDzENHUF5SIiIlIbCspFWhC7zcqR/ToB8MP66teJ+4y9GAaeAG4nfHApBV/ch+EJGNbuyaOozEXXpGguPryH/5is1bD6PfP+RZ/DlDsa8m2ItEn+8NvAO5HFFqLFoKavi4iISG0oKBdpYSb1TwHghw37eOa7Tcx47Ad+3XHI9/zLP2/lfwu3+w+wWOD0/5rZbiB64WO8/cEHAGQeMgu89U6JDc7ofXe/eTvkFOg+oRHfjUjb4S/05l9THipTHuXQR6uIiIiETz/ni7Qwkz1B+YrMXN8U9t89O58LD+/J8cO6cO8n5nT0Ywen+XuZ2+ww5Q4++PYnTrH9xJjlf4LZx7PLE5R36+Cft2757TNY/zlYrDD5ziZ8ZyKtmyUgV+6dvh4qU24NsU1ERESkKvo5X6SFSU2IYlCXhErbX56/jTP+ucD3eMn2Q5X2udd5PvuMRPpad8PLs4ja8T0W3HRNMoPyflkfY3/vAnPnUedBSv/GeRMibVioQm+BFJSLiIhIbSgoF2mBBnWJ992vairsvI37AbOY25n/XMD/Fmwjlzhudl5OsREBu5Zwxc5bmBd5PWdk3o/t/T8weM+75sHjL4fj/9Ho70OkTQlz+rpichEREakNBeUiLVBn77R04PQxGSH3eeOXHWzdX8irC7ezaOtB7v5oDQA/uEdwdOlj5A67mDwjhm6W/aRu+QDruo8AcI27DGY+CPbIxn8jIm2IN9Y2MPzT1z1B+ZgeHZppVCIiItLaKSgXaYHSAoLycb2SuXxSH9/ja6f29d2f8o/v2X6gqNLx++jA2pF3cVjps9wTdStMuxfX5D/xc9/bcU/7a+MOXqSNCiz05kmU+9aUv3zRYb79NH1dREREakOF3kRaoGiHv8/x+F7JzB6Rzu0zB7I3r4TU+Eh2HCziw+W7AXhnaWbIc2zZX0ApEazrMBWOnIjb6WT/559rbq1IHXkLvRn4p697/zrFRzn8++mvmIiIiNSCMuUiLdBhvZIBSImP9FdYx8ygWywW/jx7CAM7x1d1OAAb9xb4ziEi9RcYbLvdwdPXAylTLiIiIrWhoFykBerVKZY5NxzNl9cdFfL55NgI3rp0YrXn2LK/EICUOAXlIg3JMAxcvurrIQq9NfWAREREpFVTUC7SQvVLi6djNQF1YoyD22cOJDU+ksfPHFnp+a37zUx5aoKCcpGGEJQp964pD8iUXzO1L9EOG7fNHNjEIxMREZHWTGvKRVqxyyf18RWBu+mdFb51rgA7DxYDypSLNBTfmnLDP309MFN+04wBXDO1HxF2/d4tIiIi4dM3B5E24oFThoXcHrgmXUTqzld9HaPKPuUKyEVERKS29O1BpI04fWw3Pr3mSKYOTA3arky5SMPzrim3aQG5iIiI1JOCcpE2wmKxMLRrIh1jI4K2a025SMMyDLPYG6jSuoiIiNSfgnKRNiY6wt/jvFNcJB1iIqrZW0TCZbH415S73Oa2itPXRURERGpLQblIG5MWsIb82XNHh+yjLCK15/2bZBA4fV1/v0RERKR+VH1dpI0587AMSsvdnDginb6pcc09HJE2w1fozTB81df1o5eIiIjUl4JykTamU1wkN07v39zDEGlzAjPlbk+mXIlyERERqa9mnb7+448/Mnv2bNLT07FYLHz44YdBzxuGwZ///Ge6dOlCdHQ006ZNY+PGjc0zWBERadcsARG4S5lyERERaSDNGpQXFhYyYsQInnnmmZDPP/TQQzz55JM8//zzLFq0iNjYWI499lhKSkqaeKQiIiIehj9TrjXlIiIiUl/NOn195syZzJw5M+RzhmHw+OOPc9ddd3HSSScB8Morr5CWlsaHH37IWWed1ZRDFRGRds4/fd3AkyhX9XURERGptxa7pnzr1q1kZWUxbdo037bExETGjx/PggULqgzKS0tLKS0t9T3Oy8sDwOl04nQ6G2Rs3vM01PlEmoKuW2ltWto16+1NXl7uotwblRtGixmftAwt7boVqYmuWWmNWsN1W5uxtdigPCsrC4C0tLSg7Wlpab7nQnnggQe47777Km3/+uuviYmJadAxzpkzp0HPJ9IUdN1Ka9NSrtnsbCtgZeWqVbgMABv79mbx+eefN/PIpCVqKdetSLh0zUpr1JKv26KiorD3bbFBeV3dcccd3Hjjjb7HeXl5ZGRkMGPGDBISEhrkNZxOJ3PmzGH69Ok4HI4GOadIY9N1K61NS7tmPzm0jNWH9jFs2DBKnC7Yup6u6ekcf/zw5h6atCAt7boVqYmuWWmNWsN1652xHY4WG5R37twZgL1799KlSxff9r179zJy5Mgqj4uMjCQyMrLSdofD0eB/YI1xTpHGputWWpuWcs1arGZtVKvVhsVTJtVut7aIsUnL01KuW5Fw6ZqV1qglX7e1GVezVl+vTq9evejcuTNz5871bcvLy2PRokVMnDixGUcmIiLtUVChN8+acquqr4uIiEg9NWumvKCggE2bNvkeb926leXLl5OcnEz37t25/vrr+etf/0q/fv3o1asXd999N+np6Zx88snNN2gREWmXvPG3YYDLUFAuIiIiDaNZg/IlS5YwZcoU32PvWvALLriAl19+mVtvvZXCwkIuvfRScnJyOPLII/nyyy+JiopqriGLiEg7ZfHkyg3A5cmU21rsfDMRERFpLZo1KJ88ebKvxUwoFouFv/zlL/zlL39pwlGJiIhU5k2KPzZnA4f36QiATX3KRUREpJ70G7+IiEgYvEH5wcIyPl25x7NNQbmIiIjUj4JyERGROrIpKBcREZF6UlAuIiISBguVA3BNXxcREZH6UlAuIiISjhDxt6qvi4iISH0pKBcREQlDqPBbiXIRERGpLwXlIiIiYQhV1E3T10VERKS+FJSLiIjUkVVBuYiIiNSTgnIREZEwaPq6iIiINAYF5SIiImEIVdNNLdFERESkvhSUi4iIhCFkplypchEREaknBeUiIiJhCFnoTZlyERERqScF5SIiImFQplxEREQag4JyERGROrIqUy4iIiL1pKBcREQkHKEKvelTVEREROpJXydERETCYAkRlStTLiIiIvWloFxERCQMoeJvBeUiIiJSXwrKRUREwhAq/Lap0JuIiIjUk4JyERGROlL1dREREakvBeUiIiJhCDVTXX3KRUREpL4UlIuIiIQhdKG3ZhiIiIiItCkKykVERMIQstCbonIRERGpJwXlIiIiYdD0dREREWkMCspFRETCUjkAV/V1ERERqS8F5SIiInWkRLmIiIjUl4JyERGRMIScvq5MuYiIiNSTgnIREZEwhAq/taZcRERE6ktBuYiISBhCxd8WBeUiIiJSTwrKRUREwhCqT7mmr4uIiEh9KSgXERGpI5s+RUVERKSe9HVCREQkDKFmqls1fV1ERETqSUG5iIhIGEKF3wrKRUREpL4UlIuIiIQhVFE3rSkXERGR+lJQLiIiUkfKlIuIiEh9KSgXEREJQ6j4W5lyERERqS8F5SIiInWkmFxERETqS0G5iIhIGEL1KbcqKhcREZF6UlAuIiIShpDT17WmXEREROpJQbmIiEgYQoXfWlMuIiIi9aWgXEREJAyhkuJKlIuIiEh9KSgXERGpI2XKRUREpL4UlIuIiITBEiItrjXlIiIiUl8KykVERMIQKvx2G00+DBEREWljFJSLiIiEI0RU7nS5m34cIiIi0qYoKBcREQlDqD7lCspFRESkvhSUi4iIhCHU8vG4SHvTD0RERETaFH2bEBERqaU7Zg7EbUC/tPjmHoqIiIi0cgrKRUREwhCYKD9ldFdS46OabSwiIiLSdmj6uoiISBgCp69b1QpNREREGoiCchERkTAEFnpTSC4iIiINRUG5iIhIGAz8TcmVKRcREZGGoqBcREQkDG5/TB6yEruIiIhIXSgoFxERqSWLonIRERFpIArKRUREwmAEZMqtislFRESkgSgoFxERqSVlykVERKShKCgXEREJQ3Cht2YciIiIiLQpCspFRETCEVjoTU3RREREpIEoKBcREQlDQEyu6usiIiLSYBSUi4iI1JKCchEREWkoCspFRETCYBiBa8oVlYuIiEjDUFAuIiISBiNoTbmIiIhIw1BQLiIiUkvKlIuIiEhDUVAuIiISBhV6ExERkcagoFxERCQMQdPXFZWLiIhIA1FQLiIiEgYjKFcuIiIi0jAUlIuIiIiIiIg0EwXlIiIiYTCUKBcREZFGoKBcREREREREpJkoKBcREQmDoVS5iIiINAIF5SIiImFQSC4iIiKNoUUH5S6Xi7vvvptevXoRHR1Nnz59+L//+z9lK0RERERERKRNsDf3AKrz4IMP8txzz/Hf//6XIUOGsGTJEi666CISExO59tprm3t4IiLSjuj3YBEREWkMLToonz9/PieddBKzZs0CoGfPnrzxxhv88ssvzTwyERERERERkfpr0UH54Ycfzr/+9S82bNhA//79WbFiBT/99BOPPvpolceUlpZSWlrqe5yXlweA0+nE6XQ2yLi852mo84k0BV230tq0tGvW5Xb57reUMUnL09KuW5Ga6JqV1qg1XLe1GZvFaMELtN1uN3feeScPPfQQNpsNl8vF/fffzx133FHlMffeey/33Xdfpe2vv/46MTExjTlcERFpw97eYuXnvWYplicmljfzaERERKQlKyoq4pxzziE3N5eEhIRq923RQfmbb77JLbfcwsMPP8yQIUNYvnw5119/PY8++igXXHBByGNCZcozMjLYv39/jf8zwuV0OpkzZw7Tp0/H4XA0yDlFGpuuW2ltWto1e/fHa3lzcSYAG/9vRjOPRlqqlnbditRE16y0Rq3hus3Ly6NTp05hBeUtevr6Lbfcwu23385ZZ50FwLBhw9i+fTsPPPBAlUF5ZGQkkZGRlbY7HI4G/wNrjHOKNDZdt9LatJRr1mr1NyxpCeORlq2lXLci4dI1K61RS75uazOuFt0SraioKOhLEIDNZsPtdjfTiEREpL1qufPKREREpDVr0Zny2bNnc//999O9e3eGDBnCsmXLePTRR7n44oube2giItLuKCoXERGRhteig/KnnnqKu+++myuvvJLs7GzS09O57LLL+POf/9zcQxMRkXZGmXIRERFpDC06KI+Pj+fxxx/n8ccfb+6hiIhIO6egXERERBpDi15TLiIiIiIiItKWKSgXEREJg6E15SIiItIIFJSLiIiIiIiINBMF5SIiImHQmnIRERFpDArKRUREwqCYXERERBqDgnIREZEwKFMuIiIijUFBuYiISBhU6E1EREQag4JyERERERERkWaioFxERCQcSpSLiIhII1BQLiIiEgbF5CIiItIYFJSLiIiEwVClNxEREWkECspFREREREREmomCchERkTAoTy4iIiKNQUG5iIiIiIiISDNRUC4iIhIGLSkXERGRxqCgXEREJAxuReUiIiLSCBSUi4iIiIiIiDQTBeUiIiJhUJ5cREREGoOCchEREREREZFmoqBcREQkHEqVi4iISCNQUC4iIhIGQ1G5iIiINAIF5SIiImFQ8XURERFpDArKRURERERERJqJgnIREZEwdE6Mau4hiIiISBtkb+4BiIiItAbXT+vPwcIyTh7ZtbmHIiIiIm2IgnIREZEwJEY7eOKsUc09DBEREWljNH1dREREREREpJkoKBcRERERERFpJgrKRURERERERJqJgnIRERERERGRZqKgXERERERERKSZKCgXERERERERaSYKykVERERERESaiYJyERERERERkWaioFxERERERESkmSgoFxEREREREWkmCspFREREREREmomCchEREREREZFmoqBcREREREREpJkoKBcRERERERFpJgrKRURERERERJqJgnIRERERERGRZqKgXERERERERKSZKCgXERERERERaSb25h5AYzMMA4C8vLwGO6fT6aSoqIi8vDwcDkeDnVekMem6ldZG16y0RrpupbXRNSutUWu4br3xpzcerU6bD8rz8/MByMjIaOaRiIiIiIiISHuSn59PYmJitftYjHBC91bM7Xaze/du4uPjsVgsDXLOvLw8MjIy2LlzJwkJCQ1yTpHGputWWhtds9Ia6bqV1kbXrLRGreG6NQyD/Px80tPTsVqrXzXe5jPlVquVbt26Ncq5ExISWuxFIFIVXbfS2uialdZI1620NrpmpTVq6ddtTRlyLxV6ExEREREREWkmCspFREREREREmomC8jqIjIzknnvuITIysrmHIhI2XbfS2uialdZI1620NrpmpTVqa9dtmy/0JiIiIiIiItJSKVMuIiIiIiIi0kwUlIuIiIiIiIg0EwXlIiIiIiIiIs1EQbmIiIiIiIhIM2m3QfkDDzzAYYcdRnx8PKmpqZx88smsX78+aJ+SkhKuuuoqOnbsSFxcHKeeeip79+4N2ufaazepDcUAAAx2SURBVK9lzJgxREZGMnLkyJCv9dVXXzFhwgTi4+NJSUnh1FNPZdu2bY30zqStaspr9u2332bkyJHExMTQo0cPHn744cZ6W9LGNcR1u2LFCs4++2wyMjKIjo5m0KBBPPHEE5Ve6/vvv2f06NFERkbSt29fXn755cZ+e9IGNdU1u2fPHs455xz69++P1Wrl+uuvb4q3J21UU12377//PtOnTyclJYWEhAQmTpzIV1991STvUdqWprpmf/rpJ4444gg6duxIdHQ0AwcO5LHHHmuS91gb7TYo/+GHH7jqqqtYuHAhc+bMwel0MmPGDAoLC3373HDDDXzyySe88847/PDDD+zevZvf/e53lc518cUXc+aZZ4Z8na1bt3LSSScxdepUli9fzldffcX+/ftDnkekOk11zX7xxRece+65XH755axevZpnn32Wxx57jKeffrrR3pu0XQ1x3S5dupTU1FReffVV1qxZw5/+9CfuuOOOoGty69atzJo1iylTprB8+XKuv/56LrnkEn1ZlFprqmu2tLSUlJQU7rrrLkaMGNGk71Hanqa6bn/88UemT5/O559/ztKlS5kyZQqzZ89m2bJlTfp+pfVrqms2NjaWq6++mh9//JF169Zx1113cdddd/Gvf/2rSd9vjQwxDMMwsrOzDcD44YcfDMMwjJycHMPhcBjvvPOOb59169YZgLFgwYJKx99zzz3GiBEjKm1/5513DLvdbrhcLt+2jz/+2LBYLEZZWVnDvxFpNxrrmj377LON0047LWjbk08+aXTr1s1wu90N+yak3anvdet15ZVXGlOmTPE9vvXWW40hQ4YE7XPmmWcaxx57bAO/A2lvGuuaDTRp0iTjuuuua9BxS/vWFNet1+DBg4377ruvYQYu7VZTXrOnnHKKcd555zXMwBtIu82UV5SbmwtAcnIyYP7y4nQ6mTZtmm+fgQMH0r17dxYsWBD2eceMGYPVauWll17C5XKRm5vL//73P6ZNm4bD4WjYNyHtSmNds6WlpURFRQVti46OJjMzk+3btzfAyKU9a6jrNjc313cOgAULFgSdA+DYY4+t1bUvEkpjXbMijamprlu3201+fr6ubam3prpmly1bxvz585k0aVIDjbxhKCjH/Afl+uuv54gjjmDo0KEAZGVlERERQVJSUtC+aWlpZGVlhX3uXr168fXXX3PnnXcSGRlJUlISmZmZvP322w35FqSdacxr9thjj+X9999n7ty5uN1uNmzYwCOPPAKYayBF6qqhrtv58+fz1ltvcemll/q2ZWVlkZaWVukceXl5FBcXN+wbkXajMa9ZkcbSlNftP/7xDwoKCjjjjDMabPzS/jTFNdutWzciIyMZO3YsV111FZdcckmDv4/6sDf3AFqCq666itWrV/PTTz81+LmzsrL44x//yAUXXMDZZ59Nfn4+f/7znznttNOYM2cOFoulwV9T2r7GvGb/+Mc/snnzZk444QScTicJCQlcd9113HvvvVit+h1P6q4hrtvVq1dz0kkncc899zBjxowGHJ1IZbpmpTVqquv29ddf57777uOjjz4iNTW1zq8l0hTX7Lx58ygoKGDhwoXcfvvt9O3bl7PPPrs+w25Q7T4ov/rqq/n000/58ccf6datm297586dKSsrIycnJ+gXmr1799K5c+ewz//MM8+QmJjIQw895Nv26quvkpGRwaJFi5gwYUKDvA9pPxr7mrVYLDz44IP87W9/Iysri5SUFObOnQtA7969G+x9SPvSENft2rVrOeaYY7j00ku56667gp7r3LlzpU4De/fuJSEhgejo6IZ/Q9LmNfY1K9IYmuq6ffPNN7nkkkt45513Ki0dEqmNprpme/XqBcCwYcPYu3cv9957b4sKyttt2sswDK6++mo++OADvv32W98flNeYMWNwOBy+YARg/fr17Nixg4kTJ4b9OkVFRZWyizabDTCnaoiEq6muWS+bzUbXrl2JiIjgjTfeYOLEiaSkpNT7fUj70lDX7Zo1a5gyZQoXXHAB999/f6XXmThxYtA5AObMmVOna1/at6a6ZkUaUlNet2+88QYXXXQRb7zxBrNmzWqcNyRtXnP+W+t2uyktLW2YN9JQmrPKXHO64oorjMTEROP777839uzZ4/uvqKjIt8/ll19udO/e3fj222+NJUuWGBMnTjQmTpwYdJ6NGzcay5YtMy677DKjf//+xrJly4xly5YZpaWlhmEYxty5cw2LxWLcd999xoYNG4ylS5caxx57rNGjR4+g1xKpSVNds/v27TOee+45Y926dcayZcuMa6+91oiKijIWLVrUpO9X2oaGuG5XrVplpKSkGOedd17QObKzs337bNmyxYiJiTFuueUWY926dcYzzzxj2Gw248svv2zS9yutX1Nds4Zh+P79HTNmjHHOOecYy5YtM9asWdNk71Xajqa6bl977TXDbrcbzzzzTNA+OTk5Tfp+pfVrqmv26aefNj7++GNjw4YNxoYNG4wXX3zRiI+PN/70pz816futSbsNyoGQ/7300ku+fYqLi40rr7zS6NChgxETE2Occsopxp49e4LOM2nSpJDn2bp1q2+fN954wxg1apQRGxtrpKSkGCeeeKKxbt26Jnqn0lY01TW7b98+Y8KECUZsbKwRExNjHHPMMcbChQub8J1KW9IQ1+0999wT8hw9evQIeq3vvvvOGDlypBEREWH07t076DVEwtWU12w4+4iEo6mu26q+Q1xwwQVN92alTWiqa/bJJ580hgwZYsTExBgJCQnGqFGjjGeffTaoXXVLYDEMw6hbjl1ERERERERE6qPdrikXERERERERaW4KykVERERERESaiYJyERERERERkWaioFxERERERESkmSgoFxEREREREWkmCspFREREREREmomCchEREREREZFmoqBcREREREREpJkoKBcRERERERFpJgrKRURE2rgLL7wQi8WCxWLB4XCQlpbG9OnT+c9//oPb7Q77PC+//DJJSUmNN1AREZF2SEG5iIhIO3DcccexZ88etm3bxhdffMGUKVO47rrrOOGEEygvL2/u4YmIiLRbCspFRETagcjISDp37kzXrl0ZPXo0d955Jx999BFffPEFL7/8MgCPPvoow4YNIzY2loyMDK688koKCgoA+P7777nooovIzc31Zd3vvfdeAEpLS7n55pvp2rUrsbGxjB8/nu+//7553qiIiEgro6BcRESknZo6dSojRozg/fffB8BqtfLkk0+yZs0a/vvf//Ltt99y6623AnD44Yfz+OOPk5CQwJ49e9izZw8333wzAFdffTULFizgzTffZOXKlZx++ukcd9xxbNy4sdnem4iISGthMQzDaO5BiIiISOO58MILycnJ4cMPP6z03FlnncXKlStZu3ZtpefeffddLr/8cvbv3w+Ya8qvv/56cnJyfPvs2LGD3r17s2PHDtLT033bp02bxrhx4/jb3/7W4O9HRESkLbE39wBERESk+RiGgcViAeCbb77hgQce4LfffiMvL4/y8nJKSkooKioiJiYm5PGrVq3C5XLRv3//oO2lpaV07Nix0ccvIiLS2ikoFxERacfWrVtHr1692LZtGyeccAJXXHEF999/P8nJyfz000/84Q9/oKysrMqgvKCgAJvNxtKlS7HZbEHPxcXFNcVbEBERadUUlIuIiLRT3377LatWreKGG25g6dKluN1uHnnkEaxWs+TM22+/HbR/REQELpcraNuoUaNwuVxkZ2dz1FFHNdnYRURE2goF5SIiIu1AaWkpWVlZuFwu9u7dy5dffskDDzzACSecwPnnn8/q1atxOp089dRTzJ49m59//pnnn38+6Bw9e/akoKCAuXPnMmLECGJiYujfvz/nnnsu559/Po888gijRo1i3759zJ07l+HDhzNr1qxmesciIiKtg6qvi4iItANffvklXbp0oWfPnhx33HF89913PPnkk3z00UfYbDZGjBjBo48+yoMPPsjQoUN57bXXeOCBB4LOcfjhh3P55Zdz5plnkpKSwkMPPQTASy+9xPnnn89NN93EgAEDOPnkk1m8eDHdu3dvjrcqIiLSqqj6uoiIiIiIiEgzUaZcREREREREpJkoKBcRERERERFpJgrKRURERERERJqJgnIRERERERGRZqKgXERERERERKSZKCgXERERERERaSYKykVERERERESaiYJyERERERERkWaioFxERERERESkmSgoFxEREREREWkmCspFREREREREmsn/AxDtMgSEh/8ZAAAAAElFTkSuQmCC"/>
          <p:cNvSpPr>
            <a:spLocks noChangeAspect="1" noChangeArrowheads="1"/>
          </p:cNvSpPr>
          <p:nvPr/>
        </p:nvSpPr>
        <p:spPr bwMode="auto">
          <a:xfrm>
            <a:off x="155574" y="-144463"/>
            <a:ext cx="288937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237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Exploratory Data Analysis 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 CHART</a:t>
            </a:r>
          </a:p>
        </p:txBody>
      </p:sp>
    </p:spTree>
    <p:extLst>
      <p:ext uri="{BB962C8B-B14F-4D97-AF65-F5344CB8AC3E}">
        <p14:creationId xmlns:p14="http://schemas.microsoft.com/office/powerpoint/2010/main" val="15293526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2575" y="317701"/>
            <a:ext cx="6544225" cy="421590"/>
          </a:xfrm>
        </p:spPr>
        <p:txBody>
          <a:bodyPr>
            <a:noAutofit/>
          </a:bodyPr>
          <a:lstStyle/>
          <a:p>
            <a:r>
              <a:rPr lang="en-US" b="1" dirty="0" smtClean="0"/>
              <a:t>CODING: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1044700"/>
            <a:ext cx="7321605" cy="372689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 Revenue and Expenses Bar Plot</a:t>
            </a:r>
          </a:p>
          <a:p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=(14,6))</a:t>
            </a:r>
          </a:p>
          <a:p>
            <a:r>
              <a:rPr lang="en-US" dirty="0" err="1"/>
              <a:t>plt.bar</a:t>
            </a:r>
            <a:r>
              <a:rPr lang="en-US" dirty="0"/>
              <a:t>(</a:t>
            </a:r>
            <a:r>
              <a:rPr lang="en-US" dirty="0" err="1"/>
              <a:t>revenue_data</a:t>
            </a:r>
            <a:r>
              <a:rPr lang="en-US" dirty="0"/>
              <a:t>['Date'], </a:t>
            </a:r>
            <a:r>
              <a:rPr lang="en-US" dirty="0" err="1"/>
              <a:t>revenue_data</a:t>
            </a:r>
            <a:r>
              <a:rPr lang="en-US" dirty="0"/>
              <a:t>['Revenue'], label='Revenue', color='green')</a:t>
            </a:r>
          </a:p>
          <a:p>
            <a:r>
              <a:rPr lang="en-US" dirty="0" err="1"/>
              <a:t>plt.bar</a:t>
            </a:r>
            <a:r>
              <a:rPr lang="en-US" dirty="0"/>
              <a:t>(</a:t>
            </a:r>
            <a:r>
              <a:rPr lang="en-US" dirty="0" err="1"/>
              <a:t>revenue_data</a:t>
            </a:r>
            <a:r>
              <a:rPr lang="en-US" dirty="0"/>
              <a:t>['Date'], </a:t>
            </a:r>
            <a:r>
              <a:rPr lang="en-US" dirty="0" err="1"/>
              <a:t>revenue_data</a:t>
            </a:r>
            <a:r>
              <a:rPr lang="en-US" dirty="0"/>
              <a:t>['Expenses'], label='Expenses', color='red', alpha=0.6)</a:t>
            </a:r>
          </a:p>
          <a:p>
            <a:r>
              <a:rPr lang="en-US" dirty="0" err="1"/>
              <a:t>plt.title</a:t>
            </a:r>
            <a:r>
              <a:rPr lang="en-US" dirty="0"/>
              <a:t>('Revenue vs Expenses Over Time')</a:t>
            </a:r>
          </a:p>
          <a:p>
            <a:r>
              <a:rPr lang="en-US" dirty="0" err="1"/>
              <a:t>plt.xlabel</a:t>
            </a:r>
            <a:r>
              <a:rPr lang="en-US" dirty="0"/>
              <a:t>('Date')</a:t>
            </a:r>
          </a:p>
          <a:p>
            <a:r>
              <a:rPr lang="en-US" dirty="0" err="1"/>
              <a:t>plt.ylabel</a:t>
            </a:r>
            <a:r>
              <a:rPr lang="en-US" dirty="0"/>
              <a:t>('Amount ($)')</a:t>
            </a:r>
          </a:p>
          <a:p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r>
              <a:rPr lang="en-US" dirty="0" err="1"/>
              <a:t>plt.xticks</a:t>
            </a:r>
            <a:r>
              <a:rPr lang="en-US" dirty="0"/>
              <a:t>(rotation=45)</a:t>
            </a:r>
          </a:p>
          <a:p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2337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INTERPRETATION: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" name="AutoShape 2" descr="data:image/png;base64,iVBORw0KGgoAAAANSUhEUgAAA+UAAAIjCAYAAABlBbqXAAAAOnRFWHRTb2Z0d2FyZQBNYXRwbG90bGliIHZlcnNpb24zLjEwLjAsIGh0dHBzOi8vbWF0cGxvdGxpYi5vcmcvlHJYcgAAAAlwSFlzAAAPYQAAD2EBqD+naQABAABJREFUeJzs3Xd0VNUWwOHflPRKegIkofcuvXdpgopSRFHE8lRs74nP8hQL9i4KioKKgCKiYqFJld57rwktIb0nU+77485MZpJJJSEk7G8tVu7cem6YJLPvOWdvjaIoCkIIIYQQQgghhLjmtFXdACGEEEIIIYQQ4kYlQbkQQgghhBBCCFFFJCgXQgghhBBCCCGqiATlQgghhBBCCCFEFZGgXAghhBBCCCGEqCISlAshhBBCCCGEEFVEgnIhhBBCCCGEEKKKSFAuhBBCCCGEEEJUEQnKhRBCCCGEEEKIKiJBuRBCiBvSunXr0Gg0LF68uEqu/80336DRaDh79myVXF8IIYQQ1wcJyoUQQlwzBw4cYPTo0URFReHu7k7t2rUZOHAgn376qcN+b7zxBr/++mvVNLIUzp49i0ajsf3T6XRERkZy6623snfv3qpuXpW5ePEiEyZMoEmTJvj4+ODv70+nTp349ttvURSl0P4XLlzgzjvvxN/fH19fX0aOHMnp06dLdS3rQxXrPzc3N0JDQ+nTpw9vvPEGV65cqejbK7UrV67wxBNP0LRpUzw8PAgJCaFTp048++yzZGRk2Pa799570Wg0+Pr6kp2dXeg8J06csN3fe++95/Raf/31FxqNhoiICMxmc6XdkxBCiMqjr+oGCCGEuDFs3ryZvn37EhkZyQMPPEBYWBixsbFs3bqVjz/+mClTptj2feONNxg9ejSjRo2qugaXwrhx4xg6dCgmk4kjR44wc+ZMli1bxtatW2nbtm2xx959992MHTsWNze3a9PYayAhIYHz588zevRoIiMjMRgMrFq1invvvZdjx47xxhtv2PbNyMigb9++pKam8vzzz+Pi4sKHH35I79692bt3L4GBgaW65uOPP07Hjh0xmUxcuXKFzZs38/LLL/PBBx+waNEi+vXrV1m361RSUhI33XQTaWlpTJo0iaZNm5KYmMj+/fuZOXMm//rXv/D29rbtr9frycrK4vfff+fOO+90ONf8+fNxd3cnJyenyOvNnz+f6Ohozp49y5o1axgwYECl3ZsQQojKIUG5EEKIa2L69On4+fmxY8cO/P39HbbFx8dXTaOuUvv27ZkwYYLtdffu3bnllluYOXMmX3zxhdNjMjMz8fLyQqfTodPprlVTr4nWrVuzbt06h3WPPfYYI0aM4JNPPuG1116z3fPnn3/OiRMn2L59Ox07dgRgyJAhtGzZkvfff98hgC9Oz549GT16tMO6ffv2MWjQIG6//XYOHz5MeHj41d9cKX399dfExMSwadMmunXr5rAtLS0NV1dXh3Vubm50796dhQsXFgrKFyxYwLBhw/j555+dXiszM5PffvuNN998k7lz5zJ//nwJyoUQohqS4etCCCGuiVOnTtGiRYtCATlASEiIbVmj0ZCZmcm3335rG7p777332rbv2bOHIUOG4Ovri7e3N/3792fr1q2FzpmSksJTTz1FdHQ0bm5u1KlTh3vuuYeEhIQi25ibm8vw4cPx8/Nj8+bNZb5Ha6/smTNngPx54+vXr+eRRx4hJCSEOnXqOGwrOKd82bJl9O7dGx8fH3x9fenYsSMLFixw2Gfbtm3cfPPN+Pn54enpSe/evdm0aVOxbYuLi0Ov1/PKK68U2nbs2DE0Gg0zZswAwGAw8Morr9CoUSPc3d0JDAykR48erFq1qszfE4Do6GiysrLIy8uzrVu8eDEdO3a0BeQATZs2pX///ixatKhc17Fq06YNH330ESkpKbZ7Ajh37hyPPPIITZo0wcPDg8DAQO644w6H/4PTp0+j0Wj48MMPC5138+bNaDQaFi5cWOS1T506hU6no0uXLoW2+fr64u7uXmj9+PHjWbZsGSkpKbZ1O3bs4MSJE4wfP77Ia/3yyy9kZ2dzxx13MHbsWJYsWVJsr7oQQojrkwTlQgghromoqCh27drFwYMHi91v3rx5uLm50bNnT+bNm8e8efN46KGHADh06BA9e/Zk3759TJ06lf/973+cOXOGPn36sG3bNts5MjIy6NmzJ59++imDBg3i448/5uGHH+bo0aOcP3/e6XWzs7MZMWIEmzdv5u+//y7Uy1kap06dAig09PqRRx7h8OHDvPTSS/z3v/8t8vhvvvmGYcOGkZSUxHPPPcdbb71F27ZtWb58uW2fNWvW0KtXL9LS0nj55Zd54403SElJoV+/fmzfvr3Ic4eGhtK7d2+nAe+PP/6ITqfjjjvuAGDatGm88sor9O3blxkzZvDCCy8QGRnJ7t27S/V9yM7OJiEhgbNnz/Ltt98yd+5cunbtioeHBwBms5n9+/dz0003FTq2U6dOnDp1ivT09FJdqyijR4/Gw8ODlStX2tbt2LGDzZs3M3bsWD755BMefvhhVq9eTZ8+fcjKygKgfv36dO/enfnz5xc65/z58/Hx8WHkyJFFXjcqKgqTycS8efNK3dbbbrsNjUbDkiVLbOsWLFhA06ZNad++fZHHzZ8/n759+xIWFsbYsWNJT0/n999/L/V1hRBCXCcUIYQQ4hpYuXKlotPpFJ1Op3Tt2lWZOnWqsmLFCiUvL6/Qvl5eXsrEiRMLrR81apTi6uqqnDp1yrbu4sWLio+Pj9KrVy/bupdeekkBlCVLlhQ6h9lsVhRFUdauXasAyk8//aSkp6crvXv3VoKCgpQ9e/aUeC9nzpxRAOWVV15Rrly5oly+fFlZt26d0q5dOwVQfv75Z0VRFGXu3LkKoPTo0UMxGo0O57BuO3PmjKIoipKSkqL4+PgonTt3VrKzs5222Ww2K40aNVIGDx5sW6coipKVlaXUq1dPGThwYLHt/uKLLxRAOXDggMP65s2bK/369bO9btOmjTJs2LASvw9FefPNNxXA9q9///5KTEyMbfuVK1cUQHn11VcLHfvZZ58pgHL06NFir2H//1eUNm3aKLVq1bK9zsrKKrTPli1bFED57rvvbOus36cjR47Y1uXl5SlBQUFO35f2Ll++rAQHByuA0rRpU+Xhhx9WFixYoKSkpBTad+LEiYqXl5eiKIoyevRopX///oqiKIrJZFLCwsKUV155xfZee/fddx2OjYuLU/R6vTJ79mzbum7duikjR44stn1CCCGuP9JTLoQQ4poYOHAgW7Zs4ZZbbmHfvn288847DB48mNq1a7N06dISjzeZTKxcuZJRo0ZRv3592/rw8HDGjx/Pxo0bSUtLA+Dnn3+mTZs23HrrrYXOo9FoHF6npqYyaNAgjh49yrp160pM0Gbv5ZdfJjg4mLCwMPr06cOpU6d4++23ue222xz2e+CBB0qcP75q1SrS09P573//W2iIs7XNe/futQ1pTkxMJCEhgYSEBDIzM+nfvz8bNmwoNgP3bbfdhl6v58cff7StO3jwIIcPH2bMmDG2df7+/hw6dIgTJ06U+nthb9y4caxatYoFCxbYhl/bZxe3LjtLcme9d2fZyMvK29vbocfd2lMP6hD9xMREGjZsiL+/v8MogDvvvBN3d3eH3vIVK1aQkJDgkEPAmdDQUPbt28fDDz9McnIys2bNYvz48YSEhPDaa685zUIP6hD2devWcfnyZdasWcPly5eLHbr+ww8/oNVquf32223rxo0bx7Jly0hOTi62jUIIIa4vEpQLIYS4Zjp27MiSJUtITk5m+/btPPfcc6SnpzN69GgOHz5c7LFXrlwhKyuLJk2aFNrWrFkzzGYzsbGxgDqMvGXLlqVq05NPPsmOHTv4+++/adGiRZnu58EHH2TVqlWsXr2aXbt2ER8fz9SpUwvtV69evRLPZR36Xly7rUHyxIkTCQ4Odvj31VdfkZubS2pqapHHBwUFFZqz/eOPP6LX6x0eJLz66qukpKTQuHFjWrVqxTPPPMP+/ftLvAerqKgoBgwYwLhx45g/fz7169dnwIABtkDbGhzn5uYWOtY6J9q6z+XLlx3+lSVYz8jIwMfHx/Y6Ozubl156ibp16+Lm5kZQUBDBwcGkpKQ4fN/8/f0ZMWKEw1z++fPnU7t27VJlcw8PD2fmzJlcunSJY8eO8cknnxAcHMxLL73E119/7fSYoUOH4uPjw48//sj8+fPp2LEjDRs2LPIa33//PZ06dSIxMZGTJ09y8uRJ2rVrR15eHj/99FNpvj1CCCGuExKUCyGEuOZcXV3p2LEjb7zxBjNnzsRgMFRZIDFy5EgUReGtt94qc53nRo0aMWDAAPr160f79u2LLG9m30N7Nazte/fdd1m1apXTf/bltpwZO3Ysx48ft9VTX7RoEf379ycoKMi2T69evTh16hRz5syhZcuWfPXVV7Rv356vvvqqXO0ePXo0sbGxbNiwAYCAgADc3Ny4dOlSoX2t6yIiIgA1wLX/Z9/LXxyDwcDx48cdAtspU6Ywffp07rzzThYtWsTKlStZtWoVgYGBhf7v77nnHk6fPs3mzZtJT09n6dKljBs3Dq229B+dNBoNjRs3ZsqUKWzYsAGtVut0rjqoowZuu+02vv32W3755Zdie8lPnDjBjh072LhxI40aNbL969GjB0CR1xBCCHF9kpJoQgghqpQ12Zd9gFZwiDlAcHAwnp6eHDt2rNC2o0ePotVqqVu3LgANGjQoMaGc1ahRoxg0aBD33nsvPj4+zJw5szy3cdUaNGgAqMPJi+ohte7j6+tb7tJXo0aN4qGHHrIFt8ePH+e5554rtF9AQAD33Xcf9913HxkZGfTq1Ytp06YxefLkMl/T2rtt7Y3WarW0atWKnTt3Ftp327Zt1K9f39bDXTDje2lHMyxevJjs7GwGDx7ssG7ixIm8//77tnU5OTkOWc+tbr75ZoKDg5k/fz6dO3cmKyuLu+++u1TXdqZ+/frUqlXL6YMIq/HjxzNnzhy0Wi1jx44tcr/58+fj4uLCvHnzCk2L2LhxI5988gkxMTFERkaWu71CCCGuHekpF0IIcU2sXbvW6Xzav/76C8BhWLqXl1ehQEmn0zFo0CB+++03hxJWcXFxLFiwgB49euDr6wvA7bffzr59+/jll18KXc9ZG+655x4++eQTZs2axbPPPlue27tqgwYNwsfHhzfffLNQWStrmzt06ECDBg147733yMjIKHSOK1eulHgdf39/Bg8ezKJFi/jhhx9wdXVl1KhRDvskJiY6vPb29qZhw4ZOh5uX5vpff/01Go3GIZP46NGj2bFjh0NgfuzYMdasWWPLAg8wYMAAh3+lqTm+b98+nnzySWrVqsWjjz5qW6/T6Qr9/3/66aeYTKZC59Dr9YwbN45FixbxzTff0KpVK1q3bl3itbdt20ZmZmah9du3bycxMdHp9Aurvn378tprrzFjxgzCwsKK3G/+/Pn07NmTMWPGMHr0aId/zzzzDECxZduEEEJcX6SnXAghxDUxZcoUsrKyuPXWW2natCl5eXls3ryZH3/8kejoaO677z7bvh06dODvv//mgw8+ICIignr16tG5c2def/11Vq1aRY8ePXjkkUfQ6/V88cUX5Obm8s4779iOf+aZZ1i8eDF33HEHkyZNokOHDiQlJbF06VJmzZpFmzZtCrXvscceIy0tjRdeeAE/Pz+ef/75a/J9sfL19eXDDz9k8uTJdOzYkfHjx1OrVi327dtHVlYW3377LVqtlq+++oohQ4bQokUL7rvvPmrXrs2FCxdYu3Ytvr6+pSqJNWbMGCZMmMDnn3/O4MGDC9WOb968OX369KFDhw4EBASwc+dOFi9ezGOPPVbseadPn86mTZu4+eabiYyMJCkpiZ9//pkdO3YwZcoUhxEAjzzyCLNnz2bYsGH85z//wcXFhQ8++IDQ0FD+/e9/l/r79s8//5CTk4PJZCIxMZFNmzaxdOlS/Pz8+OWXXxyC2+HDhzNv3jz8/Pxo3rw5W7Zs4e+//y5Uws7K+rBm7dq1vP3226Vqz7x585g/fz633norHTp0wNXVlSNHjjBnzhzc3d2LfV9ptVpefPHFYs+/bds2Tp48WeT/Re3atWnfvj3z58+vsgdMQgghyqgqU78LIYS4cSxbtkyZNGmS0rRpU8Xb21txdXVVGjZsqEyZMkWJi4tz2Pfo0aNKr169FA8PDwVwKEO1e/duZfDgwYq3t7fi6emp9O3bV9m8eXOh6yUmJiqPPfaYUrt2bcXV1VWpU6eOMnHiRCUhIUFRlKJLak2dOlUBlBkzZhR5L0WVqSrIWvZsx44dRW6zlkSzWrp0qdKtWzfFw8ND8fX1VTp16qQsXLjQYZ89e/Yot912mxIYGKi4ubkpUVFRyp133qmsXr262PZYpaWl2b6333//faHtr7/+utKpUyfF399f8fDwUJo2bapMnz7dafk6eytXrlSGDx+uREREKC4uLoqPj4/SvXt3Ze7cuQ4l3KxiY2OV0aNHK76+voq3t7cyfPhw5cSJE6W6B+v/n/Wfi4uLEhwcrPTq1UuZPn26Eh8fX+iY5ORk5b777lOCgoIUb29vZfDgwcrRo0eVqKioIkudtWjRQtFqtcr58+dL1a79+/crzzzzjNK+fXslICBA0ev1Snh4uHLHHXcou3fvdtjXviRaUQq+16ZMmaIADmUBC5o2bZoCKPv27StVm4UQQlQtjaIUUZtDCCGEEOIG165dOwICAli9enVVN0UIIUQNJXPKhRBCCCGc2LlzJ3v37uWee+6p6qYIIYSowaSnXAghhBDCzsGDB9m1axfvv/8+CQkJnD59Gnd396pulhBCiBpKesqFEEIIIewsXryY++67D4PBwMKFCyUgF0IIUamkp1wIIYQQQgghhKgi0lMuhBBCCCGEEEJUEQnKhRBCCCGEEEKIKqKv6gZUNrPZzMWLF/Hx8UGj0VR1c4QQQgghhBBC1HCKopCenk5ERARabfF94TU+KL948SJ169at6mYIIYQQQgghhLjBxMbGUqdOnWL3qfFBuY+PD6B+M3x9fSvknAaDgZUrVzJo0CBcXFwq5JxCVDZ534rqRt6zojqS962obuQ9K6qj6vC+TUtLo27durZ4tDg1Pii3Dln39fWt0KDc09MTX1/f6/ZNIERB8r4V1Y28Z0V1JO9bUd3Ie1ZUR9XpfVuaKdRVmuhtw4YNjBgxgoiICDQaDb/++qvD9oyMDB577DHq1KmDh4cHzZs3Z9asWVXTWCGEEEIIIYQQooJVaVCemZlJmzZt+Oyzz5xuf/rpp1m+fDnff/89R44c4cknn+Sxxx5j6dKl17ilQgghhBBCCCFExavS4etDhgxhyJAhRW7fvHkzEydOpE+fPgA8+OCDfPHFF2zfvp1bbrnlGrVSCCGEEEIIIYSoHNf1nPJu3bqxdOlSJk2aREREBOvWreP48eN8+OGHRR6Tm5tLbm6u7XVaWhqgzjswGAwV0i7reSrqfEJcC/K+FdWNvGdFdSTvW1HdyHu29BRFwWQyYTKZUBSlqptzQzMajej1ejIyMtDrr31Iq9Fo0Ol06HS6IueMl+VnSqNcJ+8ojUbDL7/8wqhRo2zrcnNzefDBB/nuu+/Q6/VotVpmz57NPffcU+R5pk2bxiuvvFJo/YIFC/D09KyMpgshhBBCCCFqMK1Wi7+/Px4eHqVK3CVqPkVRyMrKIjU1FbPZXGh7VlYW48ePJzU1tcSE49d1T/mnn37K1q1bWbp0KVFRUWzYsIFHH32UiIgIBgwY4PSY5557jqefftr22pqKftCgQRWafX3VqlUMHDjwus/2J4SVvG9FdSPvWVEdyftWVDfyni2Z2WzmzJkz6HQ6goODcXFxkcC8iimKQmZmJl5eXlXyf6EoCgaDgStXrhASEkK9evXQah3TtVlHbJfGdRuUZ2dn8/zzz/PLL78wbNgwAFq3bs3evXt57733igzK3dzccHNzK7TexcWlwn/RVMY5hahs8r4V1Y28Z0V1JO9bUd3Ie7ZoOTk5KIpC7dq1ZeTtdcJsNmMwGPDw8CgUDF9Lrq6unDt3DkVRCv38lOXnqUqzrxfHOge84DdZp9M5HR4ghBBCCCGEEJWlKoM/cX2qqPdElfaUZ2RkcPLkSdvrM2fOsHfvXgICAoiMjKR3794888wzeHh4EBUVxfr16/nuu+/44IMPqrDVQgghhBBCCCFExajSoHznzp307dvX9to6F3zixIl88803/PDDDzz33HPcddddJCUlERUVxfTp03n44YerqslCCCGEEEIIIUSFqdKgvE+fPsWWEwgLC2Pu3LnXsEVCCCGEEEIIcWNxVgmrOujXrx9t27blo48+quqmXBWZGCGEEEIIIYQQNdTly5eZMmUK9evXx83Njbp16zJixAhWr15d1U2zmTZtGhqNBo1Gg16vJzo6mqeeeoqMjIxij1u8eDGvvfbaNWpl5blus68LIYQQQgghhCi/s2fP0r17d/z9/Xn33Xdp1aoVBoOBFStW8Oijj3L06NGqbqJNixYt+PvvvzEajWzatIlJkyaRlZXFF198UWjfvLw8AAICAmpEAr7qfwdCCCGEEEIIcQ0pikJWnrFK/hU3/begRx55BI1Gw/bt27n99ttp3LgxLVq04Omnn2br1q1FHnfgwAH69euHh4cHgYGBPPjggw691uvWraNTp054eXnh7+9P9+7dOXfunG37b7/9Rvv27XF3d6d+/fq88sorGI3GYtuq1+sJCwujTp06jBkzhrvuuoulS5cCak9627Zt+eqrr6hXr56tNF2/fv148sknbefIzc3l2WefpW7duri5udGwYUO+/vpr2/aDBw8yZMgQvL29CQ0N5e677yYhIaHU38/KIj3lQgghhBBCCFEG2QYTzV9aUSXXPvzqYDxdSw7jkpKSWL58OdOnT8fLy6vQdn9/f6fHZWZmMnjwYLp27cqOHTuIj49n8uTJPPbYY3zzzTcYjUZGjRrFAw88wMKFC8nLy2P79u1oNBoA/vnnH+655x4++eQTevbsyalTp3jwwQcBePnll0t9nx4eHrYecYCTJ0/y888/s2TJEtu1CrrnnnvYsmULn3zyCW3atOHMmTO2oDslJYV+/foxefJkPvzwQ7Kzs3n22We58847WbNmTanbVRkkKBdCCCGEEEKIGubkyZMoikLTpk3LdNyCBQvIycnhu+++swXzM2bMYMSIEbz99tu4uLiQmprK8OHDadCgAQDNmjWzHf/KK6/w3//+l4kTJwJQv359XnvtNaZOnVrqoHzXrl0sWLCAfv362dbl5eXx3XffERwcjNlsJi0tzeGY48ePs2jRIlatWsWAAQNs17aaMWMG7dq144033rCtmzNnDnXr1uX48eM0bty4LN+mCiVBuRBCCCGEqLESMnJJzTbQINi7qpsiahAPFx2HXx1cZdcujbIMc7d35MgR2rRp49C73r17d8xmM8eOHaNXr17ce++9DB48mIEDBzJgwADuvPNOwsPDAdi3bx+bNm1i+vTptuNNJhM5OTlkZWXZhp4XdODAAby9vTGZTOTl5TFs2DBmzJhh2x4VFUVwcHCR7d67dy86nY7evXs73b5v3z7Wrl2Lt3fh3wWnTp2SoFwIIYQQQoiKlmc00/XN1SgKbP5vP0J83au6SaKG0Gg0pRpCXpUaNWqERqOplGRuc+fO5fHHH2f58uX8+OOPvPjii6xatYouXbqQkZHBK6+8wm233VboOHf3on8GmzRpwtKlS9Hr9URERODq6uqw3dkQfHseHh7Fbs/IyLD19hdkfaBQVSTRmxBCCCGEcGrmulOMnLGR1CxDVTelXJbuu4jBpGA0K5xLyqrq5ghxTQUEBDB48GA+++wzMjMzC21PSUlxelyzZs3Yt2+fwzGbNm1Cq9XSpEkT27p27drx3HPPsXnzZlq2bMmCBQsAaN++PceOHaNhw4aF/hWXKd3V1ZWGDRsSHR1dKCAvjVatWmE2m1m/fr3T7e3bt+fQoUNER0cXaldJAX9lk6BcCCGEEEI49fbyo+w7n8q8rWeruillZjYrzFp/yvY6K89U5L7bTifyn5/2ccuMjWw4fuVaNE+Ia+Kzzz7DZDLRqVMnfv75Z06cOMGRI0f45JNP6Nq1q9Nj7rrrLtzd3Zk4cSIHDx5k7dq1TJkyhbvvvpvQ0FDOnDnDc889x5YtWzh37hwrV67kxIkTtnnlL730Et999x2vvPIKhw4d4siRI/zwww+8+OKLlXqv0dHRTJw4kUmTJvHrr79y5swZ1q1bx6JFiwB49NFHSUpKYty4cezYsYNTp06xYsUK7rvvPkymon8/XAsSlAshhBBCiEJM5vz5qEmZ1a+nfMvpRE7G55dwysgpXI4pMSOXV38/zJgvt7J413n2n0/lnjnbScjIvZZNFaLS1K9fn927d9O3b1/+/e9/07JlSwYOHMjq1auZOXOm02M8PT1ZsWIFSUlJdOzYkdGjR9O/f3/b/G5PT0+OHj1qK7H24IMP8uijj/LQQw8BMHjwYP744w9WrlxJx44d6dKlCx9++CFRUVGVfr8zZ85k9OjRPPLIIzRt2pQHHnjA1uMfERHBpk2bMJlMDBo0iFatWvHkk0/i7+9f5bXOr++JEEIIIYQQokrYB6Y5xqrtRSqPvbEpDq8zcx2D8hyDiTu/2MKpK4WH9Z5NyCTI2832OjEjl3NJWbSPrFUpbRWiMoWHhzNjxgyHpGkFFUwK16pVqyLLhIWGhvLLL78Ue83BgwczeHDpE+FNmzaNadOmlXn7mjVrHAJqd3d3PvjgAz744AOn52nUqBFLliwpdbuuFekpF0IIIYQQhVxMybYtH7qYVsye16djl9MdXmcUCMrfXn7UFpBHBnjy1+M9bdsuWO49x2Bi86kEBn64gds+38z2M0mV3GohxI1IesqFEEIIIUQh55Pzg/J9sSks2hnLnTfVrcIWlc3Ry+qDhFBfN+LSch2C8s0nE5i76SwA/xnUmHu718PbTc9t7WqzZM8FTsRlsOLQZZ6Zv4mu7Ge85gINXS7g/essjE2aYwhsgs7NG1Iv4OruCcFNIKIduPtV6D2YzQoGsxk3felKYAkhqicJyoUQQgghRCFnExyHdb/460Gah/vSsnbFBp6VIddo4rSlF/ymqAD+PHDJYfj6FxtOAzCuUySP9WtkWx8dpGZgnrH2JH20e1npMpswTXL+iVOB7Rucf4DW6KBeT+j7ItTtWCH3cPdX2zl6OY21/+lDoN1weiFEzSJBuRBCCCHEDSg9x4CXqx6tVlNoW1JmHrtj1GD06YGN2Rubwpqj8czZeIYPxrS9xi0tu1PxmRjNCr7uehqGeAP5w9eNJjM7z6rD0O/u4ph46p4ukei3fU6fnNU0154DIM8rApcGvZh73JXYdIUoTRx9tXvJwo0jShS9QnIIMsZBaiycXgeXD8Lju6+613zuprNst7Rzb2wK/ZuFXtX5hBDXLwnKhRBCCCFuMMcupzP0k3/o3zSEWRM6OATme2NTuGv2VjItJcQahXhTL8iLNUfjiU2uHrW+j8WpQ9ebhvni7aZ+3E3PMRKblMVby46SmWfCx11PkzCf/IMUBf/N03kkbw5owaRoWOZ5C8OfmAWunrhvi2HuLwcAmGZ3LZ8EPbe2r81/bnLB95cJkHAc1r4JQ94qd/szco18YVfObf3xKxKUC1GDSaI3IYQQQogbzKaTCZjMCisPx/HtlrO29dl5Jv71/S4y80xEB3oyqXs9+jYNIcLfHYAdZ5PZfDKhilpdekcvqUnemob7ULuWBwBL912k73vr+PPAJQA6Rgegsz6MuLALfroXNn0MwG+1JtIp93OSe78Grp4AjO1Yl0/HtWNKv4YO10rPNfLdlnO8vDEbbn5TXbltFhz5o9zt/3DVcZKz8svQfbflHBtPXP/fdyFE+UhQLoQQQghxgzl5Jb9+95vLjtoyle88l8Sl1ByCfdz4fUoPXhrRHHcXHeF+Hrb9x3+17Zq3t6yOWu6nSZgPLSPyh5Eb7Wqvd60fqC7smQ+z+8HhXwENDHmXIY9+xCeTBzGuY35iO61Ww4g2ETzevxFfT7yJZU/0pGejINv2vw5cgoYDoP1EQIEf71IDfVPZarwfupjK1xvPAHBzizDb+ul/HSlUtkoIUTNIUC6EEEIIcYM5Fa8G5f6eLuQZzcz+R018tuucOo+8e4NAfNxdbPuH+DgmGUu19uKmxMCJv2HvQki7eA1aXjrWzOtNw3ypG+BBmK/a09+mjh+1/T1oU8ePcZ0j4fwu+ONJ9aBmt8CDa6Hzg7jqtXRvGIReV/ijsotOS/9moTQL96VxaP7w91yjWa2NPuRt6PSQmvjt0C/w9zQAsvKMjPliC5+tPVlku+dvO8ewTzYC6rSBz+9qz8dj2wJw5FIa9Z77i8PVsDydEKJ4MqdcCCGEEKKcFEVBoymcKO16dyUjF4ABzUJZvOs8CRm5GExmW1DeIaqWw/56nZb372jDv3/aB0DmxSP4bX8Dji/L36lOR5j897W5gWKkZOURl6beX5MwHzQaDT8+1IUjl9Lo2zQEV50WxZCL9sB8WPsGmPKgyTC441vQlq2/KsDL1eH1N5vO8NHYdjD0HTUT+48TYMsMUMysNHVj+xnYdiaJR/s2LHSuN/86YssKD9C5fgBarYaRbWuzJyaFbzafBeDFXw+w5JHuZfyuCCGuZ9JTLoQQQghRDtP/PEzXN9cQn55T1U0pM2tPd21/dVj6umNXaPTCMv6xzFvuEBVQ6JjbO9ShlU8GH7p8RtjCAZaAXAMhLUDrAud3wMW91+oWnDp8MY175+4AoF6Qly3JW1SgFze3DMdNr0NjyEY7/zb4/XHIuAzBTeHWWWUOyAECCwTlZvvR5c1GQM//qMtbP2fUjgn84foCzTVnC53neFy6Q0AO4KrLr01+f496uGBkgm4V9yW8D789CuvfgZzUMrdZCHH9kaBcCCGEEKIcZv9zhstpOSzcFlvVTSkTRVFIzbYE5bU8Cm0P93N3zEpuZcjhQ9Nb3KrbhNaUy05zE5b3/QMe2QzNb1H32TW3Mpvu4EJKNuNnb+Xvw3EAHLyQytBP/mFvbAp6rYaXRjR3cg/Z6lzvc5vAzRcGvgb3rwR333K1wdvdcdDpyfgMxx36vQh3zuNK3cFkKm600J7jD9cXUGb3d0gEt8pyD32bBPNw7wa46rWM7WSZz56VRN1tr7LX7z+87jKXEebVsOd7WDsdvh8NxtxytV3cGGbOnEnr1q3x9fXF19eXrl27smzZMod9cnJyePTRRwkMDMTb25vbb7+duLi4Ys+7bt06NBoNGo0GrVaLn58f7dq1Y+rUqVy6dKkyb8nm22+/pV27dnh7e+Pv70+7du148803bdunTZuGRqPh5ptvLnTsu+++i0ajoU+fPoW2nT9/HldXV1q2bFmZzXcgQbkQQgghRBnlGEy25Z3nkqqwJWWXmWeyJTyr4+8YlM+a0IFfH+2en5Xc3j/v0dB8mkTFh1tzX2F03ks8vCyVhdtjoMN96j4HFkPc4cq+BQBe/f0Qm08lMvm7nQDM23LOtu2DMW3p2yTE8YCts+CjVnBqDbh4wl2LofvjV1VPXF/g+3TqSgYm++5yjYb4OoNY2fJdeud+xF+mTmg1CpoLO9WHAxveA5PBFpQPbB7Gszc34cirN6vz1XNS4btbYNtMvHLjSVD8+NQ4iottHgdXHzi/Hb4bCcdXgtmEEAXVqVOHt956i127drFz50769evHyJEjOXTokG2fp556it9//52ffvqJ9evXc/HiRW677bZSnf/YsWNcvHiRHTt28Oyzz/L333/TsmVLDhw4UFm3BMCcOXN4/vnneeyxx9i7dy+bNm1i6tSpZGQ4PhgLDw9n7dq1nD9/vtDxkZGRTs/9zTffcOedd5KWlsa2bdcmsaUE5UIIIYQQZXQ2MdO2/M+JBI5cqj7Jt1Ky8gBw1WsJ9M5P4Oam1zK4RSihlqRoDlIvwJbPAHjBcD97lEaAGpA+t+QAM06HQlhryMuA2X3h2LLC56hg55OzHV7vO58CwBd3d+CWNhGOO2+fDcufhcwr4Fsbxv8IkZ2vug1Nw/J72N30WnKNZmKT8mu5Z+YaGfzRBl745SAJ+PGI4Uk658wgvc396g5rXiNnehT3Xn6daM0l+jcLQaPRqA9FTEZYOB4uHwCvYLhzHq81WsT7xjt56PxglLHfq4F5zBZYcAcsffyq70eUgaJAXmbV/CtDFv4RI0YwdOhQGjVqROPGjZk+fTre3t5s3boVgNTUVL7++ms++OAD+vXrR4cOHZg7dy6bN2+27VOckJAQwsLCaNy4MWPHjmXTpk0EBwfzr3/9y7bPjh07GDhwIEFBQfj5+dG7d292795t2z5p0iSGDx/ucF6DwUBISAhff/210+v+/vvvjBo1ivvvv5+GDRvSokULxo0bx/Tp0wu1b9CgQXz77be2dZs3byYhIYFhw4YVOq+iKMydO5e7776b8ePHF3n9iiaJ3oQQQgghymB3TDL/+n6Xw7plBy/TLLx8Q6CvtRTLfHJ/Dxe83PLnLdeu5eE8ad3FvfDDXWDI4oxHC5bndARg5l3t2Xkuma83nuG9VSfoM2kuLbc/Cyf/hl8fgcd2gFdQ4fNVEK1dW88nZ3HCMnS8Ve0CPd9nN8Kyqepyr6nQeyroXKgI0UFe/PhgFwK9XXl84V4OX0rjRHwG0UFeAOw/n+pQbxwgjgCGnxxBV4OGqfofCDBnMEq3meG6beh/WqQGXBoNxB+B3DTQu8OEnyG8DY8HZ7D00HoOXEjllHdvGj64Tq2JvuMr2Ps9tL8bIrtUyL2JEhiy4I2IkverDM9fBFevMh9mMpn46aefyMzMpGvXrgDs2rULg8HAgAEDbPs1bdqUyMhItmzZQpcuZXs/eXh48PDDD/PUU08RHx9PSEgI6enpTJw4kU8//RRFUXj//fcZOnQoJ06cwMfHh8mTJ9OrVy8uXbpEeHg4AH/88QdZWVmMGTPG6XXCwsJYt24d586do169esW2adKkSUydOpUXXngBUHvJ77rrLqf7rl27lqysLAYMGEDt2rXp1q0bH374IV5eZf9+l4X0lAshhBBClMH0P4/Ysntb7YlJrqLWlJ11Prmfh4stERpAqI+THnJjHvwwHtLOQ2BDlkb/D9DQJNSHwS3C+N/w5nRroNb7PpzqBmMXQmhLyE7KD4Qrif3I8VGfbcZkVgjwciXcz+4+Lh+AxfeDYobWY6Hv8xUWkFt1rh9IwxAfGoV6A3AiPt227cCFFKfHnEvM4gdTP27KncVE7RusMbVFjwlit6lD0mO3qQG5Ry0Y8QmEtwGgQbA33RuoDzrWHYuHoIYw7D01GAdY9iyYzRV6f6L6O3DgAN7e3ri5ufHwww/zyy+/0Ly5mnPh8uXLuLq64u/v73BMaGgoly9fLtf1mjZtCsDZs2cB6NevHxMmTKBp06Y0a9aML7/8kqysLNavXw9At27daNKkCfPmzbOdY+7cudxxxx14e3s7vcZLL72En58f9evXp0mTJtx7770sWrQIs5P3//Dhw0lLS2PDhg1kZmayaNEiJk2a5PS8X3/9NWPHjkWn09GyZUvq16/PTz/9VK7vQ1lIT7kQQgghRCnlGEzstwyTXv9MHxIy8rh95mZ2nE0i12iqFr0dFyzDvsP9PfCyC8qDC9QiB+Dwr5B2AbxD4YE19Igz8Xf8YV4c1gytJSquY0kWdzktB/SucMun8FV/OPgzRPeEDveqPb8VYNPJBDacuMLwVhFcSs3Pep9gKfHWIsI3v7f/ynGYc7M6pD6oiVqmrBLL1zUKUYOHk3H5c1r3nS8+O/pzQ1twT7ehJGfeD1nHIekUGCz3FdgAItqDzvHjep8mwWw8mcD641eY3LO+urLf/+DgL3BpL2z/Arr8C1HJXDzVHuuqunYZNGnShL1795KamsrixYuZOHEi69evtwXmJWnRogXnzqk5G3r27FkoUVxBimV4vfVnMS4ujhdffJF169YRHx+PyWQiKyuLmJgY2zGTJ0/myy+/ZOrUqcTFxbFs2TLWrFlT5DXCw8NZuXIlMTExbNy4kc2bNzNx4kS++uorli9fjtaumoKLiwsTJkxg7ty5nD59msaNG9O6detC50xJSWHJkiVs3LjRtm7ChAl8/fXX3HvvvSV/o66CBOVCCCGEEKV0PC4dg0kh0MuVyABPIgM8CfJ2JSEjj70xKbSve/0PYY+xzHmODPDARZf/wbVHQydDzbd/qX7t9AC4+9EhCn6f0sNhlzDLHPTLaZZgsnZ7aD9RzcT+x5PqcPYx35c7IE7PMbD6SDwGk5lnFu8H4Iv1p53u2z7Srr76+rfUgLxuZ3UO+VUkdCuNBsFqUH7GLt+A9QHOt5M6EeLjxp6YFH7YEcPLI5o7lJ0L89OBX2sILxwoFNSnSTCv/3mEbaeTyMoz4umqB+8Q6DYF1r0By/+rTjkY+VmhgF5UII2mXEPIq4KrqysNGzYEoEOHDuzYsYOPP/6YL774grCwMPLy8khJSXHoLY+LiyMsLAyAv/76C4NBHWHj4VG4YkNBR44cASA6OhqAiRMnkpiYyMcff0xUVBRubm507dqVvLw82zH33HMP//3vf9myZQubN2+mXr169OzZs8RrtWzZktatW/PII4/w8MMP07NnT9avX0/fvn0d9ps0aRKdO3fm4MGDRfaSL1iwgJycHDp3zs83oSgKZrOZ48eP07hx4xLbU17ykyqEEEIIUUqXLb2zdQI8bb1AXRsE8fu+i2w+lXjdBuVpOQZ+3B7L6YRMYpLUoDEyQO1te3pgY05fyWBUu9qOByWfVWuPa7RqkF2EUMtw8Ti7nmuGvA0+YfDPB3D0D7XHvcWt5Wr7G38dYeH2wmXnGoV489ld7Rn04Qbb6/t7WuaWxh+Bg0vU5aHvqcPAK5mfpzosPiPHCMCZhExik7LRaqBtXX/8PFxoFu7L+M7OMz6XVoNgb2r7e3AhJZutpxPp1zRU3dDz32A2wj/vw/4f1ID8lhmVOjpAVE9ms5ncXHV0SYcOHXBxcWH16tXcfvvtgJpRPSYmxjbvPCoqqtTnzs7O5ssvv6RXr14EBwcDsGnTJj7//HOGDh0KQGxsLAkJCQ7HBQYGMmrUKObOncuWLVu47777ynxf1p7/zMzMQttatGhBixYt2L9/P+PHj3d6/Ndff82///3vQr3ijzzyCHPmzOGtt94qc5tKS4JyIYQQQohSiktXP8iG2g317tYgkN/3XWT98St0jPLDeB1O6f187SlmrT/lsM6aOfzx/o2cH3ToF/VrdA+1J7YIgV6uAKRk2yU007tBn/+qScvWvwWrXoLGQ8DFybz1EtgH5HfeVIdFO9XSRje3DKNxqA/jO0dyLjGTT8e1x9dNr/YS//UMoECzEaXqfa4IXq7qx+r0HCPpOQaWHVRrNfdsFIyfR8XNY9doNLSN9OdCSjanr2TSr6llg04P/V6AiHZqubU934NHAAyYBlpdcacUNdhzzz3HkCFDiIyMJD09nQULFrBu3TpWrFgBgJ+fH/fffz9PP/00AQEB+Pr6MmXKFLp27VqqJG/x8fHk5OSQnp7Orl27eOedd0hISGDJkiW2fRo1asS8efO46aabSEtL45lnnnHa4z558mSGDx+OyWRi4sSiHwSCGigHBgZy8803ExkZyaVLl3j99dcJDg62PUwoaM2aNRgMhkLz5wH27t3L7t27mT9/vm1OvNW4ceN49dVXef3119HrKyd8rg5Tn4QQQgghrgvxliHa9mXDrIm39samMGHOTtZcvP56Js8lOvYcje1Yl56NismMfvJv2PC+utyi+HrFesvcTYf63FbdHwefCEiJgTWvgTG38D7FUBTF1tGr0cBro1ry4Zg2DGgWyuQe6nzqN25txfzJXQhw18Kv/4Ive6vJ0vQe0PfFMl3valgz2V9Oy6HbW2tYd+wKUGBIfQUJsTwUupLh5PvZdCgM/1Bd3vyJWsc8p/i57aLmio+P55577qFJkyb079+fHTt2sGLFCgYOHGjb58MPP2T48OHcfvvt9OrVi7CwMIegujhNmjQhIiKCDh068NZbbzFgwAAOHjzoMF/966+/Jjk5mfbt23P33Xfz+OOPExJS+EHfgAEDCA8PZ/DgwUREFJ/Z3novY8aMoXHjxtx+++24u7uzevVqAgMDnR7j5eXlNCC3trF58+aFAnKAW2+9lfj4eP76669i23Q1pKdcCCGEEKKU4mxBeX5Ped0AD/w9XWylxg4lX399HkmZ+XM3J3WvxwvDmjkvfwaQdBoWjAWzQU3U1mZcsefW6dTzOA3KXb1gwMvwy0OwZYaa/O2WGdBoQOF9nTifnG0ryXzolcG46XXc2q4Ot7ar47hjdgr8/jgc/g00Omg6TJ1jHVL4A3ZlsU+al55jZPuZJADHbPAVJMSSKf9KehEPOTrcCzo3+PPfcPYf2PAeDHqtwtshrn+lqbPt7u7OZ599xmeffVbq8/bp08eW0K0k7dq1Y8eOHQ7rRo8eXWi/zMxMkpOTuf/++0s85+23387AgQPx9fV1SOpmb9q0aUybNq3Ic3z00Ue25U8//bTI/cLCwjCZTCW26WpIUC6EEEIIUUqJGWpwG+idH5RrNBrCfN1tQXlMhhqUBbhUbOmtq2ENyudP7kx3Zwnd7O1dqAbkkV1hwhI1o3ox9JYs7EZnQTlA6zGQm67OL0+/CL89Ak/sA5eSE0YdupgGqFnVPV2dfGzNTlFroh9fppY907nCHd+qvcXXmNP2AWGVEJRbM+UXGZQDtB2nzqVfOAa2z4auj4FPaIW3RYirZTabSUhI4P3338ff359bbrmlqpt0zV1/j3KFEEIIIa5T9jW+7dmXEzOjYce566tueXKWGpQHeBUfYKMosP9Hdfmm+0sMyAF0WmtPeRGT6TUaNXv743vAry5kxKnznVET532y+gQPfreTH3fEWM6jsOZoHLvOJfP1RjXLerNwJwn0TAZYdA8c+1MNyIMaw7gfqiQgB/B0dT5vu3J6ytX3W3xaCdMBGg+GOh3BmK0mgBPiOhQTE0NoaCgLFixgzpw5lTZv+3p2492xEEIIIUQ5peU4D8rt55gDbD2dxOCWxc+JvFbMZoVkSy9+iUF5zFZIOQeu3uoQ8FKwzik3mkoYyuriDt2fgL/+Axs/JDeqN7fPPc+FFLVu+vazSYzpGMmqw3E8/P0u22Ferjru6Vog+/OZDbDlMzizHly84J7foG7HUrW3stiXl2sc6k24nwfpOQaigyq+bFYtT/X/MdU+uZ4zGg30fQHmjVJL1EX3gOY3Xi+kuL5FR0eXeih8TSU95UIIIYQQpVRUT7n9HHOALaeTrlmbSnL4Uhoms4JOq8Hfs4Qh9ft/UL82uwVcPUt1fl1Jw9fttZsAvrUh7QK6Wd1ol7bGtikly4DBZOZkfLptXaMQbxb/qxut6/jnn2Pjh/DtCDi+HNDAbV9UeUBeUG1/D76d1Iklj3R3CNYrio+7NdN7CUE5QP0+0GgQmPJg0d3q/HILo8nMYwv3sixWQgIhqpL8BAohhBBClJI1KPd1L76n/OjldBKdZcauAu+tPAbA0FbhuOmLKY2VfA4OWsqgtRlb6vPrtcUkeivIxQMm/k5OVF/0ioG3Xb5kRN0cLKcgOTOPi5Z654/3a8iqp3urQ9cVBc5tht8ehb+nqTu3HgMPrFHLnl1nrInYKos1KM/MM5X8fddoYMz36igFwLzhPWJizgKw/0IqKw7Hs/y8loMX0iqzyTXCjd6bKwqrqPeEBOVCCCGEEKWQazSRY1DnTRfsKbcPwnQa9UPa1iruLc/KMzJl4R7WHbuCXqvh3wMbF71z8lmYOwRyUyG4qZp1vZTye8pLV6D9g11GOp97iG3mpnhpcnkz9w0GeRzDjTwSM/O4ZBnOHu5vlwhu2bNq+yxz0en9LNz2JdRuX+p2Xgu+lmB5WOvwSr2Oj91DoYwcY6Ht87acpcVLy9lyKlFdoXeDAa+g1L4JrTGb/bMf5vt/jjgkivtk7clKbXN15mJJ2piVlVXFLRHXG+t7wuUqE3vKnHIhhBBCiFJIy1aDH40mv6fSyqFEmheczYBzSY61wa+1N/46wu/7LgJwS5uI4uc2r3sL0i5AUBO4+xcoosSQM/riSqIVkJ1n4vN1pzCaFZ51fYLl7i/jnXaSWbzCEde6bDgQTWyyJSi3JkjbuwC2fwFo1PJsbcdBvV6lbt+1tPzJXpy6kkHPRsGVeh1XvRY3vZZco5m0HAN+dtMScgwm/vfbIQBe+u0gq57urW7QaDjfYSp1L9zJcN0W0v7uyxzNKEAdabD2WAKHL6bRPMIXs1khLceAv2fJif5uBDqdDn9/f+Lj4wHw9PQsuqSguCbMZjN5eXnk5OQUWRKtMimKQlZWFvHx8fj7+6PTFTMKqRQkKBdCCCGEKIXUbDWDuY+bHq3W8QO5/fB1fzcFMjQlJ+GqZD/uiLUt1w8uJiDPTVfrewOMnAG+ZUtQV2JJNDv7z6dgNCuE+Lix6r9jcUlsD+vfIuPwKpppYzn9z1ROGp5Aq9HQKtRdLc/2x1PqwX2egz7Plqlt11qEvwcR/iWXeqsIPu4u5Gbkkl6gp/z0lfyHQecSs1AUxRZAbjE352PDQzzh8it1NXE8yUK2aeuzxdwCgN0xyTSP8GXc7K1sO5PE/4Y35/4e9a7J/VzvwsLCAGyBuahaiqKQnZ2Nh4dHlT4g8ff3t703roYE5UIIIYQQpZCUWXQG8yC7uuUBlsW0qwjKU7Ly+H3fRUa0iSh3b6XBLhu6ffsKOfQrGLIgsKFaPquMdJZeKlMR2ddzDCZ+2hlLnQBPDlvqjneIqqUmQAtpCnd8w9ffzOdfZ6YwTLedBOUbtoffReCiW+DiHvUkjQZBr2fK3LaazNddT0JGLvHpOaxdG8/A5qE0DvUhNjl/iHWeyUxCRp6tZF9MYhaLTb3xuOkuWux+hbG61byo/55b8l7HhI5ziZmkZhvYdkadevHZ2pNM6BJZfC6CG4RGoyE8PJyQkBAMhqp94CbAYDCwYcMGevXqddVDx8vLxcXlqnvIrSQoF0IIIYQohaRMdf6ts6DcVa/lt0e7k5NnYNGqLdys3c59J96Gn5tAh3shqps67r2Unl60jzVH41l9NJ5v7ut01W0vMihXFNgxW11uN6FMbbQqrqc8O8/E0E/+4UyC41D+DlG1HF6bIm7irRPjecllHhP1q5h4ZZW6wd0Puk2BLo+WaUj9jcA6heLeuTsA+OfEFX54sCvnLcP/rS6kZNuC8rg0NYlemL8X37hPYEjeFlpozzHP/X0+zRvGucRQTsTlZ79Pysxj1rrTPDGg0bW4pWpBp9NVWCAmyk+n02E0GnF3d6+yoLwiSVAuhBBCCFEKiZnq8PUAL+cBbpu6/hgyU0jN+p1BrosgGziwDw4sgk4PwtB3S32tNUfVIbLrjl0pV1uNJseka37OSqEpCuz7AS7tA50btLunXNcqbk75S78dLBSQA3SuF+jwum6AJ8+YbiYNT+7Sraad1pJ0bPiH0PL2crWrpmsY4sO+86m219bEghcKBOUXU7JpW9cfgMuWoDzExw29bzDPXZrMDJdP6abZSzfXvXx6/jKHLj6unl9znvt0K2ix8QLK7gQ03qEw5K3rdj6/ENWZBOVCCCGEECU4ejmN5QcvAxDopKccgJit6BfcyaAcNVDa6tqFLi0bw+7vYPts6HAfhDav1HbGJmXx7M/76dbAMegt1GZDDvx8Pxz9Q33d7i7wcjymtIrLvv7PiQTb9Vf/uze/77tILS9XWtXxc9hvZNvafLnhNIvje7POfSA7x2rAmANNh5WrTTeCh3vX5+fd522vG4Z4A4Vrl286mcCCbTH4ebrYpg+E+bnj5arnL3MXRuSF8UHwXzRJ28gjuXNYs+YkH7sYGK7fgU6xnCsLyEqA70ZCvxehx9PlGlUhhHBOgnIhhBBCiGLEJGZxy4xN5BnVoDPAu4igfNVLaHJSSdGH8HH2YNZ7jmLNLQMgOwWOLIV1b8KYeZXa1ru/3sbZxCw2W0thAa+NbEH9YG/HHXd9owbkWhfo8RT0+k+5r6m3DCs3K2A2K2g08PwvBzmfnMXlNLUG+bpn+uDj7sLdXaOdnsNVr2XV073ZdS6ZyABP8ClmDrwAoFGoDw/3bsCs9acAbIkFs/JMAHi66sjKMzF/W0yhY8N83akb4Mm2M0kcUqI5Uu8BTh7xYVjeMgYa14MOUOBcQHfeu9wOl6B6vF9vJ5p9C2H1qxDaEhoPvmb3KkRNJ5NzhBBCCCGK8d7KY7aAHKBhwQAX4PIBiN2GotXzW9SLzDUNITnHckzf5wGNGpivegnOboSc1MLnKEJmbuE61EU5m+hYR7l+sFfhQNhsVoNygEGvQ78X1DrW5aSzy0RvNCtcSMlm4fYYWy9594ZBDnW1i9MhqpZt/rMo2X+HNOWfqX2B/MSCmXnq+6VRiJP3KVDL04UGwd5M7lmPMTfV5ZeHu6DRaljf8FkeznuSj4y3Mc/nfhj/E76TfmGltgdL4sNZ1Xga3DRJPcne+ZV+b0LcSCQoF0IIIYQo4NnF++n25mqmLT3EUkut70UPdWXpY925rX3twgfsnAuA0mQYJld/AHIMlqA8pBm0v1td3vQxfDMM3oqEGZ3Ucl/plwudzj7QXbi9cE+nM85KsAU4y9x+7C+4cgRcfaDN2FKduzh6u7aazAon4zMctv9nUJOrvoYomjVfQK7RTI7BRFau2lPeMMSn0L6tavvxxq2t0Go1NA3z5e3RrWlZ2xeA5hG+LDd34iPjaOj2ODQeRC1vN4a1CgfgwXm72B9mmd9/5A9IKd37UghRMgnKhRBCCCHsnE3I5MedsVxMzeGbzWdt6zvVC6B1HX/HmriKos4Xt/Q8m9tPxMXy6SrbYEJRLMnPhrwDA6ZBk6HgV1ddl3AMds6BrwdC2iWHNni65Gd3PnIpndI4fSWj0LqoQLv65GYTrHoZFt+nvu54P3j4l+rcxXHsKTc7BOWNQ71pU/fqryGK5u2qt03vXnU4ztZT3ji0cE/571N6MMQSZBc0sHkoLSJ86RBVi1va5j94ameXKf+VHVo10Ztigq2zKvAuhLixyZxyIYQQQgg7/5xMKLSuyCHVa6fDBktW9bYTUKJ64nZgmW1zjsGMh6sOXDzUudtWmQkQswVWvgjJZ2HerTD+B6gVjaIoZBtMtl1zjfnLxUnJcuwpb1PHj/8Mbqy+UBRY8QJsm6m+rtfbsT1Xwb6n3GhS+POA+oDB3UXLwge6VMg1RNG0Wg0+bnrScoxMWbgHV736VKhxaOGe8uKE+Ljx5+M9C623Hwav02qg2xNwZoP6IKpuR2g2UsrVCXGV5CdICCGEEMLOgfMpDq/b1PHjq3tuKryjyQBbPlOX+78MI2eARmPrKQccgmsHXkHQbATc8xv4hKvDyT/vCkd+Jz4916Hmd2JGXqnanWGZe14/yIv5kzvz66PdCffzUOeQr/pffkA+aqZ63QroJQfHnvIF22PYE5OCi07Dhmf6ElhUfXRRoTxc80dWWPMfFHyQ1LacIxY6RQfQxpIt/1JqNjTsD3U6giETfroXVk8r13mFEPkkKBdCCCGEsGM/XPyVW1rw22M9nA/BvrQPDFngUQu6P2krEaXVYOutdBaUH72cxr++36XW764VDZOWQ1QP9Vx/PcPBGMee+sTM3FK125oQrl6QF90bBqnD7OMOw+ddYPOn6k5D3oG24yu0nJVGo7EF5u+uOAbAvwc1IcTXvcKuIYqndfL/6WkXqAPMn9y5fOfWavhobDsAkjMN6ntnwhLoacnYv+UzSDhZrnMLIVQSlAshhBBC2IlNVjOYr3iyFxO7RRe947lN6tfIroWG73pYusuz8woH5ffN3cGyg5eZsnC3uqJWNNz9C3gFQ/olMg+qtcNbRKgJuM4mZDH52x28vfwoOUX0vMel5XAhJRsALzfL7MTcDPhxgjp33d0PBr8JnR8q6fbLxb63vHO9AB7oWb9SriOccxaUe7npmdyjHq46LQse6Jz/vigHPw81mVxGrhGDyQzuvtD/f9BoMJiN6kgMIUS5SVAuhBBCCGGRnmOwzc2uXcuj+J3PbVa/RnUvtMndkqitYBCdYzBxKTUHgIMX0ki1zgPXu0L7ewBoePYHAIa1DsfXXU+eyczfR+KZue6UrSa1vcSMXAa8v55P16i9ld7uenUO+V/PQNIp8K0NU3ZD10dK8R0oH/uQ8LVRLR2CdFE1PF11vDCsGbv+N4BuDYKu6ly+7vkBfZp9lv9Br4FGp2b0l95yIcpNgnIhhBBCCIvzyWpvcy1PF7yL61k0m+DcFnU5qluhzR6WoLzg8PXYJMc64jPtg+wO96JotDTP2UN9zUW61A9k7X/68O2kTtzSJgKARTti8zO6W+yJSSHdVstcoX/SD/BhC9i3ADRauG22Ooe9EuXa1XFv4KyOu6hUneoFOLxuF+mPt5sejUZT6hrxxdHrtPhYfh4cSu8FN4H6fdTlDe+oD4OEEGUm2deFEEIIISysNckbhpQQWF7cA7mpaq3vsNaFNlt7ygsOXz+TkOnweu6mM9zbLZowP3fwjyS33kDcT6/gU5dPaWhqiZt3V3o3DqZzvQCWH7rMxdQcTl3JsNWg3rBpI2kbZvOUXsNlJYDu2oP0j92mnlzrAoNeh+jCPfmVSXrJr72XhjfHz8OFqEBPejQMokGwt2Ppvgrg6+FCeq7RMSgH6PEknF4L+3+EoMbQ6z8Vel0hbgTSUy6EEEIIgZpZes7GMwA82KtB0TuazbDSMoe20UDQFe7jsCbZKthTfi5R7Skf3jqcm6JqkWs08/jCPZxLVIP1PfUfJF3xoIX2HG7zRsBZdd66u4uObg0CAZi94QwY88ha/gqdVo7ittxfeUL/C2+6fM1w3TbMGh0MeRf+GwNdHi7/N6QcQn0l23pVqOXlyrRbWnBf93o0CvVBWwkPRqzzygsF5fV6wVBLWcD174CxdIkJhRD5JCgXQgghhABmrjtFrtFMx+haDGgWUvSOe+ZBzGZw8YKBrzrdxd2S6K3gnPKzluC7XpAXI9uqQ9K3n02i97vrUBSFFUnh9M39gCM+3cBsgIVjYf8iMBl4vH8jAH7aFcvFH57Ac+sHuGsMHDFHssDYjzWmtmwwteKnZp9A5wfB1fNqvyVlVtu/hHn4otoqMigHuOl+8AwCU65alUAIUSYSlAshhBBCAOuPXwHg4d4Nih/6u2ee+rXPs+Bf1+kuXq5O5t+SH5RHBXrRqV6g42ljU1h9NI4E/Lg4cKaaQC43DZY8AO83pf3FH7mjsY6Rmn+IOLkAgCfzHmFI3ps8b5zMoT5fMc3vdXoOur3M915Rate69g8CxLVRbFCu0UBdS8k16/QJIUSpyZxyIYQQQtzw4tNzOJeYhUYDHQskzXJgMsLlg+pyk6FF7lbbX63RbU0cZ3U2QR2+Xi/Ik6hAxwD2P4v2EZuk7t++QQQ0/xX+eQ92zoXMeFj+LO8CuKr7zzUO5ldzDwAe6FmPKf0bMcXSm15VGgR7Ven1ReXx97QE5VlOgnKAup3g2J+WoHzKtWuYEDWABOVCCCGEuOHtOpsMQJNQH3yLy1adcByM2eDqDQFFzzuvG6AG3Na54gC5RhMXU9WgOyrQy5YMzuq0JQmcj5teDYA0Guj7PPR6BrbMgLVvopiNXDDXYqu5Oe8YxwCw/pk+RAVWbTD89MDGrD4az/096lVpO0TlKbanHOx6yrerWdgrONGcEDWZBOVCCCGEuOFtO5MEwE3RtYrf0TpfNqw1aIueBRgZoM6ttiZ2A7UcmqKAt5ueQC9Xh/1Dfd2IS1MTZIX5uTsOn9e5QI+noMsjnLqSyYCPt9g2+Xu6EBlQ9UPGH+/fyDbnXdRMviUF5RFt1Yz/GXGQcg5qRV+ztglR3cmcciGEEELckJYfvMS8recwmMz8sV8thdazUXDxB13aq36NaFvsbqE+6vD1hIw82zrr0PXoIE9b0P3tpE6MaBPB8id60aOhWku8bV1/5yfVu1HLx7FHvFVtvwovfSWEM9ae8pSignIXDwhvoy7Hbr9GrRKiZpCeciGEEELccAwmMw9/vxuAIC9XEjLy8HHX069pMVnXIb+n3Bp8FME2/zY7D0VR0Gg0DknerHo3DqZ3Y/VBwDf3dWTr6STa1PUr5ryOPexTBzctvr1CVJASh6+DOoT9wk51XnnrO69Ry4So/qSnXAghhBA3HPu53htOJADQINgbF10xH43MZri0X10uISj381D7PQwmhaw8tSyarRxaEfO/9TotPRoF4VPMnHadXf3pWRPa06pO0QG8EBXJ+qAprdigvJP69fQ69edFCFEqEpQLIYQQ4oZzIi7Dtrz+WDwA9YNKSJaWeBIMmaD3gKDGxe7q4aLD1RLgW4f7WueXF8y6XlYvj2jOyLYRDGgWelXnEaIsStVTXr8PuPmqPytH/7g2DROiBpCgXAghhBA3nHNJ+QnYLqbmANAs3Lf4g2xJ3lqBVlfsrhqNBj9Lz2JKljqv3NpTHl1S8F+C+7rX4+Ox7dAX16svRAWzzSkvqiQagIc/dH5YXV7/tvSWC1FK8ttcCCGEEDec5Kw8h9cdomoxvnNk8QfFWLKelzB03crfI7+uc57RzAVLzfLoKi5fJkR5WIPybIOJPKMabOcaTWRbpmfYdPkXuPpA3EGI2XytmylEtSRBuRBCCCFuOCmZ+b19A5uH8s19HfFyKyb/bfxR2P2dutxoYKmuYZ2Dm5SVR2xyFmYFvFx1BHm7lnCkENcf+1wHqdkGFEVh1Gebuen1VeyLTcnf0TMAGvZTly/uubaNFKKakqBcCCGEEDcca0/5a6NaMvuem4pNroaiwJ//BrMBGt8MjQaV6hphfmqt8osp2bbEclGBXlLCTFRLOq0GX3f1wVVqtoGULANHLqWRmWfi281nHXcOa6V+vXzg2jZSiGpKSqIJIYQQ4oZjnRdby7OYYNwq9Tyc2whaPQx9F0oZVNetpQbl55OzcXdR56BHBlxdkjchqpKfpwtpOUZSs/PIyDXa1mfmGR13DJWgXIiyqNKe8g0bNjBixAgiIiLQaDT8+uuvhfY5cuQIt9xyC35+fnh5edGxY0diYmKufWOFEEIIUWNYe8preZZiKPmFXerXkObgX8K8czt1LQF4bFIW6Tlq0OLrIf0hovqyz8BuX1YwuWDyN2tPecJxMORcq+YJUW1VaVCemZlJmzZt+Oyzz5xuP3XqFD169KBp06asW7eO/fv387///Q93d/dr3FIhhBBC1BSp2QYuWTKulyoov7hb/Vq7Q5muU7eWJShPzrYlw/J0laBcVF/elrwLGbkmziTYBeWZjokT8Y0Aj1pgNsKVo9eyiUJUS1X6l2HIkCEMGTKkyO0vvPACQ4cO5Z133rGta9CgwbVomhBCCCFqqPdXHiMj10j9YC8ah3qXfMAFa1DevkzXqWMbvp5lG+rr6Vp8KTUhrmfWoDwz18jRS+m29YV6yjUatbf8zAZ1CHtE2wprQ2q2gT/2X2RYq3D8S/NQTYhq4Lp9XGs2m/nzzz+ZOnUqgwcPZs+ePdSrV4/nnnuOUaNGFXlcbm4uubm5ttdpaWkAGAwGDIZi6iqWgfU8FXU+Ia4Fed+K6kbes6IynIjLYN7WcwBMG94UxWzCYDYVfYDZhP7iHjSAIaQ1lPB+tH/fBnvp0Wggx2DmXGIGAO56jbynxXWlLL9rPVzUQbZpWbkcvpRqW5+SlUdeXp5DEkNtSAt0ZzZgurQfcwW+5x9fsJv1JxLYfS6Jt25tWWHnFdVLdfiMUJa2aRRFUSqxLaWm0Wj45ZdfbAH35cuXCQ8Px9PTk9dff52+ffuyfPlynn/+edauXUvv3r2dnmfatGm88sorhdYvWLAAT09JriKEEEJUhbQ82BKvoUuIgl8Vdm5tvKzhpzM6GvuZebS5ucT9/bLO0ufYSxi0Hixr/TmKpmw93S/v0pGSpyHATSEpV8Nt0SZ6h18XH72EKLMfT2vZHKelX7iZNZccZ8G+3dGIu113X52kTXQ49wWJXo3Z2PjFCmvDE1vUi+g0Ch90KeaBmhBVLCsri/Hjx5Oamoqvr2+x+17XPeUAI0eO5KmnngKgbdu2bN68mVmzZhUZlD/33HM8/fTTttdpaWnUrVuXQYMGlfjNKC2DwcCqVasYOHAgLi6lyNoqxHVA3reiupH3bM1y+6yt7L+QxhVdLRbc37HK2nFwxXE4c5YuzaIZOrRpiftrt30Ox0BXvwdDho0ocf+C79vvL+1gx9lkknLVHsSb2rZmaIfaV30fQlSUsvyu3b/8GJvjzpHmGgCkEOLjRlqOgRyDmY49+9jyKACQ0BC++IKAvPMMvXmQWr3gKiVm5MKW9QA0Dfdl6NCuV31OUT1Vh88I1hHbpXHdBuVBQUHo9XqaN2/usL5Zs2Zs3LixyOPc3Nxwc3MrtN7FxaXC/8Mq45xCVDZ534rqRt6zNcP+C+qHkx1nk6v0//NimjrFLTLQq3TtiNkCgLZeL7RlaLf1fVs3wJMdZ5Nt6309XeX9LK5Lpfld6+uhfsbeFZMCqIHxibh0LqXmkJGnOB4f2gzcfNHkpuFy/E9oNfqq27gj5optWaPRyM+SuK4/I5SlXVWafb04rq6udOzYkWPHjjmsP378OFFRUVXUKiGEEEJcjVKW+K4Uczed4c/9lwCoU6sUU9riDsHpdepydI9yXbNuget4SfZ1UY15uanTN6yTX5uF+diSrSUVzMCu1ULnh9XlP5+GlNirvv7mUwm25aSMvGL2FKJ6qdK/DBkZGZw8edL2+syZM+zdu5eAgAAiIyN55plnGDNmDL169bLNKf/9999Zt25d1TVaCCGEEOXm6VJ12cdf+f2wbTncr4Tyqjmp8MNdYMyG+n0hol25rmmtVW7lIdnXRTXm5eYYOjQN9+HABTXhW0rBDOwAvafCqTVwYSf88jDc+8dVPZnbfCrRtpyYmYeiKA7J5YSorqq0p3znzp20a9eOdu3UP3RPP/007dq146WXXgLg1ltvZdasWbzzzju0atWKr776ip9//pkePcr3tFoIIYQQVcvT7froKQ7xLTzVzcG+HyH5DPhFwug55Q4kgrwds9p5VOFDCSGuVsGgvH1kLWp5qe/x5CwnPdc6F7h9Nmhd4NxGSD5b7msrisKF5Gzb61yjmVxjyckahagOqvQvY58+fSgp+fukSZOYNGnSNWqREEIIISqT13XSUxzkXUJQbh22ftN94BlQ7uv4uDvOKWxdx6/c5xKiqtmPMBnWOpyoQC9qearv8ULD160C6kNwE4g7CFeOQkC9cl0712jGaHaMG7LzTLjLgy5RA1y3c8qFEEIIUTPYP4D3qKI51QaTY4+ai66Yj0AmI5y1JJWt3+eqrutrVyPqgZ71ZKitqNbaR9ayLY/rGAlA/SBvAA5fLCbTdLCl0kH8kXJfOysvv/yZ1vJjlG2QkmiiZpCgXAghRI2XYzAxe8NpYpOybOv2xaZwPjmrmKNERUmwS8jk4+4YlOcaTXz1z2lOxmdUahtSs53Mdy3Kpb2QmwrufhDe5qqu6+uR31NesNdciOpGp9Ww4slefDSmLd0bBgLQIUoN1HfFJBc9AjbEEpRfOVrua2fmGgFwd9HahtHnSFAuaggJyoUQQtR4//p+F9P/OsLLSw8B8O3ms4z8bBP3zNlexS27McQkZRa57fO1p3j9zyMM++SfSm2DfRKqT8aVkLTNOnS9Xi/QXt3QWPuHEDqt9JKL6q9JmA+j2tW2jfpoFu6Lm15LSpaB0wlF/KwHN1O/XkVPeWaeGpR7u+ltuRmkp1zUFBKUCyGEqNEURWHtMbW27Zqj8QB8ueE0AKevZGI0SaKgynY2IX9EQl6BxEzrjqv/N5WdsMmahKpugAe3tIkofmdbUN77qq8rid1ETeeq19Kmjj8Au84lO98pxBKUJxwHc/kC6cxc9ThPV72tioH0lIuaQoJyIYQQNdp5u2y99YO9SMnK40JK/roikxOJCnMsLt22XDAoz7b0flV6Gy6rbahnmf9apLwsiN2mLl/lfHLAYQ55Sclthaiu2luGsO8uKiivFQ0unmDMgcSTzvcpQZbld4Wnqw53vaWnPE8eqoqaQYJyIYQQNdq+8ym25fQcI3M2nXXYHp+ee20bdANadyzetpxXYGSCffKmynToolpLuWWEb/E7bpkBpjzwrQ2BDSu0Df6eriXvJEQ11D7SHyimp1yrg9CW6vKl/eW6hrWn3MtNj7v0lIsaRoJyIYQQNdr+86m25SvpuXyy+oTD9isSlFeq88lZHI/LT+JWMAt6tl1QbjZXXk/ywQtqZuhWtYspSXbwZ1g7XV3uPbXctckLevv2VgxtFcYdN9WpkPMJcb1pFq4+7IpJKiZ5Zu0O6tedX4O57D3c1kRvXm56PFzUEEbmlIuaQoJyIYQQNdq+2JRC65qE+tCrcTAgQXllW2uZx2+dW20/fN1kVmxzvUEdyVAZ8oxm2/D1lkUF5VlJ8Od/1OWuj0GHeyvs+mM6RvL5XR1w08v8clEzWed45xrNRU/T6PoIuHhBzBbY812Zr2Edvu7lqpNEb6LGkaBcCCFEjWUyKxy8kFpo/WP9GlLLUy1PlZZThlJZosysSfZubhkGOAblF5Kzse8cL1PZsjI4EZ9OnsmMr7ueOrU8nO+08QPITlKzRA+YVintEKKmctPnhxRFJm30j4R+L6rLa6aXubc8My8/0Zu7iwxfFzWLBOVCCCFqrNNXMsjMM+HpqmPHCwMY1iqccZ3qMrRVuK1UVWX1zgpIyMhl44kEAAa3UIPyxMw8W0/aySvpDvvP336uUtphfTDTsrafQ+I1G5MR9v2oLvf/H+iknrgQZeFuV2Ug11BMsN1xsprwLTO+yJrlaTkGVhy6XCjgzsq1lkSz6ym/RjkphKhs+pJ3EUIIIaqnw5fUecTNw30J9nHjs7va27Z5u6mBlwTllefrjWfIM5lpU8ePFnYJ1hZsj2HBthgOXUxz2P+L9ae586a6NAguIUN6GVnnkxc5dP3sBjVI8AiARoMq9NpC3Aj0Wg1aDZgVyDWagCIebOldoW4ntezguU0Q2rzQLp+vPcWs9adoGubD71N64KJT+xAzrCXR3PQYLENsZPi6qCmkp1wIIUSNZa2PXT/Yq9A2a095Rq4MX68sf+6/BMDknvUdhre+8MvBQgG5VVHrr4Z1PnmzcJ/CGxNPwe9PqsstRkkvuRDloNFo7IaUlzAsPaqH+vXsP043741VM7gfvZzOa38ctq23n1Nu/f2dli0PVUXNIEG5EEKIGutcYiYAUYHFBeXyoa6yWOfrNw3zwdOt6MF5t7WrbVs+eqlig3JFUTgerwbljUIKBOXGPPj2Fkg5p9ZR7vnvCr22EDcS64M3tae8GNHWoHyT03nlrnYJEX/YEWvLQ2E/p7yWpbxgil2iSCGqMwnKhRBC1FjnLOV5ogI9C23zdpM55ZXNvoSRt5ueN25t5XS/B3rVZ2LXKACOVHBQnpiZR0qWAY2GwsPiT/4NaefBKwTuXwV+UrJMiPIqdU957Q7qvPKsBIg/XGhzul3yTfvKCZm2OeV6W6LOZAnKRQ0hQbkQQoga61yiGpRHO+0plznllSnXaMJgUud9elkegIzvHEnj0MLzxesFeTGiTQQARy6lF9p+Nawl7wK9XG1lm2wOLVG/thoN3iEVel0hbjS2oLyknnK9K0R1V5dPryu02fo7Wa9VkzJaH9RZg3JPNx3+lp7y5CyZfiRqBgnKhRBC1EgZuUYSMtSALLLYnnL5UFcZMnPzP5h72QXDbev6F9rX3UVH03BfQOHOzAWYPmoLexdWSDvSLGXWfN0LzBU3ZMOxZepyi9sq5FpC3Mhsw9dL6ikHqN9b/XpqdaFN1t/JjUPV6SZXLL/HsyzD173shq/vjU2RsmiiRpCgXAghRI0UY+klr+XpUjggQ+aUVzZrr5abXotel/9xo23dWg77zZrQAQDv1BN87/UxT7ssRpdyBn59GN5rDN/fDru+gaQzZa5rDPm9btb/b5uTqyEvA3zrQJ2bynxeIYQjt7LUDm98MwoaOLUGYrY5bLL+zNYLUkc4WUe7ZFoSvXm66mzD1wG+31o5pRSFuJYkKBdCCFEjnbAk94oOKjx0HeyCchm+Xiky7OZ/2mtTN78s2WN9G3JzyzDIToG5Q+hh2m7bpmi0kBGnzvv+/Qn4pC283xjWTAdT6Uc3WJPN+XoUeDBjHbreYhQ4q10uhCgT60/ROyuc1x+3UhSFqeuyWGy29JYv/6/tgZvRZLb1iFuDcuuIJ2umdS83PbVredjOt/JwXEXdghBVRoJyIYQQNcryg5f4cNVxnvhhL6DWKHfGN+cST+sX8aryKaZDv13DFtZ8JrPikOTNXpNQHzwsPWq23uutMyE7mVTPKIbkvkl0zgISHzsJk1fDgGkQ0Q50rpB5BTa8Az9OgLMbQVFs51Xslu0V6ilXFFj7Bhz8WX0tQ9eFqBB7Y1MAOB6XUex+x+MyWLTzPO/k3Umezgsu7oYz6wHHkUvRdkH56SsZJGTk4qLTEB3khaernm/u6wioFRvMZuc//0JUFxKUCyGEqDHOJmTy8Pe7+Xj1Cdu6hiGFE4sB+K16isf1v3K7biPaxfdV2BzmG9355Cw6Tv+bO77YAhQOyvU6La1qq73lvh4ukJcF22YC4D1kGkcUNQt7Fh7qsPIeT8GD6+C58zD0PdDq4fhy+GYYOX+9AMBna0/S4Pm/GPvlFlYfcew1KzSn/NASWP+2utzz31CnQ4V/D4S40WXnFT2E3Vqq8gr+nArqp660zC23PkRzd9ES4ecOqFORdp5Va5e3j6xlG33To2EQAa5GvHLiOH3mZP4FcjMgZqv6VYhqQoJyIYQQNcae2GSH190bBnJbOydlrpLOoD27AbOiIdYcjEYxqUMo87KuUUtrrm83nyUpM8/Wie3tpiu0z1MDG3Nbu9oMbB6q9ljnpIJ/FLoWowj0UhM4ZRkKTCvQu0GnB+C+ZSitxwLgvuMztq+Yz7srjmFWYOvpJJ74Ya9DQJCeW6CnfMvn6tfuT0D/lyrwzoW4sfVtEmxbtg45dyYuPX/bEa9O6sKh38Bssk038XF3oXVdf/w8XLiYmsPKw5cBCPJxsx2r3/YZ27X3scV9Cg3n3aSOoDm2HGZ2gzmD4Z16MLu/OgVGiOucBOVCCCGqvZSsPK6k57L/fCqgDpE+OX0I8yd3wc+zcJI39qm94ts1reid9yEG7wjISbENoRTlt+Os44ORgc1DC+3TtUEgH4xpS9D5v2H1K+rKjveDVounJYjPKqqnrW4ntrSezmzjUAAit7zESO1GanMFUIe/LtoZa9s9OVOtY+zr7gLnd8GFnepQ+K6PXdV9CiEcfTimrW05Pr2YoDw1x7a8zbULuPtDagyc/Nthuom3m542lmoNZy2JO61TXzi7CVb+Dz0mDIpl3ZHfYeEYSLEkfjPlqT/vP9wF6Zcr5B6FqCwSlAshhKjWzidnMeCD9fR7fx2rLAl/Hupd3yHjt4O0S7DnewBWug3AjJaU8B7qtnObr0WTa7TYJPXD8+d3teeLuzswuUd95zseXAI/jFfniQc3g/YTAfB0UXu0nQ1/Tc02cCk1myV7LjDDOIp4xZ8wEvjY9XM2uT/BG/rZRGsu8eWG0xhMauKoAxfUBzUNQ7xh2yz1RC1uk7rkQlQwf09X2kX6A/kZ052JS8sPyq/kaKDdBPXFjq/sgnL1Yaq1nKK1593TWl5x8yeAQlz922iU+x1TdVNRonupv0sa9IenDsGU3RDaCow5sPq1CrxTISqeBOVCCCGqtbmbzpKQkUd6jpHzydkAtK7j73znfT/CZ50g7QJ4BbPXqzsACQGWecVbZqgf3opIGiaKl5FrJNHSM92jURCDW4Sh1TrJbJ4SA0unqMsd7lXnjHv4A+DhWnRP+cQ52+n65hoW7zpPKt4Mz53Op8ZRHDOrUxTG69eyzu3fvJn5Est3nSAj18ixODULf2f3c3DoF/VEXR6usHsWQuQLsNQPT87KK3If++HryVl5cNMk9cWJVXieWwOAr2W6iTUnRUqWOqzdw1WnTnc5pe5Xa+B/8PNwZVFmWzZ1nwuPboW7l4BfHQhsAMPeU8+993u4fKDiblSICiZBuRBCiGpLURRb77i9+s7KoKXEqrWvc9Og9k0w8Xdc3dX9ToYNhbZ3gWKGf96DE6squ+k1krWXvKja8GQlwZ//hhkd1RrhdTrB0PfBxd22i6ctKHecU242K7bszqD2oMVTi/eNdzI47x1e8H0DGg7EjJZeugP4bprOlfRcFAUGuR0k4MeRYDZAvV5qNnchRIWzPlQrLtGb/fD1lCyDGjy3nQAodNz+OO00J2w5IAqWVPRw0amjbEx5ENQE1/AWDGkZBsDfR5yURovsAk2Hq8vzboVL+67i7oSoPBKUCyGEqLaOx2UQk5SFq15LVKAnAKPaRjjvnd01Vw26o7rD/SshpJltiGR6HjDqc+jyqLrv+relt7wcYixBeWSAp/Mdfv0X7PhKHU7qGQTD3ged44duzwI95VtOJfLq74e5UiBx1P096/PX4z1Z958+LHqoK/+67z6YsJiNXWYD0Dv1Nwyn/0GDmee136rXbDgQxnxfkbcshLBjnfOdbSgmKE/PD8qTLCNrGPER5kaDcFXy+Ld+EamWqgm24eoWTdI2w7Kp6ovWdwDQp4k6FWXr6UTyjGa++ue07QEhAMM/grDW6lSZRRNtNdGFuJ5IUC6EEKLa+nydWganZ8MgFj3Ulcf6NuR/w5sX3tFkhN3fqcudHwKtpU62pRcm3ZLxl+5PgN5dTQ50em2lt7+msX4QrussKL+wWy1lptHCmPnw9BEIb11oNw9X9f/EGpSPm72VOZvO0PmN1bZ99FoNt7WrTfMIX6KDvOhUL4A6tdRrZtXpzgJjXwCi1jzGdy5vEa1cAFcfuGMuuPtV6D0LIfJ5ltBTnmMw2YaiA6TlGDCZFdC5kDXgbcyKhh66Q/hlqcka7UsqupFHv8Mvqr3kzUdB9ycBCLOUTkvPMfLeymO8/ucRxs3emn9R72CY+Du4+UHyGTizruJuWIgKIkG5EEKIamndsXh+23sRrQaeGNCIUF93/jO4CYHeboV3PrtB7SXxCIAmQ22rrUMkMyxls/AJtSUcY9c3lXwHNc+ZBLX+sNOe8h1fq19b3QnNhoPe1ek5PK09bQWGr9tb9HBXop1NUUD9EP+m8S4uasNxy7lCT91BdUPb8eDmU8o7EUKUh7tr8T3llyxD1/WW0UyKgq1XPNerNuvN6oO6aXV2AY7D1wdqd+FmTAffOnD716BzseyjXjMzz8jSvRcBbPlFbDz8bT3r7Pr2am5RiEohQbkQQohqJzvPxP9+U4Ote7vVKzqxm9XBJerX5iNtH+QAvN2tPeV2AWAbtQY2J/6GjCsV1eQaLyvPyPKDatmhJmEFgl+TEY79pS63u6vY83iU8KEeoH1krSK3ebrqSceT+9w+YGPL1/nL1ImNPkOh34uluAshxNWwVU8o4ud3x9kkAFrW9rM9FE3MyGXH2SRSsg0sNPUDIOTYfNj/E75aNYj3IIf/uqilLGk73mHai7U3PTPXSKbdwzxrzXMb6wPXo39CZsJV3KUQFU9f8i5CCCHE9WXm+lPEJmUT4efOvwc1Ln7nI3/Y6pLT8naHTd5uljnl9kF5RDt1/uHl/ercxTvmVmTTq61Lqdl4u+lt8/AL+mP/JRIz84gM8GRoq3DHjTFbIDsJPGpBZLdir+OmV/sL8oxmjKbCcz9Hd6hT7PFell6zY8kKO/wG87GhPmOj69LD3bfY44QQV8/DVf35LWr4+uaTajDco2EQyVlq1YyZ606xZM8F6gZ4cNHcnmNKJE1yY2DJZG7RudPQNQwTOupoEsj2rI1HjycdzulpmfJiMCkYTPm/y49fTuem6ID8HcNbq7/fL+6BPfOgx1MVeOdCXB3pKRdCCFHt/LzrPADPDmnqMOewkIt74KeJYDZCqzsguofD5vzh63Y9KhoN3PIpaHRwaAmc/LvC21/dXEnPpeuba+j1TtHz7H/aqc4BHdOxLi72NeKzkuDPp9XlJsMKJXYryNUSlOcazbZhrQAvDW/O74/14PVRLYs93ss1//wfrz4BgJ+n8wcJQoiKZc0J4SwoVxSFTacSAejWMBB/S/m0JXsuABCblI0JHf/S/g+6TQH/KHSmHFppz9JWewqzouFcl1fB1XHqileBZHBWRy6nF17Z4V7165rXYeec8tyiEJVCgnIhhBDVSmxSFhdSstFrNQxoFlr8zv98oAbkjW+GUbPUgNuOj7Ph6wARbfNr5x5YXEEtr76spciSswwYnPRef/XPaXacTUarcdKTvXgSJBxX54H2fb7Ea9n3lG88mT/EdFKPerSq44e7i/MP4FYFH9LotRqGtgwvYm8hREWyZl/PcjJ8/UR8BlfSc3F30dI+shYBRTwsy9AHwKDXYcpueHgjB9u/yizvR3nQ4z3CbxpZaH+9Tou7S35IYw3Sj11OK3zythPUB7RmI/zxFJz5pzy3WaXWHovn83UnUaRCSI0iw9eFEEJUK8fj1N6PxqE+xfeSxx+BI7+ry/1fdtpDWyjRm73mt8CO2XBqjZqNSOOkzNoNwkWXf+9X0nOJ8PewvT54IZXX/zwCqKWJQn3za46TeErNYq/RwYTF4Fe7xGu52gXln61Vs+uX5VtfsITSyyOa06auf+lPIIQoN+vPX46lp9xoMqO3jJzZZHnI1jE6AHcXHbU8nSd7tP4OQKeHsFa0vKUVxY+PUUfI5BjU8mr3dItm5rpTXE7NLbyjTg+3zQadK+ydDxs/gHo9y3iXVeu+uTsAaFvHn24Ng6q4NaKiSE+5EEKIaiU+Xf2gFe7nXvyO698BFGh2C4Q6KZMGtl5Xp/Mf63QCrR4y4iA19mqaXO1l5uZ/fy6lOmY1/m3vBdvy1JubOB54yJJgr35vCGlWqmu5Wj7A59r1yA9vHVHqtlp72gF6Nw7m7q7RpT5WCHF17OuU/3vRPpq/vIKDF1IBOGYZTm5N1OhfVFCuK3t4Yn1A2zjUm7aWh3CJmU6CclCf8vX6j7p8eh2kXy7z9apKll0iuysZRdyfqJYkKBdCCFGtxKepH0SCfZyUPgMwm2HzDDj0i/q697NFnss699lodjIM0MUdQi39M+d3lru9NYF9FuNnfz7gsO3UFbUM2mujWtI0rEAytYOW/4MWt5X6Wq569UN9rsFsq1V+X/foUh+v0Whsgflbt7cq9XFCiKtnfdCZmWfk593nyTOaGf7pRs4nZ5GcpfZkB1l+dwd4OR++7qovf1Der2koQd5qsJ+YkVf0AQH1oW5nUMxw4KcyX6+q2Jd6M5pk+HpNIkG5EEKIaiU+XS2RE1JUUL76FVj5AqCoSX3Cih74aK2V62yeNJAflCedKmdra4Y0u4Rrp65kcD45i9RsAwcvpHL4ojpvs0HBuuFXjkH8IdC6qHXJS8k2p9xkJjVLva6/R9kStW36bz/W/qcP4X4eJe8shKgwdWqpP3OnLQ/rrFYciiPZ8vNcyzKXvMie8nIE5a1r+6HXahjZNoJAL/VvQ2JJPcnW8pd7F6pTlKqB2KQs2/I7K45WYUtERZOgXAghRLViHb4e7Otk+Hp2Mmz/Ul0e/CYM/6jYc+m16p9Bk7OecgBfy7DptIvlaWqNkWD34VZR4OddF5g4ZzvDP93I5TT1IUnDUG/Hg6y14Rv0U0uhlZL1A3l2npF0y1z/oj68FyXI2416BR8SCCEqXZ1aHk4fmCZk5JKcqfZcW+eSFzmnvBzD19+8rRW7/jeQZuG+BFp6yjPzTEWWZgOgxa2gc1MfHu76pszXrApH7TLKx6Xl2qYGiOpPgnIhhBDVwh/7L7Lh+BViEtWegtr+ToLy3d+BIQtCWkCXf5WYIUyvs/aUlxSUXyp3u6u788lZzP7nDAChvuqH7a/+OW3LyA7wYK/6hPjY/X/EbIOtn6vLLW4t0/WsQbn14QuAXxl7yoUQVUOj0dAhqvBDuLMJmbaecn9LT3mtIoavu5QjKNdqNbbfE95uelvCuQspWUUf5FEL+r2oLi//rzq65zp36KJjEB5neSgqqj8JyoUQQlz3TsSl89iCPdwzZzvH7LKvOzAZYftsdbkUATnkZxU3mosYvm4Lyi84317DGU1mnvpxr+31g70a4OOut/VgRwV6sn/aIJ4fapfELSUW5t0KuWkQ1R1aln4+OeQPX7d+2PR116PT3riZ74WobqyJ3Owdu5xOSlYpe8rLMXzdnkajoUmY+vfh8CUntcrtdX0M6vcFYw7snFviuS+n5pCUWcxc9Up28IJjmbeLKdlF7CmqGwnKhRBCXJcUReFoioaEjFy2n01y2Obtpqe2f4H5wnvmqVnSPQKg1ehSXcM6fL3IhDm+lhJeN2j29Y9Xn2DH2WQAJnWvx9iOdelcL8C2vUfDIHzdC/R27fsBDJkQ0Q7uWgz6Iub+F8H6gTzHoD4oCSspy74Q4rrS3klP+emETFtCTWswHuBVOUE5QLNwNenkkUtOapXb02qhzTh1+ULxCT1Tsw0M/GA9fd5di7GoPCQVaF9sisPw9NQsAzGWOeVB3urv1fMSlNcYEpQLIYS4Li3efYGZR3T0em8DL/xy0GHb3V2j0Nj3hC9/Dv54Ul3uOBlcSpfgy9oDW2RPea1o9Wt2MmQlOd/nOnAmIZNe76zl281nK+ycMYlZtjrhH41py0sjmuPlpneoUT6pRz3HgxQFDixSlzs9CK6eZb6uW4EP5NYP10KI6qFl7aJ/ZrUacHdRf8atw9gL0lfAyBjr7w1rIspi1blJ/XppHxiLTg53LjGT9FwjaTlGNlpqrleWrDwjIz/bxPBPN9rmxVuHrkcGePJw7/oAnE+SoLymkKBcCCHEdSEuLYff9l7AbOlNWXUkHig833v6rS2ZOtiuHval/Zb5yxro9jj0eqbU17SVRCuqp9zNG3wsQ9iTTpf6vNfaz7vOE5OUxctLD5WccbiUft17AbMCPRsFMapdbdt6T1e9bbl+wWRqF3dDwnE1eVLT0mdct+dmKYlmJUG5ENWLm15H94aBAMy+5yY6Ruf3nHu66m0PVO1/1u3zRlTEkOzmpe0pB7U8mkcAmPLg8sEid0u1q0Jhn3CtMrz4a347Dl9KJddoYuc5ddRSy9q+RAaoDzxjk4uZMy+qFQnKhRBCVLhLqdn879eDXCjDh6uJc7bzxA97+X7bOQwmM9vPqB9AxtxUx7bP0se6c1fnAr3kmz5Sv7a4FQa9BvrSZ+rW2+aUKyhFlcQJbKB+jT9c6vNeaxmWOd4Ah0rTM1QK1mGTfZqEOKyf3LMeLWv78tLw5o7/DwA7vla/Nh8J7uULpgsOXW0a5lPEnkKI69UXd9/EP1P7MrB5KC0i/GzrPVx1TvcPt5umUhEBb9MwHzQaNWFkiQ8qNRqo01Fdjtlc5G72c8mtNdcrQ0pWHkt25+cxWbAtliYvLueDVccBaFnbj8hANSiPSZKgvKaQoFwIIUSFe+C7nczbeo4pC3aXav/4tBzbB7Efd8SyLzaFzDwTXnqFB3tG2/aLCrTrmTXkwJ75+aW3ej5d5na6aPP/DBqLKotmHdp4rugPa1XtUmr+w4/TVzIq5JxHLqvBffMCPdVB3m78MaVn4aHrJ1bBgcXqcqcHy33dguWQCl5fCHH983bTU9fSm9vE7sGaV4GgfFynugR4ufLZXe1tgbm1F/hqeLnpibKc50hJyd4AGvRVvx79E1DLZK46HEdcWg65RhMrD13mfHL+79mUTIOzs1SIgkPuf9593uF153qB1K2l3ltKlsGhB19UX/qSdxFCCCFKT1EUW4bY3TEpJe4fl5bDuC+32l5fTMlml2WYXkNfhcgAT165pQUuOm3+EMeEk/DtcEi3lCprOhzCWpW5rTpdfk+vyazg4qwTp14v2PghnPlHnTNdiqzu19ql1PyyOKcTMq/6fIqicMHyAbR+cCnqfR9YDD9PBhRoOCD/QUY52PeUB3q5Euyk5rEQovqwD8o9XB1Djzdva82rI8246LQsfKALH/59nId7N6iQ6zYL9+VsYhaHL6XSo1FQCTvfopZFi9kKaZdYf1HLA9/tJMDL1Wm29crsKT9czJB7Pw8XW8m5IG9XEjLyiE3Kwq+2X5HHiOpBesqFEEJUqIupjnVTSxo6+MHK45xOyLTVwE7OMtiG7tX2UnuvJ3aLZnznSPUARVGTuqVfUud793sRbv2iXG21TyhkKCqbbt0uoHWBtPOQfKZc16lsF1Pyv+fWWsBXIzPPhHXgQKHs6gUZ82DVS4ACbcbD2AVX9eDCvkySl5u+8BB5IUS10sSufKWz37PW3B7RQV58PLZdheWRsA7xjkvL/xuUazQ5n6rkVxvqdAIUWDqFmDj1wXBR5c9SKuD3bFEK9pRPv7WlbfnBXvVty9aRCDKEvWaQoFwIIUSFOl5gPqC119sZRVFsWWzfGd2GIS3DAGy1yMPsk6hnJsCRP+CvZ+DsP6D3gEnL1MRubt7laquL3VBpa7K3aUsP8eiC3fkf3Fw983t+z/xTrutUplyjiQS7Bx/moobhl0F6jvqBU6/V2DIlF+noH2odd+9QGP5hmUugFWQ/5zRcyqEJUe15ueX3jqddw6HW1geKfx24xMELqcQmZdHu1VW88GsRydwGvqL+XTm5ipsOTAPAw+nwKUjJrryecmtekGbhvmx5rh93dY5ixZO9mHpzEx6yC8ojJSivUSQoF0IIUaE2FSgVs/bYlSL3PR6XwYWUbFx0GjpG1+K+7vVsnax1/N1p6KuowfjGD+GjVvDjXbBjtrpD/5fyS5aVk06rsV3PYDZjNit8s/ksf+6/xIl4u7nZ9XqpX89suKrrVYbLBUYmmCogKE/LVhPH+Xq4lNxTvXOO+rX9RHCpmCB63v2daFPXn+m3ln1KghDi+mWflLKyeVseBlxKzWH4pxt5Z8UxsvJMLNgW4/yAqG4wbiEAzRJW4ksG/+rTgPsL5s+g8nrKcwwmTlrygsy59ybC/dQn003CfHikT0P0dg+SoyQor1FkTrkQQogKczYhk++2nAPg/h71+HrjGf7Yf5GXRzTH3UmPw9J96jD13o1D8HTV06leAKuf7o1eqyWMBBK/uweXj/bkHxDUGAIaQJMh0P6eCmmztUN89obTPDGgcaH1gGVYIxB/pEKuWZEKZrg3FZVFvpQyco0ctSR583Ev4WNC3GF11IJGBx3uvarr2uvZKJiejYIr7HxCiOtDlqXm9rXg7eb4++v3fRdLPqhBXwhuhu7KEQZodxPs05V6BUs/AtmGyrmPE3EZmMwKAV6uhPkW/5DTOnw9VoLyGkGCciGEEFctK89IfFou0/86Qp7JTK/GwbwwtBnLD17mQko2YyyJ3GZNaG978q8oCkstH5JGto2wnat+zmE4shRl6yzCzZbeiJDm0G0KtBlXaYnWZv9zhgd65g8NdLiMt6UsWFZipVz7alxKqdie8vu/2cG2M0lACUH5lWOw4E51uckQdU6mEEJcJ7yL+f2lKAoajYZ/Tlwh12BmQPPQ/I3NR8L6I9yq20i211O20pn2ciopKLfWVW8W7lPiKCUZvl6zyPB1IYQQV23cl1vp8946Vh2OQ6fV8NLwZmi1Gm5vrwZq+2JT2Bebwg/bY23HJGcZiE1Se3n7NwuBtItqBu+vB8LmT9GYDaR4RGO8eyk8sgXajq/0zOeZdr04eUa7hESegerXrMQCXehVz1oOTWdJWnc1QXlGrtEWkAO4653Pp8RsggVjIDUWAhvCzW+V+5pCiJrv1nbq34Lb2l27h3c+BXrKbdU7gByDmVyjiQe+28mD83Y6lJWk9Z0Y0dFTd5Bua0bT4NhsvFED3zq11IfKBpOCsajkoFfhoqUdDuU/i2BNZHchOVtti6LAsWVwfmeFt0tUPgnKhRBCXBWzWWHf+VTb61Fta9MwRM22O7xNhMO+qw7H2RKoWT8EBXm74pl+Dr69BQ78pO7YZCjGYR+xvsk0lMhu1+AuVJl28x1znQXlZgPkFl2upipcsPSUWz8smq/iocHBC6kOry8VmK9uc/QPNRO9Ry2YtBL865b7mkKImm/6rS2ZNaEDr41qWfLOFcS+p7x7w0D2vjTQ9vAyLcfAheRscgxmzApsO53/MJLABnzmMhGjosU78QBRe95ljuu76DDRIsIXLWZAIcdY8UF5YoaaQC7Qy7WEPSHUxx1XnRajWSE+9oT6UHvhWPiqP/w9TR3NdJ09RBZFk6BcCCHEVYlNdhw6d3fXKNuydXid1eFLabZs7NYEZXe6b4PPOkPiCfAMgsmrYdxClLYTQHNt/0xlFdVT7uIOrpYM75kJXE+sDzfq1lK/19Ys8uVxxq7GubuL1qH8jo3JCGteV5c7TgavwHJfTwhxY/B01XNzyzCHTOyVzX5OuY+bmrTS1xKop2YbOJ+c3zu+7Yzj1KTvGUa33E+51OMNzC7edNIe4zX9XO5kFdvdHuFn12nkJsZS0awl2EoTlGu1GuoEeBCtuUTI/H5wcHH+xo0fwmedYEZHSD5X4e0UFU+CciGEEFfFOgfOqm6t/DpmzpK7zdl0BkwGUi+f4S7d3zyV+ZHaA12/D9y/Mr/8WBXIzMvvKc8rODTRM0D9mpXE9cT6cKO2v/p9v5pEb9ZzjetUlwPTBjOxW7TjDooC27+AhOPgEQDdHi/3tYQQojLZ95RbSy1ah7CnZhscHig79JSjPpSNpxaZrSeSMuA9AMbr19D/1FsEadLooD2B/3f94OymCm2ztbxloHfpSku6aeF9l1noDRnkBrVUH2qPmgXRPdUEnIknYOULFdpGUTkkKBdCCHFVdsekOLyu5en8Cb+rXv2T4394Phmv1uG29YOZ7jIHF8UAjYfAhCUQ2KCym1usbLue8tyCiXw8all2KrruelWwluYJ8lG/71dTpzw+XQ3KQ33dHWq4A2DIUYdGrnhefd17Krj7lvtaQghRmYK88gNba5UKW1Bul9ME4HRCJvFp+dN1rCOl3PRaNC1v5xnDg/xjakmOXwP+pCdHzXXR5STBr/8Cc8UNY0+09pR7l9xTDjA5cD8dtCdIVzyYXWe6+lC77Ti49w94YI2607Hl193DZFGYBOVCCCHK7d0VR/lyw2mHdVqt82Rsj7bR8XnEX7zh8jXemhwMio6LSgCXOr8IYxeAtoikYteQ/ZzyQj3lrj6WDRlcT1KyrcMd1Q+gxqsIyq095U5L8ez6Bo4vB60LdH8COj5Q7usIIURls/9bZM2W7msJyo/FpTNr/SmH/T9be5KnF+0lLi2HXKO6v5tei7e7np9Mfbjb8DzGR7bzuttT3Jr3CiYXb0g5B7FbK6zNyZagPKAUw9dJvcDIpDkAzDYOY2+qt+P2iLYQ2kodibZvYYW1UVQOCcqFEEI4UBTFNoTO6scdMUxdvI9Lqdl8v/Wcbd7bZ2tPOTuFg2X/6sCcRpt5/PBYhiZ9D8CXxmE0zv2W/9VbRPiQZ0B7ffw5KnJOOYCb5QPPdRSU5xhM5BjUdlp7Vq4m0dvlNPX/PdSvQFBuzIPNn6jLQ96Gga+CTqqqCiGubx+PbUuQtxsvDmsO5Afl7644ZtvH+hDy2y3nWLL7And+sQXrs01XvRYXnZaVT/VixZO98HbT4+6iIxt3kqKGqDvt+6HC2ptueTDs4+5S/I4JJ+DL3uhTzpDnHsRc083sOJvEtKWH2H8+JX+/dhPUr6tegiN/VFg7RcWTv6hCCCEcvLviGJ+vO8WsCR24uWUYiqLw7M8HAFi08zwA647FM/sex7nf3RsGcm+3euoLsxn2/wg7vqLZpb00M1t6oOt2Rml3Nz+vi8Q9OZvnhzW7ZvdVGuft5hjmFgzKXS0lanKvj6B8zdE4Plx1AlDLoVk/bF5NSbS4tCJ6yvcthLQL4B0Gbe8q9/mFEOJaGtm2NiPb5pdhsy+LZtUhuhZ/7r9ke30uMf/vgJulLGTjUB/bOmuulMt1hhB88ic4taZC2pprNNkeBnuXlBBvywzIvAIhzckZ9S3GmafJzjbwzeaz7DibxJ+P91T36/QAXNgFBxbBLw9BgxPg6ln8uUWVkKBcCCGEzaXUbD5fp/Z+v/HXEW5uGcZFJ2Wx/j4ST3y6Y2/6/Mld8l+s+p/6ocHKPwp6/hva34NGo+HHpnlkG0yE+3lwPdlwPD+zeqGecmv29bxMrgezN5zhgKWEmaerDhfLaANrUJ5nNNvm8RfnZHwGbnotIb5uthEQDkF52iXY+IG63G2KmoleCCGqIWdBed8mIQ5BuT1nv0M9XNR1cbXa0kqjg9RYSIkB/8iraltmbv5ILS/XYqZzmc35vd6Dp+Mb0ZhlT9Tmkfm7OXwpjRNxdg+OtToYNRPO/gPpl+DCTqjX66raKSrH9TFeUAghxHXhc7vh6FcsQffxy+mF9vNy1bHsQP6HmHn3d1IXks/B70/mB+R9X4QnD8CT+6HDRNCoc/z8PV2vm4D8+/s725ZjkvJ7SAoPX7fOKS/8/agKZxPzHw6k5xhtMwBMZoWfdsbS4uXl/H04zumxu84ls+5YPGcSMhn6yT/0fW8dfx+OB9QPof6elg+uF/fAzK6QfBa8QqDDvZV4R0IIUbkKBuVPDmhEhH/+g0YPu4ohOq3GVtfcnrWnPFNxh7qWv33r3oK0i1fVNmtOEw8XHfqCiTbtXdwNWQng5qtmWQeig7x47442APh5FnjwoNNDVHd1+dzmq2qjqDwSlAshhADU7LQ/7Iixvc42mMgxmGxlY7o1yK9HHeHvwdpjVwB4cVgzejYKhsxE+Hog7Jqr7tT9Sej9zFX3HlS25hH5GcSz7TKuWxP92FxHw9cVRSE122B7PbhFKDrLAw+TovDM4v0YTAqTv9tZ6FiTWeHeudu5d+4O7vxiC3lGM0azwlcb1YR9TXxy0BxfAYd/gyUPqtnmw1qp2XzdvAudTwghqgvfAnO1vd30Dg+I6wV52Zbdihhp5Gnpxc7MNeU/qNw7Hz5sAft/Knfb0nPUoNy+lJtTJ1aqXxv0BV3+/Vh79Qs9UAaI6qZ+laD8uiXD14UQQgDw5fpTGEwKXeoHsOtcMgaTQlJmHvGW5F8NQ7xpEOzNvK3n8HHXczJeDU5b1/EHkwF+mggZceAXCaM+h+geVXg3pafXOc8WX/Tw9aoPyjNyjbakdH8+3oN6QV4cvqjWiy9YEi0lKw9/uzJ1iRm5tg9/1tEQ3bQHufniDh5zSaBbzjFYmOVwDkbNguAmlXU7QghxTRQsNebpqicqwBN/TxdSsgz0bRrM4Uvq79Kipv9YA/v0HAN0GqPWA9/+JZzfriZUaz4S9KUraWYvw9JTXuJ8cmtQ3miQw2q30gTlsdvVxJ3laJ+oXNJTLoQQgtEzN/PtlnMAPNq3oa0cS1Jmni35V4iPG4NbhAGQkJFnq/va2D0VfrpXnbPm6g3jf4R6PW1D1a93LkVkfs8tWBLN7fqZUx5neVDi466nRYQfnq562zDLgiXRbpmxiS2nEm01yC+nOeYI6K3dxwLXN7hHv4r+uj14KFkQ0ADqdlF7yHv/F8JaXoO7EkKIytWlXiB6uyHpXm46tFoNq5/uzTu3t+b+HvVt24pKmmlNqpmWY1D/zrW+Qx1J5BMO6RfhQPl6yzNLE5Snx6nTigAaDnTYZH2IUGiUF0BQE/AIAGM2XNpXrvaJyiU95UIIcYPLyDWy81wyAK46LT0aBlHL05W4tFw1KLf0pob4uuPlpg7bs8697u0Vg//cB9XeY40WbpsNoc2r5kbKqaie8lxDET3luVU/p9z6oCTULiGbNSg3mxVqebqQnKUOb49JymLc7K1EBniyYWpfWy3yxqHeNA1y5eXzCyAXzgX2IMa/M13btUHffMR1U6ZOCCEqip+nC13qB7LxpJrU0xoAB3q7cWfHuih2JSUNBR/MWvhahpenZRvzV+rdoMu/1J7yDe+qI8VqRZWpbeklBeVmE6x4Tl0Obws+oQ6bXS3z0M0KGE1mx3npWq3aW370Dzi3Cep2LFPbROWTv7hCCHGDO5uQ3/P77aROaDQah57yeLsA0P7DQgQJfMI7akBeuwNMXg1Nh17bxlcAvZNEPgCJlkzkNtfR8HVnpcu0dnPK7YerW1kfpFgfskQFevFJ9GYCc2PBO5SoBxbS8+6X0LccKQG5EKLGGtwiP5j1dHUMgDV2I7ycDgMnv6c8PcfguKHDvWpCzOQzMKsnXNpfpnZZe8qtD78LWf0qHPwZtC4w4OVCm+2H2+c5e6BgHcIes6VM7RLXhvzVFUKIG9wZS1B+U1QtulqSuVl7YC+mZttKn4X6uuHlpqePdi/fuLzNarf/4GdKgpAWcM9vULt91dzAVdJoNLg46S2PKzDM+3oavm4dgh7i62ZbZ+3xN5kVsvKMTo8DOBmXzk2aozyb8Dysfk1dOfA1cPct8hghhKgpBjYPsy276oueZlXE6HV8rD3lOQV+z7r7weRVENEOclNh08dlaleOJdGom4uToNxkzE+iOnIGNOhXaBeHoNzpvHJLBvZTayH+aJnaJiqfBOVCCHGDs9a6bhSan1k7OlDNQHsiLsNWuzrExx2/ixuZ4/IufXT78NDkkRvQVJ1Dbi0XVk3pnfQMxxcMyq+j7OvW5Hv2PeXW7OsJGXm2OecFZeeZiDl3iu9d36Rh2jZAgTbjofWdld5mIYS4HoT5uXNX50jaR/rTsrZfmY+3JnpLyzYU3lgrGoZ9oC4f/QOyU0p93lxLIO2udxKUn98BOangUQta3eH0eL1Wg3Xgl9OgPLwNNBwAplz4eTIYnf+dEFVDgnIhhLhBXUjJpt/76/hyg1oKq2uDINu26CBPALafSQLARaehVuIePP94CK1GYZmpI0Ny38T1sc3gX/faN76C2c8rt5a7iUvLdZhfiOv1U6fc2ZxyrZNh+H893pOjr91se52clUf/xAW4awzkhLSFx/fArTOrTVI+IYSoCNNvbcWSR7rj5iQAHtBMHd7+zGDnFSccEr05E9EOgpuBMQf2/VDqNll7yt1dnIRnJ1aoXxsOAK3z4e0ajcYu2ZuToFyjgZGfg2cgxB2AI7+Xum2i8klQLoQQN6h3lx/l9JX8odj2dcgbhagBqJphXeED96/QzBmEJiuRg+ZonjQ8ykX3hmiK+HBQ3bjaJcSJDFAfSGQbTLYSNYDj8HWliHGN18hlJ0G5s7nx9YO9cHfR/b+9+w6Pqkz7OP6dlt4IJIFA6L03KTaKgCJiWXtZ27r23nV11X3XddW1113d1XXtvTfEhlIEpIP0FiCElt4mM+f940xNJsmkt9/nurxm5sw5Z56RAzP33M9z36TEm9Pc9+/eyunMBcA19c+Q3LvSMSIi7dmDpw7j3csncuXkPiGf97dEq2KZkMUC4y4x7//wd9jwVZWfGV+u3sO5Ly5kb14JJZ7iopV+KDAM+O0z836FNmgVeT/LQq4pB7M43DDPzKjMJdWeS5qWgnIRkXZq2wF/L+qBnePpFOdfnzyoSzzdOkQDcLrtB2a75pq9WEedR/EZb9ItpQP/vmBsk4+5sQRmypNjI3z9XnMDpyd6p6+7y5t92p93+npawJpya4Vs9+0zBxLlWZuYHBNBFKV0+epSIi1OfnEPJKb/lKYbsIhIK9ExLpKxPZODir4FSoj2Vl+vIlMOMOr3kDYUig/B62fAvyZD0cFKu13+6q/8vOkAD3y+rupMefY62L8BbJHQ/7hK5wgU4QnoqypSB5iZfIDdv1Z7LmlazRqU//jjj8yePZv09HQsFgsffvhhlftefvnlWCwWHn/88SYbn4hIW/Lxit2M/9s3LN5mfjEIDDgHdQku8mWxWDhpZDrdLNncY3/F3HjMn+GkZzhs6CDm3jSZsT2Tm2zsjS1wTXm0w0ZSjJkJySkKDMr9a+6bswK72234eo53TqzcEg3g+mn9uHySP8szpmcH/mJ/mZTcVRwy4njQcQUWVVgXEam1eE+mvLDMRXlVGWl7pFkAdeLV5mfHnuXw06NVnnPrgSJff/GoioXelr1q3vadVmNBTu8PytUG5d6irHtWmgXkpEVo1k/kwsJCRowYwTPPPFPtfh988AELFy4kPT29iUYmItL2XPvGMvbmlXLruyspLC1n+wH/1PWj+nWqtP85Set4M+KvxFlK2Bk/Ag6/pimH26QCq69HRdhIijZbigVlyq02cJhT25uzV/nBojKcLgOLhaDZDYHT1ytOfzxxcAdOtM0H4CrnteTF9mqawYqItDHe6utQzRR2gNhOcOz9cPrL5uNfXoDt/nZk3sw4gMvtptQzfT0oU774RVjoiZNGnFXj2Lxryqucvg6Q3MeskVJeDPtUhb2lqKI7fdOYOXMmM2fOrHafXbt2cc011/DVV18xa9asGs9ZWlpKaal/WmFeXh4ATqcTp7OaaSa14D1PQ51PpCnouhWvrfsLGX7f1752L3fOHMAJQ1ODrg3Lrl9J/+IiLBaDTKMTO496hM4uN1T3Qd/AmvKaDQpobRbio8yg9kB+cdDr2yNisTiLcBblQnzz/F3KzjWXHSRGOcDtwuk2v9i5AzIedqsRNO6MvGVEWZzsMZKZ7x7C2Gi7/i1oJPq3VlobXbO1FxNho6jMxYGCYuIiaiiU2WMSth5HYt3+E7x0HO5+x+I69WW2Hyzz7ZJb5PS1snRYPX8WuZnYP78VC+CaeC3uvsdBDX9GDs9nWVFJWbV/nrYuw7Fu/5nynUswOoYuaNfStYbrtjZja9agvCZut5vf//733HLLLQwZMiSsYx544AHuu+++Stu//vprYmJiGnR8c+bMadDziTQFXbft08ZcC+DPnro8EfnQDm7SctbwxRdrgvY/bOtTpGOwI24Ur3e4kkF7dvP5nt1NOWSfprhmiwttgPllJnt3JqVlAFZ+WrwMY4e/QM8xTgtxwMIfvuZg3PZGH1co2/IB7NjcZXz++ee+7YVOczvAhnVr+fyQ/8904M43AJjnGgZYKC84GHSsNDz9Wyutja7Z8DkwPzO+/OZ7MuJq3J2IhLMZ2sFN15xFWDd+xY+v3s+P1vF4P5d3HSoi1l0IWFm/dg2fH1hNr31zGG64OBjbl3nFY+CLL2p8He9n2c8LfyFnfdUFSQcXJ9IP2LnoI1bu7hDOW26xWvJ1W1RUVPNOHi06KH/wwQex2+1ce+21YR9zxx13cOONN/oe5+XlkZGRwYwZM0hIqH4dRricTidz5sxh+vTpOByOBjmnSGPTddu+lJW7fdPYth0o5K7nFwGVp9nNGjeQ44/sGbwxZzv2ZWZV1i7nPMVNKQMbebShNeU1++KOhewqMmdWDejbi5xiJ6sO7Saj9wCOn+SvUG7b8whkZTNx1BCMGqrgNpZ5m/bD6l9J6ZDA8cdP9G3PL3Fy55LvABg5fBjHj+1mPuEsxv7c7eax7mEA3HryeA7r2bq/iLVU+rdWWhtds7X39Oafyc0uZPjY8Uzs3bHmAwA4E+P7B+DnR4jN/Jb/lBzue8aNhVyigRIOGz2S40d0wfb6vwFInHAex0+oebYwwCu7fmFnYQ7DR47m2CFpVe5nWVsGH3xOj4gcuh1/fJjjb1law3XrnbEdjhYblC9dupQnnniCX3/9tcrqh6FERkYSGRlZabvD4WjwP7DGOKdIY9N12/ZtP1DIzCfmccbYDO49cQgfrsgiv6ScDjEODnkKl0XarYzqnsTph3WvfD2sfB0woPcUHOnDmv4NVNAU16wjoCVabFQEVk8RtLxSF3a73f85FJ0EgL28EJrp75F3CWNCVPD/l0h3wBT8CM9z5WXw3V8gfzf7rSl87R7LPbMHc3i/1KYedrujf2ultdE1G76E6AigkCKnUbv/Z+P+gDH/cQ4z1tLfspMNRobvqT25ZgHP2KgIHK4i2P4zALbBJ2IL8zWiI8zQrtywVD+uLkMBsB7YhNVuN9u4tVIt+bqtzbhabOnVefPmkZ2dTffu3bHb7djtdrZv385NN91Ez549m3t4IiIt1uuLdlBU5uLl+dsA2JNjftBfenQfjhvSGYDnzxvDm5dODCoUBkB+lr/S65gLm2jEzS8wKDerr5uF3l6Yt5U/vrLUv2NUonlbktuUwwtS4InK46KCf1cPrL7usFmgrAj+PR0WvwBAxPF/5b1rpnLRESryJiJSHwlR3rZotaxentiVPV2OAeCPts9C7hLlsMLGOWb7zU79oWPofulVHktwEbmQknuDxQqleVCwN+zzS+NpsZny3//+90ybNi1o27HHHsvvf/97LrroomYalYhIy9chNsJ3v8TpIivP2z4rkssnjWZvXmlQKy2ffRvglZPMD+iEbjCgdU5pq4vgoNyKPeDxN+sCvrD4gvKcJhpZZfmlnqA8MvgjPLBPucNmhRVvmG14opLg+H+QMPx0hjbhOEVE2qqEaDMDmldS+yJjP3Q8k7N3f83p9h85QCIfJl/Cb9n+biiRdhus8qwfH1B9QeyKvO3UimsKyu2RZmB+YBNs+wmGnVar15GG16xBeUFBAZs2bfI93rp1K8uXLyc5OZnu3bvTsWPwGg2Hw0Hnzp0ZMKB1VgkUEWkKMRH+gm6PfL2eX3ccAiAtIQqLxRI6IAf44hbI323+Mn/2m2CPCL1fG2QPaIkWHWEjJiL449EwDHMKewvOlAdWkLdbMNvvAEy6DYaf3lTDExFp8xKivEF57TLlbrfBUxs6sMd5Gjc63uVy+ycMjUrgxvjfkZ1vdo/q4iiAjV+bBwwIby25V3S4QTnA0FPhhwdhwTPm/VY8hb0taNbp60uWLGHUqFGMGjUKgBtvvJFRo0bx5z//uTmHJSLSqhWV+T+MX5i3lRJP79O0hCqCcYBtP8OW78HqgHPfrdV0ubbAbvV/HEY5bCTFBK8DKy33tIKLSjJvS8Iv3tLQCkrNzEx8xUx5QFCecmAJ7FsHjlgYdW6Tjk9EpK1LiPZOX69dpjy32Mnu3BKedP2Om52XAXB49uv8vsch3z49Ft1jTitPHQLdxtbq/N5Mufdzv1qH/RFskbD7V9ixoOb9pVE1a6Z88uTJGEbV5for2rZtW+MNRkSkjfAG5VEOK+Uug3K3wdCuCfRIrqItpGHAd/eb90f/Hjr0aKKRthyOwEy5w0ZSdPAsgVKn2/yy0wKmr+d4ivXFRlb9Ed5t8+vmneGn+8csIiINIj6q5unr8zbu48Nlu7ntuAGken4UP1Rk9iaPi7ST2fUUPt65khNtC7jU8SXrhl3JxSkbscz/ACw2OPkZsNqqPH8o0RHeoDyMTHlcCow8G5a+DEv/Cz0Or/EQaTwtdk25iIjUjffD+PyJPZk2KI09ucWcOCI9dCeL4hz46VGzyqstAo66qWkH20IErSmPqJwpLyl3kYgD4j0tZnIzm3J4QZZsNzMq/dPiKz1nxc119vfotMOzHnHsH5pyaCIi7YJv+no1hd6e+34z8zcfYHdOMa9eMh6ny02OJ7OeFOPgxQsOY/OK2+Dzk4lc/xHPXnUnfPGOefD4yyF9VK3H5VtTXhZGUA7Qd7oZlO9fX+vXkoaloFxEpI0pKjO/JEQ5bIzrlVz1juWl8NLxkL3GfDzxKkjs1gQjbHnsFTLliRWnr3unAnbsZ97u32TOMKjHGrxyl5tv1mUztmeHylXwq3CgoJSt+wuxWOCIvhV645YV8nnHJxlY+Iv5ePzl0GV4nccnIiKheaev53sy5Rv35nPvJ2u47pj+vs/dXE8AvmDLAfrc+TkdYhxc7Ol+kRTjIC7SzohxU2DVBNi5EJ4a7X+BcZfUaVy1WlMOkOzpxnFoW51eTxpOi22JJiIideOdvh5Y8C2kHx40A/KYTnDmqzC1/dbzcFRYU15xvXZJuecLjq+NTC4UZNfrNf+3cDuXv7qUk57+OexjvFMfE6IcvumTPktf9gfks5+AmQ/Wa3wiIhJaxUJv/12wjZ83HeC9pZkcKizj7cU7OVBQFnTMoSInj8zZAECHmIAlUqf9B7qN8z/uNcn8rKmDsFuieSV5lqsVHzJnzkmzUVAuItLGFIcTlGcuhZ8eN++f8BgMmg3W9vuRULH6esWp/r4vOI4o/5eY/Rvq9ZreVmu7copr3PetxTu4/7O1vuq8idGOyjtt8wT3fae3qx7zIiJNzdcSzZMN/2XrQcDMUE979AdufW+lrx1pqAlVQf/uJ3aFiz6HIb8zP1/q8YOqN1P+6co9lJaHEZhHxkFsqnlf2fJm1X6/gYmItEKl5S7cbrNA5uZ9BSzbcajSPt5MuffDOUhZEXxwBfx7OhguGHIKDD6xUcfcGgT3Ka/8/81XfR2gk2cK+4GN9XrNin3Gq3Pbe6t4Yd5WbnxrBUClNe8YBuxcZN6fdFu9xiUiItWL97Sk3JVTTFZuCRv2FgDw5eosDhQGZ8g7xvqXJ2UkRwMwrmeFpWU2B5z+Ely3AlIH1XlcUQGfX68u3BHeQR16mrcKypuVgnIRkRYsK7eE/QVmdjTzUBEj75vDNW8uwzAMjnnkB055dj7Znl/jvbxrySr22qa8FN46D1a8bgbkvafA8Y80yfto6SpWX68oaCpgp/7m7f76BuUhst0hBL62N/NSKVN+YDMU7Tfb22gduYhIo0oIWD404YG5vvtlrsqtyDrF+aeqf3rNUdx23EBunN4/9Inr2Svc+30BYM3u3PAO8q0r31qv15b6UVAuItJCFZaWM+GBuRz54Le43Aa/bD1IsdPFZyv38MGyXb79Kk5/zvW0zPL+kg+A2wUfXwub54IjBs7/GM7/EGIrFAtrp+wVqq9XVBrY87VjX/O2ntPXA/98XG5/e9CC0nJ+3rTf1zLU2wItUELFoHzdR+Zt19FgD69onIiI1E3Q52sNZo9IByA2wkZitIMrJvfxtUhraIHFXVdlhhmUK1PeIigoFxFpoTbszQegxOlmd04xhwKCsxvfXuG773QZQcftyTWD9C6Jng/9g1vhX5Ng5Zvm4zP/B70nNeLIWx+H1Z+diLRX/mgsKW/4THlspD/4965LBDjznws498VFfLUmC/AXdwsUlCnP3QU/emY8jL6gXmMSEZGaRYVaHubhnaIOZiD+x6N6c8/swXxyzZGNPq7h3ZL478Vm0biN2QUcKqz8+VGJNyg/qEx5c1JQLiLSyA4WlvHrjkMUllbdzzSUHQeLfPc37SsImpYWyNuSBczsurcabJekaHOt8cfXQNYqiEw0q3L3nVaHd9G2edeURzv8Rd5euugw3/NBmXJvUJ6zA5w1F2mrihHwW8pBT+Bd4nSxZnceAF+sDg7K+6TEcnT/FADS4gOyLN/+HzgLIWM8DD+zzuMREZH6G9vDn62Oi7ITYbdy0RG96J0S1ySvP6l/Cn1TzddavO1gzQd0UFu0lkBBuYhII3r4q98Y/X9z+N2z87ntvZW1OnbzvkLf/S37CtmXX1VQ7g/29+Saa47jI+1mIbE1H8C2eWCPgst+UFXuKninrwdOXZ8yIJUZg9OACpny2E7giAUMyNtd59d0Bqw99P5gs2DLAd+29CQz2/Lpyj0AxEc5eOT0Edxy7AB+P9FTAd4wYP0X5v1p97brCvoiIi1B706xvvshC642gcM8heTCC8p7mre5meCqvFxKmoY+vUVEGsm2/YU8891m3+OfAtYJh2P1Lv96sM37CnxB+Z+OH0REwBro/BInbrdB5qEi9noKgaUlRsHOX+Czm8ydjrjOX8xFKvEWeqv4BcrhmcruDKy+brFAdAfzfj36ugYuOygsNYP+uZ42aeCf0v76IrOCbpTDSkp8JFdN6UtyrKdw0KGtUJIDtgjoOrbOYxERkdoZ26OD737ngDXiaQH3bdb6FW6rq/GeteXeVm3Viu9s/nBvuCB3ZyOPTKqioFxEpJFsO2Bmunt2jMFhs5BT5CTzkDnd2TCM4IreFRiGEdTubHN2AVmeLHj/zvG8ddkEX0utvJJy7v1kDUc++B3v/ZoJwE3lL5ptz4oPQtowOOrmRnmPbYXd88UpyhH8sWj1TGWv9FNKdJJ5W1K5JV24Aqv05haXsXDLAb5c7Q/Kc4qdQdfIeRN6VD7J7mXmbdpQsEdUfl5ERBrFvScO8d0PbFMZF1AErrmC8sM8Qfnq3XnkFjm575M1PPDFutA7Wywq9tYCKCgXEWkkuZ5MZ3pSNCO6JQEwZ60ZdL29ZCcD7/6SLz3rhitaszsvqLDb8p05rPcUfuuaFM2o7h04Y2wGAA9/tZ5XFmwH4P1fdzHYso2ZRR8DFhh5Hpz7jgK2Gngz4hUrr3u/T7krRuUNkSkPyL7f/dEazvrXwqC6AXnFTt9yhGiHjVnDulQ+ya5fzdv0UXUeh4iI1J4jYMZaYEeMwMrs0RVbkzaRrknR9E6JxeU2uPndFbz08zb++cOWqmvbeNeVq9hbs1FQLiLSSLxBeVKMg1nDzYDqG8/05NveWwXA5a8uDXns3HXZAEwblMphPTtQGhDAdfWsNU6KcWDDRQ9LFsdYl3Ki9WcyLHu5x/GKuePQU+HkZyAhRDAnQRxWf6G3QL5MecVlB1GJ5m1JTp1fM3BNeah6AbnFTnZ5ZlZ07RDtK0AXZPdy87br6DqPQ0REas+77AmC+5bHRtq58/iBxETY+EtANr2pnTfenF3lTQaAOQMrJG+mPLuKbLo0uub5+UZEpB3w9pdOjHYwobfZD3xlZi7lAcEYmAFfxYDr29/MD9EZgzvzu9FdufClxazetJXZtgVEz/kWyku4dO8mroxeit2o/CFbZo0mYsqdjfG22qREz9RD31ptD4svU14hKPdOXy+u+/R1Z6X0u6ljbAQHCsvILXaS5akR4GtvF8jtgj3LzfvpCspFRJpSYKY8sE1llN3GpUf34Q9H9m626esAGckxlbblFJX5ftgP0mcKLHoOVr4N0+6ByPgmGKEEUlAuItJI/EF5BP1S44h22CgoLWfCA3OD9jtQWEanuEjf4+z8ElZkmkXepnS3Yv/8Rl4u+B57lGda2WLzxhem2aPZH9kNV8E+0iw57DMS+GXYA8zq2Kcx316bMnlACn85aQhH9UsJ2u7NlFeKn6OSzNsGmr4eqH9aPAu2HKCs3E2Bp91dYBbG58AmKCsARwykDKjzOEREpPYi7IHT1+2VtjdnQA7QMa7ysrWcoioy5X2nQ8d+cGAjLHsVJlzRyKOTihSUi4g0ksDp63ablWFdE/ll20H2F5RhtfgDvR0Hi4KC8h/W7wNgSpdyUl6bDnm7/P9Ydx4O/WZARIzZlqv3JOg0gM8W7uCej9dgwY0F+Hu3kU32PtuCSLuN8yf2rLTdWlOmvIGmrwca2jWBBVsO4HQZFJaZhd5iI0O01fGuJ+8yAqzN03ZHRKS9CsyUx0bYmTowlbxiZ1BLtObUKTay0rYqg3KrFSZeCZ/eAAufg/GX+6eKSZNQUC4i0ki8RbuSPNPa+neO4xdPz9D/XHgYz32/mUVbD7LzYBERNis/bdrPGWMz2LArm/Nsc7ihaC6U7oLkPnDcA9B1jNkjO4QYT4EyAysG0Ce1ZXwpaO38a8orPNEQmXJX6OnrY3ok88K8rbjcbl8P+rjIEJny3d4ib5q6LiLS1AIz5Varhf9ceFjI5WjNJTlEpvyuD1f5atxUMvws+PwWyNlu9ixPymjkEUogBeUiIo2gxOni5037ARjUJQGAM8d256s1e7n0qN5MHpDKZyv3sGjrQbYfKOKDn1eRuOsH5n+zlJusvxLlcEIpENMRznuvxh7jMQEVXuMi7b5q71I/3i9X7orz173V10tyqauyEJnynh1j6JcWB0C5y/BVyo2rmCnP3wsr3zLvZ4yr8xhERKRuAgu9eWdVtZSAHCA2wkZ8lN334y7AoSInpeUuIu0hZldFxEDKINi7CvasaJKgfFN2AS/9vJWrpvQlPdRa93ZEQbmISAMqLC1n7m/ZvLpwO+Vug8RoB0PSzaB8WLdEFv9pmm/fHh1j6G3ZzdjVb/HHg18QHVHmey7T6ET52MvoOfXiKrPjgWICgrYJvTtit6m5RkOouiVaknlbr0y5Pygf3yuZmUM7c8HhPX297J1uNwXeoDyqwsf1V3eaPwh0GQGDZtd5DCIiUjferh3gn1XVklgsFp48exS7c4rpnhzD7//9CwB7ckroWdUU+y7DzaA8ayUMOqHRx3juiwvZm1fK+qx83r3i8EZ/vZZMQbmISAN6Yd4WHv9mIwBRDiuPnTkidIDsdnHS1r9wdeTHcAiwwDp3BvPdQ/nENZHlRh8WTZoGsSGqbocQG5ApP7Jvx4Z4K0JgobeKLdG8mfKcOp/bG5S/dNFhTBmQ6ttu92RfXG7DF5THRgZ8XB/cCqvfBYsVTnhc68lFRJqBNaCQW8sLyU2Bny29U2LZsq+Q3TnF1QTlI2D5a7BnZZOMb2+eucxvyfa6dzJpKxSUi4g0oM9X7fHdf/bc0UwdmBZ6x5Vvk7HzY9yGhbnu0bxYfjzLbYNJjI4g29OzOjW+cpGWqgRWeT2yX82ZdQmP939rpT7lDdESrdw8Z0SFH23snuyL02VQ4FtTHvBxnekpv991jPqTi4i0AC0wUV5J16RotuwrJDOnuOqdOg83b/esaJpBiY/mN4qI1IPLbfDaou3sPFgEQLTDzFpednTvqgPy4hz4/m8APFR+Jn903sQiYxBdk2KIdPj/Wa7N2rRenl+9I2xW+qTE1eGdSCiWmlqilRWAq4pqtjVwus1Mub1C25zAx3melmhBQfkuFXgTEWlJWtJa8qr06Gj2LV+9K5cdB4pC79R5KGCB/N1QsK/pBicKykVE6uPTlbv50wermfTwd7jcBrs8v0DPHpFeeefC/fDNffDiNMjZgZHQlf+6Zvie7pIUxbVT+wFwQlXVUauQHBvBD7dMZsEdU1vFl4PWwuJbU15x+nqi/34dsuVut8GBArOGQNDUdPzT18HfviYoKN+50LztdlitX1dERBpeS1xTXtHwrkkAvLJgO0c//B2LPd1ggkTGQ8c+5v0sZcubkqavi4iEsD4rn8XbDnLSyHTio4LbURWVlXPui4uY0Lsje/NKADOT+ubiHez3BFrdOlSoIrpzMbx5NhR6fnmOTMRyzlsUP77Dt0tClINTR3ejd0ocg7rE13rMPTqqDVpDs1aVKbfZzcr4RQfMP9O41MoHV2PzvgJyi51EOawM6Bz8Zx3Y+9bb694XuJcV+tf6dZ9Qq9cUEZHGYW35MTmje3QIerx6Vy6H9UyuvGOXEXBgk/lZ03da5eelUShTLiISwvVvLeeuD1cz7N6vfdlvr09W7GbZjhye+34z2wOmgP3pg9WAmbVOivH0By3cD1/fDa+cZAZvqYPhlH/CNUuh8zAm9PZ/IDpdBlarhTE9OgS1OJPm41tTToie4rGeQLxgb63P6y1qMzIjKSgIh+D6AN5Cb/He6uuZS8BwQUI39ZAVEWkhqiyc1oL0TY3jhfPHkpFsJg2ycktC79hE68rLyoPbgpaHaBPanigoFxEJ4HYbLNpygHV78nzbbnp7edA+ecX+np/LdlSeutw31bOm21UO/zsF5j8JzkLoPRku+QZGnAVxKQA8c45/XXCl7Lo0O2+mvOLsdcD3Z1iXdXfeaYOhshQV15iDJ1NeVgiL/mluUJZcRKTZvfHHCdwxcyAzBldRQ6aFmT44jQsm9gRgd1VBeZcR5m3mEnC7Gm0sm/cVBD0+VFS3+ixthYJyEZEA93++jjP/tTBo28ItB3EFzF/Ozvd/kHk3P37mSN82b19ylvzH7PUZlQhnvQHnvQ8Rwb+md4yL5N8XjGXm0M5cd0y/hn0zUm++Qm+V5q8DcZ4vYYXZtT7vkm3mjzljQwTlFoulUmAeV7bPrEWw/jOzFdrIs2v9miIi0rAm9unIZZP6tKpaLp0TzVare6qqwp4xzixmmpcJ6z5utHEsqbCm/WBhme9+fomT53/YzLb9hY32+i2NgnIRkQBLPdOKR3VP4u+/G+bbHpg531ahammnuAhOGpnO1VP6csqorlwztZ+ZPf32r+YOx/wZBh5fZT/pYwal8dx5Y+gQG9HA70bqy+or9BbiyTpOX9+bV8KOg0VYLTC6e1LIfQKnsNutFiLn/R2y15qvef7HWucnIiJ10j3ZrMK+eV9B5XafYCYPJlxh3v/xkSqmitXf5n3BAfc/f9jMyc/8zN68Eq587Vf+/sVv/PWztY3y2i2RgnIRkQDewm33zB7CWeO6M6m/OUU58Bfdiq1ERnRLwmKxcPOxA3jsjBEkr/kv/GsSlOaa08DGXNR0b0AalL/QW6hMuTcor930dW+WfGDnhEpFBL0C15knRFiwrH7ffHDGf6HXUbV6PREREa8BneNx2CwcKnKSeaiKbPm4S8ERC3tXwbafGmUcgZlxgPeX7WL5zhwe/2YD8zbuB+CbddmhZ6q1QQrKRUQ8XG6D7PxSADonmNO7DutpViu995O1rNuTh2EYvnVQn15zJC9fdBh/P3W4/yQ/Pw6f3wx5u8zpzSc+VWWGXFo+X6G36oLyWk5f968n71DlPoFt0YZF7DZrEkQmQIbWkouISN1F2m30SzW7fmzYmx96p5hk6O9p2br710YZx6GispDbf8sKHtOCLQca5fVbGpX3FRHxOFBQisttYLWYU9IheM3vLe+uYPbwdMrdBjarhf5p8QztmgguJ6z92Fx7teodc+fJd8AR14MjqhneiTQUS1Ut0SBg+nrtgvK1nqUQI6uYug7Bxd5G2baYd9JHgVW/pYuISP0ke5bL5ZeUV71T6hBY8wFkr6v1+R/5ej1uw+DmGQMqrbcvKC2noKScAwEtZAMz9vsLSoP2f/6HzRzRt1Otx9DaKCgXEfHwViJNjY/C7pk+PDIjyff89v1FLPT8YpsY7SDCboX9m+D10+HgFv+JptwFk25psnFL4wlv+nrtgvLiMrOabVJ01TUE7AHB91Bjo3mn65havY6IiEgocZFmCJhfWl1QPsi8za7duu4Sp4unvt0EwAnD0xnUJcH33LPfb+LxbzYGtUPrmxoXFJR7P/8Gdo5nY3YB8zbuZ/WuXDMJ0obpJ3cREY/MQ+Za8cDWZFEOGycM7wLAwC7x7PR8cDxxxjDYOAfeOMsMyGNTYPwVcNEXCsjbEG/C+vv1+yqva/MG5UX7oTz0NLxQSsvNoDzSXvVHcGCht/6uDeadbmPDfg0REZGqxEWZQXlBtZlyT1C+b32tWqOVBgTc8zYG11z5z09bK/Un75sSF/S4wPNDQZ/UOGZ7vn/95ZM1Yb9+a6WgXETaNcMw2LA3H5fb8P1SW7Ff+NnjugOQU+Qk81ARDsoZ+9Ml8NppcGAjxKfD5T/DzL9Dj8Ob/D1I47F6guNdOcW8/suO4CdjUyGmIxhuyFwc9jm9X0giHVV/BDs8a8qtuOlSnmluTBtai5GLiIiE5s2UF5RW0xu8Q0+wR0N5CRzaFva5y13+oHtrQEuzorJy9numrH9z4ySiHFZS4iODMukAecXmmCLtVm6aMYAeliz+uvsSCh4dDV/fZS4XbMT+6c1F09dFpF17bdEO7vpwNTdN789eT//xbh1igvZJjDYrZG/ZX4jLbXCz/X2id84DexSMPh8mXgXxaU0+dml8gUvhPlu5h/Mm9PBvsFqh9xRY/S5s/hZ6HhHWOb1ZhAhb1QUAvcsn0i37cRhOsEVAYrfavwEREZEK4sPJlFttkDoQdi8z/+vYJ6xzlwfMKss8VMzS7YdIiYukxDNLLD7KTt/UOObffgwWglvOgv8zMs2dTcayj/k84mliLaWQB8x/ytypz1Q48fnw3mwroUy5iLRbxWUu7vpwNQCPzNnAzoNmpjwjOThTnhRjBuWx7nwusn3BlfaPzCdOfg6Of9j8NVnaJGtAVB5yXXnfY8zbzd8Gbf73T1u56rVfcbrclQ4pDSNT7i301suSZW7o0EtV/EVEpEGEtaYcIGO8ebtzUdjnDvzcm7dxP6c+N5+zX1joWyKY4Ul8JMdG0CE2gs6JlQvidrPs45qNf4B5jxBrKWW3kcyL5TMpGXmRmb3f/C32/xyD3VVFS7dWSJlyEWl3tuwr4OKXF7OtQr9x/5ryCplyh5uH7P/kRNt8oiyeqV6jzoOhv2uS8UrzCVjaTaiYnN5TzNvdy6DooNlGBnjhxy1k5ZVw/sQejO/dMegQ3/T1ataUe1uijbP+Zm5IHVi3NyAiIlJBWGvKAbpPgEXPw44FYZ+73FX5w3JXTjH7882p66kJkUHP9U6J468nD+XDZbtYsv0QkZTxvOMxYlx5kDqEazOn8Ll7HOXYmXz40fSdcAm8/XvcA0+kvDi60mu1VsqUi0i789CX6ysF5OBf++RbU24YsPYj4t48hTPsPxBlcbLOncGHaVfBrMeacsjSTGrMlCd0gdTBgAFbvvdtLvNkCnYeqvwrvrfQW0R1QbnVChicYPV8ERo4u9ZjFxERCcW/prymTPkE8zZrNZTkhnXucnflGWIAmTnm52GSZ0lgoPMm9OC4oZ3pb9nJ847HGGrdRpE9Cc59m4/dh1PuySMfKCiDzkPh0u9xT7ojrPG0FgrKRaRdWbD5AF+uycJigU+vOZJPrj7S95zbMNcQd0n0BOWL/glvn48l8xdKiOCKsuuYWfZ3tva9EOxVt7OStilkUA7+VmX7N/o2eafv7TwY/OOPy23g9GQRIu3VrCm3Whhi2U4v617KrZEw4Lh6jFxERMQvNsIMcgtDBOWHCsv8wXpCF+jYFzDg+wfDOrczRKYc/ImPxBBBOUDvg/P4IuJ2pthWAPBz35sgsRvnT/TXcjlY6Ol0EpXY5pZ0KSgXkXblsW/M9lK/G9WNoV0TGdYtkeuO6ed7vnNClJnBzN8L3/7V3DjyPC6KfZov3OMBCxnJMSHOLG1RYKa8iu8Zwa3RPLzT93YeCg7KA1vB1DR9fZZtIQDZaUdDZHxthi0iIlKlKIcZ0JZWaE92qLCMqY98z1n/WoDh/SF6hue70MJnzFawNQg1fR3MpYNQRVBuGIzZ+CQ2i8E6d3ducV7K9vRZAPxp1iDiPZn9A4Xhtx9tbeoVlJeVlbF+/XrKy2uY+iAi0sxcboNyl9v3S23gL69H9evku+8tQMLcv0BZPqSPhhOfojS2W8A+bWcNk1QveE15FVF5bIp5W+jvx+qdvpd5MHj6+r78Ut/96oLyuEgHk6xmtuBgj5m1GbKIiEi1ojyFRkucwa3Fvt+QzaEiJ6t35ZGVZ3akYcBMGHepeX/+kzWee8Pe/JDbvd+/EkIF5ZlLSCzYRInh4IyyP/OOazKRnh8OIu02Th1jfger2Pe8LalTUF5UVMQf/vAHYmJiGDJkCDt2mL1br7nmGv7+97836ABFROqroLSciQ/M5ax/LfQFRYHZ7hEZSb5fYXsnGmYfzOWvmU/OfBCsVuKj/B8iypS3H9aAqLyqmNwflO/37Oefol4xUz7rqXm++962Z6EkRlnoY9ltPug6qpajFhERqZo3U17iDM6Ur97lb0+2MjNgDfn4y83b7fOhJLiFWSC32+Cmd1aEfK6ozPwBIGSmfPGLAHzqnkg+5neswCVe54zvjsUCX63Zy+pd4a1tb23qFJTfcccdrFixgu+//56oKH8Z+2nTpvHWW2812OBERBrCyswcsvNLWbL9EADRDhsdYvwfCg6blYl9zArZl2bf7+mDaZgfQhnjAMjKLfHtn5ZQuX2HtE2Wmgq9AcR6Zlp4gnJXQI/WrLwSX2G3P32wivyaKt169LDtJ8ripNRwEJUSXm9YERGRcHhnanl7h3sdKPDP5toVWKi0Yx9I7gPu8qCiphXtLyyt8jmvoKDcMGDFW7DmfQBeKZ/ueyqwGGr/tHhOHJEOwOPf+Ou3tCV1Cso//PBDnn76aY488sigLyxDhgxh8+bNDTY4EZGGkJ0X/CHROyU26N8ugNtnDuSeQbvpfegnsDrg7LfMLLlHkdMfTNmswcdK2xX4R+2uMVNuTqsrD9jRMGB3TgkfLtvFa4t2hP26GeU7AdhspNMhTj8CiYhIw/FnyoOD8uKAxxXXm9P/WPN241dVnnd3TkmVzwHERNgYmZHk3/DLv+CDS8FVRm63Kaw0/D9CV1zide0x/bBa4Jt1bTNbXqegfN++faSmplbaXlhYWOmLrohIc9uV4/+19+opfXnotOHBO7jK6V2wjIuyHzIfj7u0UrXr/ztpKB1jI3j+vDGNPVxpQQILvVW5pjy6g3lbkgOG4au87rU5u4C7P1pdq9dNLtoKwCYjvcpKtSIiInUR6VtT7g76bCsOmM5eWiGLTj9PFnvjHKjQ9uy79dn846v17DhYud2sl9UC//vDOFK9sw0NwzdtnYlXk3Dh24wICNi9Y/TqkxLH4X3MmWknPPUT5/x7cY3vszWx1+WgsWPH8tlnn3HNNdcA/ul9L774IhMnTmy40YmI1NGm7AJ+2XqQgV3iyfSs6732mH7cOL1/8I7Fh+ClWZC9xnycNhSmVO59OXlAKkvvnl5pu7RtwZnyKoLyqCTPDuVQVkC5KzLo6RWZOWFPW/dKLjaD8o3urtWuPRcREaktb6YczIy4L3Ne5g/EK643p8cR4IiFgr2QtRLSRwLmD9YXvRQ6QH7/ysNJinaQlVdC9+QYunUIqMmTvQ72bwBbBEy6FYs9gtuOHcA5Ly4Cgn8U90oMWHpY5Q/lrVSdgvK//e1vzJw5k7Vr11JeXs4TTzzB2rVrmT9/Pj/88ENDj1FEJCyGYTB3XTa/bDvIv37cUun5PimxwRvKy+C9P5oBeWQCDDgept2r9lPiE7ymvIqdHNHmlwpXGRTn4LSlBD29cW9BpUN6dKy+WGB6wVoANhgZtRuwiIhIDaICiqiVOv1BeeBSvUqZcnsk9JkCv30Ky/7nC8qry46P7m7OJOudElf5yVVvm7d9p5l9x4HD+3bi5JHp/LRpP8O7JVU6JCbgx4S2Vt+nTkH5kUceyfLly/n73//OsGHD+Prrrxk9ejQLFixg2LBhDT1GEZEa5RY7Oe25+WzMrhwAeQ3snGDeKToIX94Bv31mtj2zR8OFn0GX4VUeK+1TWNPXLRYzW16YDSU5lEd1Cnp6Y3bl9jDvXXF41S+am0nH4q24sNJ33HFV7yciIlIHDpsFq8X8sdkMvs0MdHFZNWvKAcZcaAbli1+EXpNg8In8luX/jJvUP4UfNoTRtqy0AJa8ZN4feU7QU4+dORLDCO5+4hUT4Q/KOydEQoghtlZ1CsoB+vTpwwsvvNCQYxERqbOv12RVG5DHRdrpnRILrnJ450LY6pnVE5cGJzymgFxCCu5TXs2O0UlmUF6cQ7kjeMfN+wor7Z5U3TrxnZ6pe12Gc8vJE2oxWhERkZpZLBaiHDaKylxB09SD77sqH9hvOky8GhY8DZ9cBwNmUlhqZtcn9u7Ify8eR8/bP6v+xQsPwEdXmXVYkvuYsxQrjK2qEmVRgUF5YhQcqv6lWpM6BeWff/45NpuNY489Nmj7V199hdvtZubMmQ0yOBGRcC3ZZv7LPHtEOpce1ZvZT/8EwBt/nMCa3bkM65qIwwJ8/WczIHfEwtlvQM+jwKo1uxKaNZyWaOAv9lZ8CGdczT/dV7tOfPcyACxdVVRQREQahy8oD5imXm31da9p98KKN6FoP2yfT1FZTwDio8IIK7N/g9dOg9ydZqebGX8Fq63m4zxiHP7XSIuPxGhDQXmdvonefvvtuFyVfz0xDIPbb7+93oMSEQlXdn4J932yhreWmC2kfje6K8O6JbLt77PY9vdZTOzTkUuO6s149zJ4ajQsfMY88ORnofckBeRSLUs4LdHAX+ytJIdyl7ljxXYuYSkvg9UfmPczxtf+eBERkTBEeXuVBwTiQdPXKxZ687I5/O3R1n/hOyZwanlIZUXw2ulmQJ7cB/74LQw8vvpjKoiO8H+uJsdG1OrYlq5OmfKNGzcyePDgStsHDhzIpk2b6j0oEZFwlLvc/N+n6/hkxW4AjurXiUn9UirvmLkU3jwPyoshIh6m3AlDTm7awUqrFH6mPMm8Lc7xtURLinGQW+z0TQcc06MDw7omMqxrYtXnWf4a5GVCfBcYfFJ9hy8iIhKSdyq4tzuIYRgVMuUhpq97DZhpfl5t+IKiwRcDEB1RTVhZmg9f/Qlyd0BiBlzyDcQk13rMga+RHBPBgVqfoeWqU1CemJjIli1b6NmzZ9D2TZs2ERsbG/ogEZF6MAyDgtJy3vxlJ9MHp9ElKYoZj/3I9gNm1c+7TxjMBRN7BBcGyd8LK9+EHx42A/K+0+CMVyBC/05JeIILvVWzY2Cm3JNSt1utxEc5KHGWAhDtsHHviUOqPoerHOY9at4/4npwtK3KsiIi0nIMSU9ky75C5q7L5oi+nSq1QKsyUw7Qe4rZdeTQNqLzzIRsxUy5DRfsWQHbfoKfHoNCTwG4GX+tU0AOwTPQOsRWU5ulFapTUH7SSSdx/fXX88EHH9CnTx/ADMhvuukmTjzxxAYdoIjIXz5Zy39+3up7/Mu2g9wwrb8vIAc4YXiX4HW6WavhvyeYfcjBXDt++ssKyKVWwupTDgGZ8kOUezLlDpuFSIedfflmUB7lqGE6+57lZhYhKgnGXFDnMYuIiNTk5JHpfLJiN5+s3M2fZg2isKw86PlqM+WRcWb19U1zGLz3E+CEoKD8COsqnnU8Af8MaJeW3Bum3lWvmYplAevcE6srmNoK1Skof+ihhzjuuOMYOHAg3bp1AyAzM5OjjjqKf/zjHw06QBFp33bnFAcF5ABz1u4lIiAA79UpltT4SP8O2b/B/042A/KUQTD+Uhh5rtljU6QWLGFXX/cWesvB6VlTbrdZiY30f8xGOmpYb7f9Z/O2xxFm73MREZFGcnT/FDrEONiXX8p7SzPJSI4Jer7KQm8expgLsWyaw5HZr3OlzUW04xYALLi5z/5fEi1FEJkA3Q6DnkfC+MvqnRgJXP/uqK5gaitU5+nr8+fPZ86cOaxYsYLo6GiGDx/O0Ucf3dDjE5F27qeN+333H/jdMO54fxUAn63a49v+xh8nYLFYID8LPr0BNnwFhgs6D4cLPvFnMUVqyRLumvKg6evmFxm71UJCQDXaKHsNQfmeleZtt7F1GaqIiEjYHDYrs4Z34dWFO7j1vZUc0bcjACnxkezLL6XE6WJVZi5Ltx/k3Ak9KgXBq+OOZEn5sVxk/4pbHW/xy55usP8c3o55mL7u3eQb0cTfsAaiEhpszKkJbXdZV537lFssFmbMmMGMGTMacjwiIkGWbD8IwBWT+3D2uO7sOlTMO0t3Eh/lYNv+Qp47b4zZqzJ3F/x3NhzcbB7ona6ugFzqIbjQWzU7BhR681Zfd9isQS1iapy+fmCjeZsyoA4jFRERqZ1LjuzNqwt3APDzJrNs2rieyXy2ag/FThe3vbeStXvy2LSvgL+ePCzo2IPFTu4rv4AsI5k7HG8wbsMjsOERDvM8Xzz6UuIbMCAHmDWsC2t25zK+V93WpLdkYQflTz75JJdeeilRUVE8+eST1e577bXX1ntgItI+lJW7iQjROuq9pZnER9mZ58mUj/P8A3zzsQO4+VgzaDEMA0t5KSz5D8x7zFPVszuc8yakVVNQS6QOjHAy5cWHfNXX7TYL8ZH+NW9R1U1fNww44PlBqWO/eo5URESkZj07xQbNQgSYMSSNz1btITu/lL15Zk2UD5ftrhSUF3iqtv/TdQIZlmzOs881i791HQtjLiR12GkNPl6b1cIdMwcB4HQ6G/z8zSnsoPyxxx7j3HPPJSoqiscee6zK/SwWi4JyEQnLA5+v45UF2/nkmiPomxrv275tfyE3vbPC9zjaYWNi746VjreUFcCrp8HOheaGDj3N6epJ3Rt76NJOBAbiYRV6C6i+7rAGZ8qjqwvKC/dDWQFgMa9jERGRJlCxavrk/qm+KexeDpul4mHkl3iDYgt3lf+Boefcz8i+3VVQt47CDsq3bt0a8r6ISF3988ctADz45Xoi7VbOHtedfqlxTP7H90H7XTG5T3CW0TDgwCb46CrYuQiiEmHSbWYxN01XlwYUGIZXO33dt6Y8F2e5mT2w2yykBBQg7JxYzVq4fE+NhNgUsEfUaawiIiK1FRdQkLRHxxgSYxwM7BwfFJQXlbnILXZS7nLTMc78XCsoNT/rDuvZgQsP78WIQZ2Dq6NKrdR6TbnT6WTgwIF8+umnDBo0qDHGJCLtgHeKL5jV1AE+XbmHk0amB+139rjuXDO1r39D5lJ472I4tM18HJUI538E6aMae8jSDtU6U264MUoLALP6eo+O/oxB1w7VVFQvMP8OEJ9W16GKiIjUWkyEPxwc1jURgEFdEnzLB8GsxH70Q98B8NNtU4iPcpDnmb4+oHM8s4Z3acIRt021riXvcDgoKSlpjLGISDuy42BRyO0fLd8NQHykncfOHMHfThnqr4BdWgDvXGAG5BYr9J4MF3yqgFwaTVAcXl2m3BENdjMTbis5ZG6yWujZyd9iJqO6oNybKY/XFxsREWk6gZny3p3MH5IHpMVX2i+32ElusZNN2eYPz9415XGRbatfeHOpU4O3q666igcffJDy8vKadxYRCcH7j3oo0walseq+YzllVDd/QO4shs9vhtydZjG3mzeaGfIuw5toxNIeBU9fry4qxzeF3VqaC5jT13sk+zPl6UnVBeWeTHmcMuUiItJ0YiL9ywO9S64GdqkclHst2HIAwzB8a8oDa6dI3dXp/+LixYuZO3cuX3/9NcOGDSM2NnhB//vvv98ggxORtulgYRmX/W9plc9fd0yF6tO5u+C/J8BBcw06sx+D2E6NOEIRU2Ac7qopKI9OgoIsbKW5QDx2m5XoCBsfXXUEbsMImiJYSWG2eRuXWt8hi4iIhC0wU97Js168b2ocNqsFl9vg2CFpHN0/hS9XZzFv434e+nI9hmF+lwMF5Q2lTv8Xk5KSOPXUUxt6LCLSTny6crfv/pgeHZjUP4Vv1u1lZWYu54zvzrBuif6dDQM+udYMyOO7wPEPQ99pzTBqaY+MgFy5q9pKb0B0BwAcpQeBeBxWc5bHiIykml+o6KDnHG2v96qIiLRcgdXXE6PNqeiRdhu9O8WyMbuAY4d05neju/HbnnzfOvNH52zwfSZ616FL/dQqKHe73Tz88MNs2LCBsrIypk6dyr333kt0dDVT8kREPB7/ZgOGAat25fq23TS9P4f37cS1x/QjK7eEtITI4IOWvw6bvgFbJJz/MaT0b+JRS3sWmBx3ugwMw/AvqagoZSDsWEBKznKgB3ZbLVaIFXuC8hgF5SIi0nRiA2ZxJcb414dfMbkP7/+6i8kDzBlc50/swcbsfBZuOegLyFPiIxkZzg/PUqNaBeX3338/9957L9OmTSM6Oponn3ySffv28Z///KexxicibcTqXbk8/s3GoG3Pnzeaw/v6p6EHtYw6sBnm3gdrPzIfT75NAbk0uYq5cZfbwB6iXysAfabC0pfodnARcFLIvq5VUqZcRESagdVq4YrJfdiXX8rgLgm+7b8b3Y3fje7me9wvLZ43L53Iu0szufmdFQD07BhT9Q/VUiu1KvT2yiuv8Oyzz/LVV1/x4Ycf8sknn/Daa6/hdrtrPlhE2rW3Fu8Mehxhs3LskM6hd963Hv5znD8gH3oaHH5dI49QpDKjwjry8uqmsPc6GixWkou30ZkD2K3KlIuISMt323ED+cfpI8IKsE8c4W9dW1auGLCh1Coo37FjB8cff7zv8bRp07BYLOzevbuao6r2448/Mnv2bNLT07FYLHz44Ye+55xOJ7fddpuvkFx6ejrnn39+nV9LRJpPidPFh8t3BW07aWR65X/8S/NhxVvw39lm4avOw+Dyn+G0f4NNhUSk6VWs7eZ0VfMFJDoJ0kcDcJRtVdUZ9VCKDnnOoaBcRERargi7P3zsEBvRjCNpW2oVlJeXlxMVFRW0zeFw4HQ66/TihYWFjBgxgmeeeabSc0VFRfz666/cfffd/Prrr7z//vusX7+eE088sU6vJSLN58vVWeR7+lkmxTgY1zOZO48fFLzT3jXwzHj44FIo2Atpw8w15J2HNsOIRUxGhQns5a4air31mQrAUdZVOMJdU150EMryzfuxHWs7RBERkSb12iXjGd8rmf87Sd/RGkqtUk+GYXDhhRcSGekvxFRSUsLll18e1BYt3JZoM2fOZObMmSGfS0xMZM6cOUHbnn76acaNG8eOHTvo3r17bYYuIs3o7SXm1PUbpvXnumn9Ku+QtdrMjhcfhMQMGHE2TLzSV81apLlUypQHLNfalJ3PE3M3ce3UvvRL8/R07TERgMGW7fxmDTNTvtHzWZc2VNe8iIi0eEf07cQRfdWatiHVKii/4IILKm0777zzGmwwNcnNzcVisZCUlFTlPqWlpZSWlvoe5+XlAeZ0+Lpm9CvynqehzifSFBrzul23J5+Hvt7AzdP7MSQ9Ieg5l9tg8TZzvezxQ1OCX78gG9tHl2Pd9iMA7i6jcJ39jjkN2Bxsg49VWo+W8G+ts7w86HFJqRNnlNk+5rwXF5GVV8pPG/fxyx1TzB0SeuAAMizZ2IzysMZu++0zrICr7wzcuuZbvZZw3YrUhq5ZaY1aw3Vbm7FZjIpVbJqJxWLhgw8+4OSTTw75fElJCUcccQQDBw7ktddeq/I89957L/fdd1+l7a+//joxMTENNVwR8ShxwW2/mL/v9Yo3OK+vi9WHLByeahBhgwMl8JdlduwWg4fHu/AmD63uMo7Y9HeSCzdhYCE7fhi/9ryMMnt8M74bkWDF5XDfrzaKXeaFe/eocjp5VnFdt8D/u/YTEz3Bu+Fm1vI/YMfF3cmPMbZH9dPRLe5yZq66Coe7mB/7/5lDsX0b5X2IiIhI0yoqKuKcc84hNzeXhISEavdtFZWTnE4nZ5xxBoZh8Nxzz1W77x133MGNN97oe5yXl0dGRgYzZsyo8X9GbcYzZ84cpk+fjsPhqPkAkRagMa7bZTtyuPGdlUAJAJbIWJ7bWM7+gjK69erNtVP7Mm/Tflj2Kz06xXHCrCPMAwuysX1xM9bCTRhRSZSf/ynJKQOZ1iCjkraipfxbe+IsNxP+/j15JeUcedQkeqeYy7WuW/C1b5/AIqgH1qaTVraTMV0jg7aHYtn2I/YVxRixKUw87Wqw1KrUi7RALeW6FQmXrllpjVrDdeudsR2OFh+UewPy7du38+2339YYWEdGRgatefdyOBwN/gfWGOeUxrUnt5hSp5uenWJr3rmNaqjrtsTp4orXl3OgsMy3bcv+It/9p77bwkmjMnj3V7NjQp+UOPN1l70Kn94ArjKwOrCc+SqO9GH1Ho+0Xc39b63Dgb9om9UWciyB2/Y7upJWtpOOzt01j3vvSgAsvY7GEVH5s0tar+a+bkVqS9estEYt+bqtzbha9E/y3oB848aNfPPNN3TsqKq0Uncut8HRD33H5H98z86DRTUfIFUyDIM73l/FgcIy0hOj+ObGSSH3u+x/S5i3cT8AZ4/vDlvnwcfXmgF517Fw3rvQ66imHLpInXjbm1XbEs1jr6MrAB1KMms+caH594OE9Or3ExERkTarWYPygoICli9fzvLlywHYunUry5cvZ8eOHTidTk477TSWLFnCa6+9hsvlIisri6ysLMrKyqo/sbRbmYeKuPjlxdz78Zqg7YZhcMl/F+P0tDM66qHvKCwtD3UKqcbKzBwyDxXxn5+38cEys+/4OeO70yclllNGdaVrUnTQ/pv3FfpaoY3rFgufXAuGC4afBZd8A70nN/VbEKkTu9X8uCx311yGZa/NDLCTirbWfGJvUB6bUuexiYiISOvWrNPXlyxZwpQpU3yPvWvBL7jgAu69914+/vhjAEaOHBl03HfffcfkyZObapjSitz67krmbz4AwI0z+pMQ5cDtNnhz8U6+W78vaN/PVu5h6qBUYiPsREfYmmO4rcrW/YWc8ux8XBWCknPG98BisfDYmSMBWLs7j+OfnBe0z4So7cS+PhsOboG4znD8w2AJs12USAvg8GTKy8PIlG+O6A9A6sGlUJIHUdUsuyr0/LukoFxERKTdatagfPLkyVRX/L2FFIaXFmTB5gP8+6etnD+xB0f3D/4SuzIzxxeQA8xdt5dTRnXj5ndW8L4nqxvo1vdWEmVx0j3JwatXTCE1QdX5q/Pdb9lBAfnvJ/TgvhOHYK3Qi3lwegJvXjqBb3/L5l8/bqELB/g3f4FdxeCIhROfrD5IEWmB7J415d7ZNtXZYOtHltGBzuWH4LnD4aSnq54VoqBcRESk3Wvxhd5EAj393UZ+3nSAb9bt5ZIje3HXCYMB8wecJ+duCtr3hrdWMLl/qi8gH9o1gVcuHMOc1x8jOnMe/SyZ9LPswl7shkeBmE4w8HgYcTZ0Hg6RcU399lost9vg/WX+9bH3zB7MhYf3xFJFtntC74707BjLiz9u4kHHv4ilGNJHw9lvQnxaUw1bpMHYrZXXlFstEGo2u9Nt4cqy6/hfhxeJzd0Jb5wDN6yGmOTKO3unr8eoZoqIiEh71aILvUn7VO5y88x3m7jopV+4+vVffWu/nS43i7cd8u334k9b+WHDPgzD4Ma3V/DNur1YLHDtVH+f30v/t4Ruln380f4ZH/f6gOSXjuDMPQ9xom0Bg6w7sVsCpqIW7YdfX4GXZsKjg2HlO032nlu6L1ZnsXpXHrERNpbeNY2LjuhVZUDu1dmZyasdXuRo2yrctig45Z8KyKXV8lZfL3f7/82wWUP/HSh3u/nV6M/P0z+ChG7gLISsVaFPXJJr3kZ3aNDxioiISOuhTLm0OD9vPsDDX633Pf505R7W3HcsC7ccoKzcTae4CE4Yns7L87dx5/uruGpKX1/RsWum9uPG6f3pZcvm0HdPM273bwyN3GaeaInnhFFJHBr+Bz7el0Z6/7G8tTqfZZt3c9nAEi6NnAO7foWCLHj/EsjdAUdcD9b2u+a83OXmka/NP49LjupNx7gw2jbtWQH/nsHh5Wb/cuvJz0BK/8Ycpkij8ldf96fGrRYLYD7+ZetBxvTogM1q8e1jiYyHLiMgLxOy10HvCl0K3C4zYAeI1JIOERGR9kpBubQ4mYcqtyv7LSufz1dlAXDiiK7cNKM/c9buZVdOMXd+4M9AXT6pN+z6lVOW/B7s/qy60WsSlm6HQad+MPAEOkTGcYHnueT0Q5z6XCEPbkhi5s3/JiMxAubeB/OfhLl/gcX/gdNfhozDGvNtt1hvL8lky/5COsQ4uOSoXuEdNPf/oLzEbHs2/S/Q84jGHaRII3N4q69XCspNZ/xzAffOHsyFR/TyTXG32yyQOgjWfwbZwR0hACjN99+PjG+cgYuIiEiLp+nr0uLsyy8F4LQx3XzbsnJLWLbTDLKP6teJ2Eg7N0wPzrw+d+5oYvK2wRtnQ/EhSB9N0UkvUH79OiwXfAzH3A0jzqq0VnxMjw4c3qcjLrfBxyt2g81uBpJH3wpRiWaW681zzMrh7YzT5eYfniz51VP7ER/lqPmgXb/CpjlgscGpLygglzbBmymvbvr6Kwu3m/t4AneH1QppZt0L9q6tfNLSPM/Jo8Ae0cAjFhERkdZCQbm0ONmeoLxrUjQnDO8CwCsLtrFlnznNc0RGEgCnju7KfScOoWNsBF1iDKauuwueHmtOPU8ZBBd8TMyoM7Anpdf4micMN/f57rdsc4PFAlP/BDeshdQhUJgN/5oMn1xnTkNtJzbuLeBgYRlxkXbOn9gjvIN+ecG8HXoqJPduvMGJNKFQ1dcrLinvEGMG1k53YKZ8iPlk9jpwV2in5s2UK0suIiLSrikolxalqKyczEPFAKTERxLlMNdyL9p6EIAh6Qkkx5pffC0WCxcc3pOFN43jp4zniVz7LmBA3+lwzlu1+qI7obdZFXnVrtyg6spExsF570H6KLMg09KX4T/Hhs56tUErM3MAGN4t0VfoqlprPoDV75n3x13aeAMTaWIOa+U+5RUz5R1iHJ59PJlymwU69gFbhLl2PGd78EkVlIuIiAgKyqUF2XmwiNH/N4cfN5h9e3unxHJYz+CKxGeP6+5/ULAP3r8Ux9OjsG2fBxHxcMGncN670CHMrK5Hz46xJETZKS13s2FvfvCTCV3gD3PgnHfMNdIlufDWuVBaUKf32Zpsyjbf46AuYRShWvwivHMhuEqh7zToNrZxByfShHyF3tyh15QHPvYG7narFWwO6DTA3KHiLBsF5SIiIoIKvUkL8u+ftlLiNL/MXnZ0byb27sjYHsnERNg5ql8nispcdEmMMnfO2Qn/OxkOeHqTx6bCOW9C1zF1em2r1UKvTrGsyMxld04JQ9ITg3ewOaD/DDPQfP5Ic335SzNh2j1mANpG7ck1q6d3TYqufsfyMvjhYfP+hCvNNfk1tEwTaU2809cDM+XWCpny/BJP+0ZP4O4N5EkbDHtXmcXeBh7vP8DbDk2V10VERNo1BeXSIuQWO3l7yU4AHjl9BKd6irxF2C3MHmGu906KAYoOwqLnzWnkBXshMQNOfg4yxte7UFInT6uv/QWlVe8Ukwy/+xe8dgZkrYRXT4PLfjDbHrVBu3LMpQTpSVHV77j6XXMtf3wXmHaf+SOGSBvin77uz5TbKvzwlF/q9OxjBu6+JR+pVRR7K/Z0iIiq8COgiIiItCuavt7Cbcou4MV5W8gpKmvuoTSqtxbvoKjMxYC0eH43umvonYpz4OVZ8MODZkDesR9c/CX0OqpBKhd7g/LPV+3hy9VZVe/Y80i4fiX0mwEYMOeeer92S7XbF5RXkyk/tB1+/Id5f9ylqiItbZKv0Fs11dfzis1MuTdwt3ufT/MWe6sQlOfsMG8TMxp4tCIiItKaKChvoXbnFPP3L35j2qM/8NfP1vHy/G3NPaRG9f16cx35OeO7Y6k47dntgl1L4X+nmF9q49Lgdy/CZT9CYrcQZ6ubTvFmMDlv434uf3UpW/cX+p57e8lOTn1uvn+9eWwnmPkQWO2w5TvIWhXqlK3W3R+uZuxfv/FVwu/WISb0jms/hueOgIObIaYjjL2oCUcp0nQctsqZcmuFT9CCUu/09QqZcm9Qvm89bJ3nP8AblCcF1MoQERGRdkdBeUthGL4+2Fv3FzLjsR95/ofNvqe3HyhqrpE1iuy8Eq57cxlLth3E7TZYmWmurRxbobAb+XvNVmQvTIXdv0J0slkNffjpEFFFoFhHHWMjgx4v3HIAML9o3/ruSpZuP8QZ/1zgn7WQ3AsGzjLv//q/Bh1Lc3K7Df63cLtvGn+k3eqreB/EWQIfXQVl+dB9IlwyF6I7VN5PpA1whFhTXnH6uvc5X6bcu6Y8IR1GngcY8N4foMDTelFBuYiIiKCgvGUwDEo+uZmyZ47gt8Xf8MGvmb6Mi7fA1gfLdpFb5GzOUdZLQWk5ZeVu8krM93D3R6v5aPluTnt+AWv35FFQWk5MhI0BaQFViJ3FZjG3rJUQEQcDTzCnq3ce1ihjnNinIzERNt/jNxfvxDAMft6037ctp8jJXz4JmII6+nzzdvlrsHNxo4yrqWXllQQ9njYoLfSOW76H0jyIT4cLPzN/pBBpo+xW7/R1f6a84qwewwDDMCj3FnoLTKUf/zCkDDKX3vzygueHWM8Pr7XsFiEiIiJti4LyFqC8rITVyxYR4Soi49Nz6PfTDUy3LuGvJw/libNG+vZ75vtNzTfIevhi1R4O++s39L/rC8b+3zd8vz7b13cczOniABN7d/St26TwAHx4hTldPTYVLp8HZ70GKQMabZyDuiSw8p4ZLLzjGKIdNlbszGFFZq4vY56RbP5AsnTHIf9BvadA98OhrABeORH2rGy08TWFwtJy3v81E4D4SDtXTO7DjTP6h95541fm7YCZYLWF3kekjfBPX/dnyqMdwde9KyAgDzwGMGf2HHmDeX/th5C/x6y+brGZ9TFERESk3VJQ3gLYI6P5ZeKzLHANJtZSymzrz7wQ8Sizsp4lo4O/6nXgGmefskL47XNY9S5s+BpcLSub/r+F27nitV8pdroAKHO5ufClxeQEZP2XbjeD3Il9Opob9m+Ep0bDmg8AC5zyHCT3bpLx2m1WOidGMXVgKgDf/pbNgs1mUH7ueDObtSenBLf3i7fVZvZF73kUOItg4bNNMs6GVuJ08ft/L2L4fV/zj683AHDCiC7cdtxA+qTEVT7AMGDjHPN+/2ObcKQizcPXpzxgTbnDbn6EXnq0+e+Ty20ErTn3/cjoNWAm2CJh/wZ4dJC5rWMfcNTQ3UBERETaNAXlLcQlU4cy4d55HDrzY3b2+z0AHZY/T9p/xvH3xPdIoJCDhWVM/cf33PjWcjZlF8D2+fDYUHjzbHOd4uunw2unQWkBhmHw3frs6tt7NbKdB4u456PVNe73zbq9AAztmgjZ6+CNs6AkB5L7wAWfNEsf8KFdzRZFT87dyG9ZZnG3E0ekY7WYPywE/X+NiIWpd5n3135s/lDSyizbkcO8jftxuQ26JkVzzvju/GnW4KoP2Pcb5O40A4yeRzXdQEWaiXcqenlA9XXvj3M9O8aajw0jqDq7vUJ1dqISoM/U4G1DftcIoxUREZHWRH3KW4gIuxWw0mHQJDoMmgTLj4DPboLcnZzFTqZFzuHtXZPJNFLIPNiJl1dmc1vk+8S7c83e0B37wq5fzXW+T41hb/o0bl15OGldu/PJ1UeycMtBbnhrOUVl5UwZmMoTZ40Ka1xl5W7sVgvWil8uq3GosIzXf9nBSz9vw23AuJ7J/LLNP119TI8OrM/Kp39aHMt35uA2INZWzoi978E7D0DxQYjpZGagmyhDXlFKfHDRtz4psaQnRdM5IYrduSVs3V9IakJAditjPHToCYe2wfovYNhpTTre+tp5yCwkeETfjrx2yYSaD/BmyXsd1eAF90RaolDV112eoNz7nNsIft5RMVMOMOA42PCFef+m9RDfuZFGLCIiIq2FgvKWauTZMPgk2PQNRV/eS6e8zVxp/zh4Hzesdvek7OQvGN0nHTKXmlnmgiw6b3iVHyPfZvW+nmz/7yiWH0onP28ohUTz0fLd3HLsgKrbXHlk5ZZw7OM/MqhLPC9fNI4oR83rhg3D4NwXF7F2Tx4AidEObps5kFOfmw/AYT078PZlEyktdxPlsLFlXwFzf1nOadvuJforT6G0TgPMwmFxKbX//9ZAOsX5q43brRY+ueZIAMb0TGb3it28szST8b07+g+wWGDoqTDvEVj3casLyjMPmkF59+TYmncuL4OVb5v3+81oxFGJtBy+PuUBQbfbMO9HeKaxm9PXzUy5xVK5jzkAI8+FA5ug2zgF5CIiIgIoKG/ZImJg8InsST6Kfz51P8MsWxmTmEd6wRq2GWl84RrPG66p5L2wjNPH7OPcCX0Yef0q2DaPPR/8iS5F6znMsgG2beAK4ILISDYZ6Sx2D+Tv71j52/nTyDxYzKAu8ZV7gwMfLd9FbrGThVsOcuu7K3nirJEh9wu0alcua/fkEe2wcd+JQ5g1vAuxkXZeuvAw/rdwO387ZRgWi4UoSzn88Ai9N35N76xVUF5iVlifcieM+r05zbMZdYrzZ8pnj0gnJsL8q/K70V35ZMVu3l2ayeJtBxnWNZEnzxplziQYeIIZlG/8xqwc74huruHX2s5DxYC/mF21vrkX9q6CqETzhyORdsA7FT1o+rpRucp6mScod1RsYu5lc8CMvzbSKEVERKQ1UlDeCvROS6LjUZfgio9k8BG92JVTzICYCH5ZuI28z38D4J2lmXy+ag/L75mBo9907u/agU2rF9PfspMB1p0cZ11MH+sehlu2Mty6laJd3/Lz/UM5YMSzqf/RnHj2lZWCyJ8CWoF9vGI3547vHpwdDuHl+dsAmDoolTMOy/BtnzIwlSnp5bDyebNH75bvzMrqXhkTYPbjkDqofv+zGkjg9PUTR6b77vcNKHq2/UAR2w8UcfXUvgzsnADpoyChK+TtMoNz7zrzViDTM329ptkT7F0LC58x75/8nDJ90m74+5RXnr5uD6iyXlrurrRNREREpDoKylsBi8XCbccN9D329i4/ZVQ3/uYJygEKy1xk5ZaQkRzD7txSfjO685vRHdzwMGey5qruxOZtZsdnD9G9aC3TbUvNA7d8j/HQP7B0Hg5jL4bhZ4DFwro9ZoGzrrGQVrSBvHWF0OMUM9MTQrnLzZerswC4+Iie/if2rITV78Gif0J5sX97dDIcc7cZkKcOMud7thApcZEc3qcj5S6Do/p28m1PT6qcSd6cXWgG5RYLHH0zfHoD/PgwRCXB4Vc34ajrbudBT6a8Qw2Z8q0/mLd9psLAWY08KpGWw199PTBTbt5GBKwdL/MG5bWowyEiIiLtm4LyViwlPpJLj+5NVm4JKzJz2H6giJ2HishIjuFAYRkAT509iq/WZPH7CT2IzegIDGdnxJHc9tJL9LbsoYvlACfbfqabcz/sXGj+t/5z8rtNZlzRFs6PmMNhrg3YIl2wGIylV+CK7MDyiNGkT76Y9OHTcFtsPPXtJhZvO0hRmYuEKDujMjqA2w2f3QBLX/YPOmM8dJ8Icakw7HTztgWyWi28/sfKBc9sVgtH909h8daDjMhIZOGWg2zeV+DfYezFUJwDc+8zA/PDLmnx7Y5Ky13szS8BICO5hkz5joXmbY/DG3lUIi2Lw1d9PbxMecgibyIiIiIhKChv5e483pzuff5/fmH7gSIyPWuDD3mC8kFd4pk9Ij3omAl9OvHNxFn0S43nu/XZPLL2dHpb9vDFMfuI+PkfsPZD4td+yLP+WmfsMxKIoJxEdxH24n2MLf4KPvoKvkzgYOoE1mwewiEjhd6WCGb1iMW69N+w+n3Y/jNYrNB/Jow8x8yutqCMeF3887wxFJWV887SzMpBOcAR18Hif0NeJvz2aYsv+rZtfxGGATERNjrGRlS9o2HAzkXm/e4Tm2ZwIi1E6Ex55TXlpU5X0P4iIiIiNVFQ3kZ080w7zjxUTLnLTV5JOQAdYioHWTarhXtmDwEgPsrOnLV72Wx05c5D4/nHH46DFW+wYd0KbHk7Kes4kJIjb+eUd/Zjw00ah+hq2c8ptp843raIpNI8Ou38mn9FfO1/ge2e/wDs0XDyM2Zl8jYiOsJGdISNPp715ZuyKwTlVhuMOg9++Dv8+t8WG5SXOF1EOWws2GzWDhjdvUP1hfxyd0L+HrDaIX10E41SpGWwh1hT7u1THmEPsaa8qkJvIiIiIhXoW0Mb4Q/Ki8gpdvq2J0aHXv/tdcLwLlw2yewF/u7STD4+0AVm/YPrHX/mmLJH2H7Mc4wcPR6w4MLGbjqRMnQyd5ZfwujSf3JT0uO8VH4sm91dKIxIMStyx6ZA32lw9C1w1aI2FZAH6ptqBuVb9hX6vpz7jDoXsMDWH2HfhqYfXA2++y2bgXd/yQs/bmFFZi4A43slV3/Qzl/M287D1Ztc2h1HiOrrLsPbpzwgU+6bvq5MuYiIiIRHQXkb4a2anXmwmJwic+p6YrTDl92pisVi4Y6Zg7h2al8AHvryN+Zv3s/GbLPI29CuiVgsFl44fywAZ4/rzrPnjuGSI3vhxsp7WancV34Bx5Q9wvIzFsLtO+CWTXDee2b18Q49GustNztvUbRip4tDnv/nPkndYcBM8/4rJ8GGr2kpduUUc9HLZk/4+z9fxw5Pj/Ia15N7p65njGvM4Ym0SKH6lHtnsgdNXy93Be0vIiIiUhN9a2gjvJnyX7YdZNqjPwLQIab6LHmgK6f0JTbCRuahYs55YRFOl8GAtHhfpffpg9P49qZJ3DN7MAB3nTCYVy4ODs6GpDdvb/GmZrdZiY80V4DkBsxO8Jn+F4hPh/zd8MaZsGNRE48wtH98vTHo8dLthwBIDWgDF5I3U97tsMYYlkiLFmE3Py69mXAAw5MptwVUWi91qvq6iIiI1I6C8jaie4gs54iMpLCPj3LY6JUS63s8fXAar/xhXNAa494pcUQ5bL7HR/dP4avrjwYgLSGSpBDr19u6BM/ygJBBead+cPViGHQiGG748AooK2riEVa241DoMaQmVBOUF+6HvavN+xnjG2FUIi1bbIT5b19xWblvm8sXlPsD8zKXqq+LiIhI7ehbQxvRKS44oJo9Ip0/zRpUq3P06OgPyi8+ohdpCTW38hrQOZ5PrzmSD686olav1VYkVheUA0TGwYlPmRnzg5vh81uaNTB3G7BlX+jXT4mv4s+7vAzePh/c5ZAyCBK7NeIIRVqmWM+smIJSl2+btyWa1WLB5vkBs8RTfV1rykVERCRcCsrboFHdk3jq7FGkVhVkVaF3J39QPqRr+FPRh3ZNpEtidK1eq61IiDa/qHur3YcUnWQG5gDLX4UnR8KelY0+tlCyi6GgtJxoh40rJ/fxbe+cEEVCVBXNGBY+a7a2i4iH019q9S3tROoiNsL8+1FY6v+77kmUY7NafH8tvM9HR9gQERERCYdaorUh//z9GB79egMPnzaiTsefO74H+SXlHD+sCwlR4a9Hb89qzJR79ZsGp/4b5t4HOTtwvXcpzj98S1R001Yx31ZgRg7Duibyx6N6Extpp2NsBJMGpFTdDm3Dl+bttHsgtXazL0TaithIz/R1pwuX28BmtQRnyj3T1/M9QXlMhD5eRUREJDz61tCGHDukM8cO6Vzn4zsnRnHviUMacERtnzcoz6spKAezX3nvybieHodt/zo+f/5mZt/wbCOPMNh2T1A+snsSHWIjuGpK3+oPKC2ATLNSO/2mN/LoRFou7/R1gKKycuKjHL415Varf/p6gWfWTKwy5SIiIhImTV8XqYcOnuJ2+/JLq9wnK7eEP32wip0HiyC2E9/1vR2AmTlv4PzqbijOaYqhArDDE5SP6JYU5gELzbXkSd2hQ89GG5dISxdpt/qy4YWedeVuT6bcZvFPX88v8U5f12/eIiIiEh4F5SL10CclDoBN2QVV7nP2Cwt5bdEOrn1zGQAbOk7lnfKjsVvcOBY8Sdkrp4HbVeXxDSnH0069V0D9gGpt/tZzwNGNMyCRVsJisfiy34WeCuxuX6bcX329oFSZchEREakdBeUi9dC/czwAa/fkUVQWutjb1v2FACzbkQNA5qFibim/jD+U3US+EU3EnsWw+MVGH6vbbVDkmWXfMS7M9nXe9eT9ZjTOoERaEe8U9sLScgzDwJMoD1pT7p2+HqOgXERERMKkoFykHgakxZMU4+BgYRmD//wVT83dGPT8rpzioMdZuSVsP1AIWIgacgIPlp9lPvHNfXBoe6OONa+kHDdm4JAUE0Yhv/0bzTZuVgf0ntKoYxNpDfxt0cp9ATmY09etnvnreSXmL18xkZq+LiIiIuFRUC5SD9ERNv5z4WG+xy/M2xL0/ILNB4Ien/WvBfy8ydx2zvjuvOY6hkXugeAshBemwpoPG22sBwvNuetxkXYi7TVk8VzlMOce837PIyEq/BZ5Im1VhM38yCx3Gb7K62AWevMG5Zq+LiIiIrWloFyknkZ378D7Vx4OeLLRAV/W52/eH7TvtgNFvvvjeiXTMS6am5yXU5TYF4r2wzsXws5fGmWcB4vMoDw5Nows+Ze3wfrPwBYBk25tlPGItFYG/vXkYK4nr7imXIXeREREJFwKykUawOAu/kxygWdt+arMXOas2QvA7TMH0j05hn6pcSTHRnDl5D44bFamDEgh00jlge4vwJBTAAM+vALy9zb4GFfvzgOgY2wN68lLC+DXV8z7p/0Hehze4GMRaY28FdbN9eQBmXKLWewN1BJNREREak8/5Ys0gCiHjQi7lbJyN3nFTr5YtYfb3lsFmFNeLzy8J5dP6lPpuEkDUnhnaSZrs0vggkfNFmQHNsEz42D0+TDlTnBEN8gYP1q+B4Bpg1Kr33HLd+AqM1ugDTyhQV5bpC3wBeUQPH09YE15uWd7tIJyERERCZMy5SINJCHKnBaeW+z0BeQAI7snEeUI/QU9o0MMAJmHiiAmGS76HDr1h5IcmP8kfHQ15GY2yPgyD5lF5yb161T9jms/Nm8HzPJHISKCBX9U7nb7t9usFmwV/q7EqtCbiIiIhElBuUgDSYg2v4TPevKnoO2juidVeUxGshmU780rpcTpguTecOVCmP2EucPqd+GxIfDECFj+Rp3HVlzmIqfYrArdJTGq6h3LS/1t0AafWOfXE2mLAuPuoDXlFgtWa3BQrpZoIiIiEi4F5SINJDE6dAG11Piqg+AOMQ7f2tPt3iJwVhuMuRBOfxnSR4HFCoe2wYeXw4Jn6zS23blmljzSahAfVUUGryQPPrgMSvMgrjN0G1en1xJp6wwMXAFBucVirisPFKNCbyIiIhImBeUiDcQ7fR3g46uPYGDneABmDE6r8hiLxcKIjCTArNRe7nLjdHnmxQ45BS79Hm7bDhOvNrd9dQe8dDyseKtWY9uTUwJAUqT5mpWU5sOLx8CaD8Bqh+n3+StXiQiAd/I6hoGvy4LVYv6dslacvq5MuYiIiIRJP+WLNJDOCf6MeL/UeN6+fCK5RU7fFPWqTOqfwvzNB3j4q/Xc98laenaM4e3LJpLqPV9UAsz4K0QmwPd/g+0/m/+V5cNhl4Q1tj2eTHmHCCP0Dqvegf0bIC4NznwVMpQlF6nEE3gbBr5MubcVmq1CqlyF3kRERCRcSoWJNJBh3RJ996MjbCREOWoMyAF+P7EHIzOSKCpzAWYv8zd+2Rm8k8UCk2+Da5fD8LPMbZ/dBD8/YUYINdiTa2bKE0N1QzMMWPpf8/7EqxSQi1TBlykHvMXXvTNPKgblmr4uIiIi4VJQLtJAzjwsgwsP78kTZ42s1XExEXZevuiwoG2b9xWE3jm5F5zyPBx1s/l4zp/h5VlQkF3ta/gy5ZEhntyxEPYsB3sUjDyvVmMXaU+C+pR7onJv1fXAZSFRDmulIF1ERESkKgrKRRqIw2bl3hOHcNLIrrU+NikmghfPH+t7vHV/YdU7Wyww9S6Y8iewR5tT2T+4LLhHUwDDMPgtK998nVDT1xc+Y94OPxNiO9Z67CLtRWCY7e1T7g2+S50u33PKkouIiEhtKCgXaSGmDU7j6xuOBmDLvgLKXaGDbMAMzCfdCn/81sxwb/4WFoauzP7m4p0s25GDw2ahb0JAUF54AN48F9Z9Yj6ecEVDvRWRNs2cvu4v9Ab4fvgCtUMTERGR2lFQLtKC9O4US2K0g8IyFysyc2s+IG0wHPs38/4391aqyp5TVMb/fboWgBun9SMlOuDJL26B3z4Fiw0m3Q6pgxrmTYi0UZaAQm++oDzENHUF5SIiIlIbCspFWhC7zcqR/ToB8MP66teJ+4y9GAaeAG4nfHApBV/ch+EJGNbuyaOozEXXpGguPryH/5is1bD6PfP+RZ/DlDsa8m2ItEn+8NvAO5HFFqLFoKavi4iISG0oKBdpYSb1TwHghw37eOa7Tcx47Ad+3XHI9/zLP2/lfwu3+w+wWOD0/5rZbiB64WO8/cEHAGQeMgu89U6JDc7ofXe/eTvkFOg+oRHfjUjb4S/05l9THipTHuXQR6uIiIiETz/ni7Qwkz1B+YrMXN8U9t89O58LD+/J8cO6cO8n5nT0Ywen+XuZ2+ww5Q4++PYnTrH9xJjlf4LZx7PLE5R36+Cft2757TNY/zlYrDD5ziZ8ZyKtmyUgV+6dvh4qU24NsU1ERESkKvo5X6SFSU2IYlCXhErbX56/jTP+ucD3eMn2Q5X2udd5PvuMRPpad8PLs4ja8T0W3HRNMoPyflkfY3/vAnPnUedBSv/GeRMibVioQm+BFJSLiIhIbSgoF2mBBnWJ992vairsvI37AbOY25n/XMD/Fmwjlzhudl5OsREBu5Zwxc5bmBd5PWdk3o/t/T8weM+75sHjL4fj/9Ho70OkTQlz+rpichEREakNBeUiLVBn77R04PQxGSH3eeOXHWzdX8irC7ezaOtB7v5oDQA/uEdwdOlj5A67mDwjhm6W/aRu+QDruo8AcI27DGY+CPbIxn8jIm2IN9Y2MPzT1z1B+ZgeHZppVCIiItLaKSgXaYHSAoLycb2SuXxSH9/ja6f29d2f8o/v2X6gqNLx++jA2pF3cVjps9wTdStMuxfX5D/xc9/bcU/7a+MOXqSNCiz05kmU+9aUv3zRYb79NH1dREREakOF3kRaoGiHv8/x+F7JzB6Rzu0zB7I3r4TU+Eh2HCziw+W7AXhnaWbIc2zZX0ApEazrMBWOnIjb6WT/559rbq1IHXkLvRn4p697/zrFRzn8++mvmIiIiNSCMuUiLdBhvZIBSImP9FdYx8ygWywW/jx7CAM7x1d1OAAb9xb4ziEi9RcYbLvdwdPXAylTLiIiIrWhoFykBerVKZY5NxzNl9cdFfL55NgI3rp0YrXn2LK/EICUOAXlIg3JMAxcvurrIQq9NfWAREREpFVTUC7SQvVLi6djNQF1YoyD22cOJDU+ksfPHFnp+a37zUx5aoKCcpGGEJQp964pD8iUXzO1L9EOG7fNHNjEIxMREZHWTGvKRVqxyyf18RWBu+mdFb51rgA7DxYDypSLNBTfmnLDP309MFN+04wBXDO1HxF2/d4tIiIi4dM3B5E24oFThoXcHrgmXUTqzld9HaPKPuUKyEVERKS29O1BpI04fWw3Pr3mSKYOTA3arky5SMPzrim3aQG5iIiI1JOCcpE2wmKxMLRrIh1jI4K2a025SMMyDLPYG6jSuoiIiNSfgnKRNiY6wt/jvFNcJB1iIqrZW0TCZbH415S73Oa2itPXRURERGpLQblIG5MWsIb82XNHh+yjLCK15/2bZBA4fV1/v0RERKR+VH1dpI0587AMSsvdnDginb6pcc09HJE2w1fozTB81df1o5eIiIjUl4JykTamU1wkN07v39zDEGlzAjPlbk+mXIlyERERqa9mnb7+448/Mnv2bNLT07FYLHz44YdBzxuGwZ///Ge6dOlCdHQ006ZNY+PGjc0zWBERadcsARG4S5lyERERaSDNGpQXFhYyYsQInnnmmZDPP/TQQzz55JM8//zzLFq0iNjYWI499lhKSkqaeKQiIiIehj9TrjXlIiIiUl/NOn195syZzJw5M+RzhmHw+OOPc9ddd3HSSScB8Morr5CWlsaHH37IWWed1ZRDFRGRds4/fd3AkyhX9XURERGptxa7pnzr1q1kZWUxbdo037bExETGjx/PggULqgzKS0tLKS0t9T3Oy8sDwOl04nQ6G2Rs3vM01PlEmoKuW2ltWto16+1NXl7uotwblRtGixmftAwt7boVqYmuWWmNWsN1W5uxtdigPCsrC4C0tLSg7Wlpab7nQnnggQe47777Km3/+uuviYmJadAxzpkzp0HPJ9IUdN1Ka9NSrtnsbCtgZeWqVbgMABv79mbx+eefN/PIpCVqKdetSLh0zUpr1JKv26KiorD3bbFBeV3dcccd3Hjjjb7HeXl5ZGRkMGPGDBISEhrkNZxOJ3PmzGH69Ok4HI4GOadIY9N1K61NS7tmPzm0jNWH9jFs2DBKnC7Yup6u6ekcf/zw5h6atCAt7boVqYmuWWmNWsN1652xHY4WG5R37twZgL1799KlSxff9r179zJy5Mgqj4uMjCQyMrLSdofD0eB/YI1xTpHGputWWpuWcs1arGZtVKvVhsVTJtVut7aIsUnL01KuW5Fw6ZqV1qglX7e1GVezVl+vTq9evejcuTNz5871bcvLy2PRokVMnDixGUcmIiLtUVChN8+acquqr4uIiEg9NWumvKCggE2bNvkeb926leXLl5OcnEz37t25/vrr+etf/0q/fv3o1asXd999N+np6Zx88snNN2gREWmXvPG3YYDLUFAuIiIiDaNZg/IlS5YwZcoU32PvWvALLriAl19+mVtvvZXCwkIuvfRScnJyOPLII/nyyy+JiopqriGLiEg7ZfHkyg3A5cmU21rsfDMRERFpLZo1KJ88ebKvxUwoFouFv/zlL/zlL39pwlGJiIhU5k2KPzZnA4f36QiATX3KRUREpJ70G7+IiEgYvEH5wcIyPl25x7NNQbmIiIjUj4JyERGROrIpKBcREZF6UlAuIiISBguVA3BNXxcREZH6UlAuIiISjhDxt6qvi4iISH0pKBcREQlDqPBbiXIRERGpLwXlIiIiYQhV1E3T10VERKS+FJSLiIjUkVVBuYiIiNSTgnIREZEwaPq6iIiINAYF5SIiImEIVdNNLdFERESkvhSUi4iIhCFkplypchEREaknBeUiIiJhCFnoTZlyERERqScF5SIiImFQplxEREQag4JyERGROrIqUy4iIiL1pKBcREQkHKEKvelTVEREROpJXydERETCYAkRlStTLiIiIvWloFxERCQMoeJvBeUiIiJSXwrKRUREwhAq/Lap0JuIiIjUk4JyERGROlL1dREREakvBeUiIiJhCDVTXX3KRUREpL4UlIuIiIQhdKG3ZhiIiIiItCkKykVERMIQstCbonIRERGpJwXlIiIiYdD0dREREWkMCspFRETCUjkAV/V1ERERqS8F5SIiInWkRLmIiIjUl4JyERGRMIScvq5MuYiIiNSTgnIREZEwhAq/taZcRERE6ktBuYiISBhCxd8WBeUiIiJSTwrKRUREwhCqT7mmr4uIiEh9KSgXERGpI5s+RUVERKSe9HVCREQkDKFmqls1fV1ERETqSUG5iIhIGEKF3wrKRUREpL4UlIuIiIQhVFE3rSkXERGR+lJQLiIiUkfKlIuIiEh9KSgXEREJQ6j4W5lyERERqS8F5SIiInWkmFxERETqS0G5iIhIGEL1KbcqKhcREZF6UlAuIiIShpDT17WmXEREROpJQbmIiEgYQoXfWlMuIiIi9aWgXEREJAyhkuJKlIuIiEh9KSgXERGpI2XKRUREpL4UlIuIiITBEiItrjXlIiIiUl8KykVERMIQKvx2G00+DBEREWljFJSLiIiEI0RU7nS5m34cIiIi0qYoKBcREQlDqD7lCspFRESkvhSUi4iIhCHU8vG4SHvTD0RERETaFH2bEBERqaU7Zg7EbUC/tPjmHoqIiIi0cgrKRUREwhCYKD9ldFdS46OabSwiIiLSdmj6uoiISBgCp69b1QpNREREGoiCchERkTAEFnpTSC4iIiINRUG5iIhIGAz8TcmVKRcREZGGoqBcREQkDG5/TB6yEruIiIhIXSgoFxERqSWLonIRERFpIArKRUREwmAEZMqtislFRESkgSgoFxERqSVlykVERKShKCgXEREJQ3Cht2YciIiIiLQpCspFRETCEVjoTU3RREREpIEoKBcREQlDQEyu6usiIiLSYBSUi4iI1JKCchEREWkoCspFRETCYBiBa8oVlYuIiEjDUFAuIiISBiNoTbmIiIhIw1BQLiIiUkvKlIuIiEhDUVAuIiISBhV6ExERkcagoFxERCQMQdPXFZWLiIhIA1FQLiIiEgYjKFcuIiIi0jAUlIuIiIiIiIg0EwXlIiIiYTCUKBcREZFGoKBcREREREREpJkoKBcREQmDoVS5iIiINAIF5SIiImFQSC4iIiKNoUUH5S6Xi7vvvptevXoRHR1Nnz59+L//+z9lK0RERERERKRNsDf3AKrz4IMP8txzz/Hf//6XIUOGsGTJEi666CISExO59tprm3t4IiLSjuj3YBEREWkMLToonz9/PieddBKzZs0CoGfPnrzxxhv88ssvzTwyERERERERkfpr0UH54Ycfzr/+9S82bNhA//79WbFiBT/99BOPPvpolceUlpZSWlrqe5yXlweA0+nE6XQ2yLi852mo84k0BV230tq0tGvW5Xb57reUMUnL09KuW5Ga6JqV1qg1XLe1GZvFaMELtN1uN3feeScPPfQQNpsNl8vF/fffzx133FHlMffeey/33Xdfpe2vv/46MTExjTlcERFpw97eYuXnvWYplicmljfzaERERKQlKyoq4pxzziE3N5eEhIRq923RQfmbb77JLbfcwsMPP8yQIUNYvnw5119/PY8++igXXHBByGNCZcozMjLYv39/jf8zwuV0OpkzZw7Tp0/H4XA0yDlFGpuuW2ltWto1e/fHa3lzcSYAG/9vRjOPRlqqlnbditRE16y0Rq3hus3Ly6NTp05hBeUtevr6Lbfcwu23385ZZ50FwLBhw9i+fTsPPPBAlUF5ZGQkkZGRlbY7HI4G/wNrjHOKNDZdt9LatJRr1mr1NyxpCeORlq2lXLci4dI1K61RS75uazOuFt0SraioKOhLEIDNZsPtdjfTiEREpL1qufPKREREpDVr0Zny2bNnc//999O9e3eGDBnCsmXLePTRR7n44oube2giItLuKCoXERGRhteig/KnnnqKu+++myuvvJLs7GzS09O57LLL+POf/9zcQxMRkXZGmXIRERFpDC06KI+Pj+fxxx/n8ccfb+6hiIhIO6egXERERBpDi15TLiIiIiIiItKWKSgXEREJg6E15SIiItIIFJSLiIiIiIiINBMF5SIiImHQmnIRERFpDArKRUREwqCYXERERBqDgnIREZEwKFMuIiIijUFBuYiISBhU6E1EREQag4JyERERERERkWaioFxERCQcSpSLiIhII1BQLiIiEgbF5CIiItIYFJSLiIiEwVClNxEREWkECspFREREREREmomCchERkTAoTy4iIiKNQUG5iIiIiIiISDNRUC4iIhIGLSkXERGRxqCgXEREJAxuReUiIiLSCBSUi4iIiIiIiDQTBeUiIiJhUJ5cREREGoOCchEREREREZFmoqBcREQkHEqVi4iISCNQUC4iIhIGQ1G5iIiINAIF5SIiImFQ8XURERFpDArKRURERERERJqJgnIREZEwdE6Mau4hiIiISBtkb+4BiIiItAbXT+vPwcIyTh7ZtbmHIiIiIm2IgnIREZEwJEY7eOKsUc09DBEREWljNH1dREREREREpJkoKBcRERERERFpJgrKRURERERERJqJgnIRERERERGRZqKgXERERERERKSZKCgXERERERERaSYKykVERERERESaiYJyERERERERkWaioFxERERERESkmSgoFxEREREREWkmCspFREREREREmomCchEREREREZFmoqBcREREREREpJkoKBcRERERERFpJgrKRURERERERJqJgnIRERERERGRZqKgXERERERERKSZKCgXERERERERaSb25h5AYzMMA4C8vLwGO6fT6aSoqIi8vDwcDkeDnVekMem6ldZG16y0RrpupbXRNSutUWu4br3xpzcerU6bD8rz8/MByMjIaOaRiIiIiIiISHuSn59PYmJitftYjHBC91bM7Xaze/du4uPjsVgsDXLOvLw8MjIy2LlzJwkJCQ1yTpHGputWWhtds9Ia6bqV1kbXrLRGreG6NQyD/Px80tPTsVqrXzXe5jPlVquVbt26Ncq5ExISWuxFIFIVXbfS2uialdZI1620NrpmpTVq6ddtTRlyLxV6ExEREREREWkmCspFREREREREmomC8jqIjIzknnvuITIysrmHIhI2XbfS2uialdZI1620NrpmpTVqa9dtmy/0JiIiIiIiItJSKVMuIiIiIiIi0kwUlIuIiIiIiIg0EwXlIiIiIiIiIs1EQbmIiIiIiIhIM2m3QfkDDzzAYYcdRnx8PKmpqZx88smsX78+aJ+SkhKuuuoqOnbsSFxcHKeeeip79+4N2ufaazepDcUAAAx2SURBVK9lzJgxREZGMnLkyJCv9dVXXzFhwgTi4+NJSUnh1FNPZdu2bY30zqStaspr9u2332bkyJHExMTQo0cPHn744cZ6W9LGNcR1u2LFCs4++2wyMjKIjo5m0KBBPPHEE5Ve6/vvv2f06NFERkbSt29fXn755cZ+e9IGNdU1u2fPHs455xz69++P1Wrl+uuvb4q3J21UU12377//PtOnTyclJYWEhAQmTpzIV1991STvUdqWprpmf/rpJ4444gg6duxIdHQ0AwcO5LHHHmuS91gb7TYo/+GHH7jqqqtYuHAhc+bMwel0MmPGDAoLC3373HDDDXzyySe88847/PDDD+zevZvf/e53lc518cUXc+aZZ4Z8na1bt3LSSScxdepUli9fzldffcX+/ftDnkekOk11zX7xxRece+65XH755axevZpnn32Wxx57jKeffrrR3pu0XQ1x3S5dupTU1FReffVV1qxZw5/+9CfuuOOOoGty69atzJo1iylTprB8+XKuv/56LrnkEn1ZlFprqmu2tLSUlJQU7rrrLkaMGNGk71Hanqa6bn/88UemT5/O559/ztKlS5kyZQqzZ89m2bJlTfp+pfVrqms2NjaWq6++mh9//JF169Zx1113cdddd/Gvf/2rSd9vjQwxDMMwsrOzDcD44YcfDMMwjJycHMPhcBjvvPOOb59169YZgLFgwYJKx99zzz3GiBEjKm1/5513DLvdbrhcLt+2jz/+2LBYLEZZWVnDvxFpNxrrmj377LON0047LWjbk08+aXTr1s1wu90N+yak3anvdet15ZVXGlOmTPE9vvXWW40hQ4YE7XPmmWcaxx57bAO/A2lvGuuaDTRp0iTjuuuua9BxS/vWFNet1+DBg4377ruvYQYu7VZTXrOnnHKKcd555zXMwBtIu82UV5SbmwtAcnIyYP7y4nQ6mTZtmm+fgQMH0r17dxYsWBD2eceMGYPVauWll17C5XKRm5vL//73P6ZNm4bD4WjYNyHtSmNds6WlpURFRQVti46OJjMzk+3btzfAyKU9a6jrNjc313cOgAULFgSdA+DYY4+t1bUvEkpjXbMijamprlu3201+fr6ubam3prpmly1bxvz585k0aVIDjbxhKCjH/Afl+uuv54gjjmDo0KEAZGVlERERQVJSUtC+aWlpZGVlhX3uXr168fXXX3PnnXcSGRlJUlISmZmZvP322w35FqSdacxr9thjj+X9999n7ty5uN1uNmzYwCOPPAKYayBF6qqhrtv58+fz1ltvcemll/q2ZWVlkZaWVukceXl5FBcXN+wbkXajMa9ZkcbSlNftP/7xDwoKCjjjjDMabPzS/jTFNdutWzciIyMZO3YsV111FZdcckmDv4/6sDf3AFqCq666itWrV/PTTz81+LmzsrL44x//yAUXXMDZZ59Nfn4+f/7znznttNOYM2cOFoulwV9T2r7GvGb/+Mc/snnzZk444QScTicJCQlcd9113HvvvVit+h1P6q4hrtvVq1dz0kkncc899zBjxowGHJ1IZbpmpTVqquv29ddf57777uOjjz4iNTW1zq8l0hTX7Lx58ygoKGDhwoXcfvvt9O3bl7PPPrs+w25Q7T4ov/rqq/n000/58ccf6datm297586dKSsrIycnJ+gXmr1799K5c+ewz//MM8+QmJjIQw895Nv26quvkpGRwaJFi5gwYUKDvA9pPxr7mrVYLDz44IP87W9/Iysri5SUFObOnQtA7969G+x9SPvSENft2rVrOeaYY7j00ku56667gp7r3LlzpU4De/fuJSEhgejo6IZ/Q9LmNfY1K9IYmuq6ffPNN7nkkkt45513Ki0dEqmNprpme/XqBcCwYcPYu3cv9957b4sKyttt2sswDK6++mo++OADvv32W98flNeYMWNwOBy+YARg/fr17Nixg4kTJ4b9OkVFRZWyizabDTCnaoiEq6muWS+bzUbXrl2JiIjgjTfeYOLEiaSkpNT7fUj70lDX7Zo1a5gyZQoXXHAB999/f6XXmThxYtA5AObMmVOna1/at6a6ZkUaUlNet2+88QYXXXQRb7zxBrNmzWqcNyRtXnP+W+t2uyktLW2YN9JQmrPKXHO64oorjMTEROP777839uzZ4/uvqKjIt8/ll19udO/e3fj222+NJUuWGBMnTjQmTpwYdJ6NGzcay5YtMy677DKjf//+xrJly4xly5YZpaWlhmEYxty5cw2LxWLcd999xoYNG4ylS5caxx57rNGjR4+g1xKpSVNds/v27TOee+45Y926dcayZcuMa6+91oiKijIWLVrUpO9X2oaGuG5XrVplpKSkGOedd17QObKzs337bNmyxYiJiTFuueUWY926dcYzzzxj2Gw248svv2zS9yutX1Nds4Zh+P79HTNmjHHOOecYy5YtM9asWdNk71Xajqa6bl977TXDbrcbzzzzTNA+OTk5Tfp+pfVrqmv26aefNj7++GNjw4YNxoYNG4wXX3zRiI+PN/70pz816futSbsNyoGQ/7300ku+fYqLi40rr7zS6NChgxETE2Occsopxp49e4LOM2nSpJDn2bp1q2+fN954wxg1apQRGxtrpKSkGCeeeKKxbt26Jnqn0lY01TW7b98+Y8KECUZsbKwRExNjHHPMMcbChQub8J1KW9IQ1+0999wT8hw9evQIeq3vvvvOGDlypBEREWH07t076DVEwtWU12w4+4iEo6mu26q+Q1xwwQVN92alTWiqa/bJJ580hgwZYsTExBgJCQnGqFGjjGeffTaoXXVLYDEMw6hbjl1ERERERERE6qPdrikXERERERERaW4KykVERERERESaiYJyERERERERkWaioFxERERERESkmSgoFxEREREREWkmCspFREREREREmomCchEREREREZFmoqBcREREREREpJkoKBcRERERERFpJgrKRURE2rgLL7wQi8WCxWLB4XCQlpbG9OnT+c9//oPb7Q77PC+//DJJSUmNN1AREZF2SEG5iIhIO3DcccexZ88etm3bxhdffMGUKVO47rrrOOGEEygvL2/u4YmIiLRbCspFRETagcjISDp37kzXrl0ZPXo0d955Jx999BFffPEFL7/8MgCPPvoow4YNIzY2loyMDK688koKCgoA+P7777nooovIzc31Zd3vvfdeAEpLS7n55pvp2rUrsbGxjB8/nu+//7553qiIiEgro6BcRESknZo6dSojRozg/fffB8BqtfLkk0+yZs0a/vvf//Ltt99y6623AnD44Yfz+OOPk5CQwJ49e9izZw8333wzAFdffTULFizgzTffZOXKlZx++ukcd9xxbNy4sdnem4iISGthMQzDaO5BiIiISOO58MILycnJ4cMPP6z03FlnncXKlStZu3ZtpefeffddLr/8cvbv3w+Ya8qvv/56cnJyfPvs2LGD3r17s2PHDtLT033bp02bxrhx4/jb3/7W4O9HRESkLbE39wBERESk+RiGgcViAeCbb77hgQce4LfffiMvL4/y8nJKSkooKioiJiYm5PGrVq3C5XLRv3//oO2lpaV07Nix0ccvIiLS2ikoFxERacfWrVtHr1692LZtGyeccAJXXHEF999/P8nJyfz000/84Q9/oKysrMqgvKCgAJvNxtKlS7HZbEHPxcXFNcVbEBERadUUlIuIiLRT3377LatWreKGG25g6dKluN1uHnnkEaxWs+TM22+/HbR/REQELpcraNuoUaNwuVxkZ2dz1FFHNdnYRURE2goF5SIiIu1AaWkpWVlZuFwu9u7dy5dffskDDzzACSecwPnnn8/q1atxOp089dRTzJ49m59//pnnn38+6Bw9e/akoKCAuXPnMmLECGJiYujfvz/nnnsu559/Po888gijRo1i3759zJ07l+HDhzNr1qxmesciIiKtg6qvi4iItANffvklXbp0oWfPnhx33HF89913PPnkk3z00UfYbDZGjBjBo48+yoMPPsjQoUN57bXXeOCBB4LOcfjhh3P55Zdz5plnkpKSwkMPPQTASy+9xPnnn89NN93EgAEDOPnkk1m8eDHdu3dvjrcqIiLSqqj6uoiIiIiIiEgzUaZcREREREREpJkoKBcRERERERFpJgrKRURERERERJqJgnIRERERERGRZqKgXERERERERKSZKCgXERERERERaSYKykVERERERESaiYJyERERERERkWaioFxERERERESkmSgoFxEREREREWkmCspFREREREREmsn/AxDtMgSEh/8ZAAAAAElFTkSuQmCC"/>
          <p:cNvSpPr>
            <a:spLocks noChangeAspect="1" noChangeArrowheads="1"/>
          </p:cNvSpPr>
          <p:nvPr/>
        </p:nvSpPr>
        <p:spPr bwMode="auto">
          <a:xfrm>
            <a:off x="155574" y="-144463"/>
            <a:ext cx="288937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Content Placeholder 20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572000" y="1808225"/>
            <a:ext cx="4275740" cy="2748689"/>
          </a:xfrm>
          <a:prstGeom prst="rect">
            <a:avLst/>
          </a:prstGeom>
        </p:spPr>
      </p:pic>
      <p:sp>
        <p:nvSpPr>
          <p:cNvPr id="20" name="AutoShape 4" descr="data:image/png;base64,iVBORw0KGgoAAAANSUhEUgAABJoAAAI4CAYAAAAibYNZAAAAOnRFWHRTb2Z0d2FyZQBNYXRwbG90bGliIHZlcnNpb24zLjEwLjAsIGh0dHBzOi8vbWF0cGxvdGxpYi5vcmcvlHJYcgAAAAlwSFlzAAAPYQAAD2EBqD+naQAAYJBJREFUeJzt3XlYFvX+//HXfbOjLK7ggru5h1vuuSueNL+ek+aaSG6ZVGrlSSv30ixzyU5qJVppmnYqt1Rcc0/RyqXM1NJKxFJBRVnn94c/7uMdQqADA/h8XBdX3jOfe+Y9c8874MUsNsMwDAEAAAAAAAB3yW51AQAAAAAAACgYCJoAAAAAAABgCoImAAAAAAAAmIKgCQAAAAAAAKYgaAIAAAAAAIApCJoAAAAAAABgCoImAAAAAAAAmIKgCQAAAAAAAKYgaAIAAAAAAIApCJoAAACAHLRt2zbZbDZt27bN6lIAAMhxBE0AAORxixYtks1mc3y5urqqTJkyGjBggH777Tery7tntW7d2ulzufWrevXqVpeXb505c0ZPPPGEKlSoIA8PD5UsWVLdunXTrl27rC7NyYABAzL8/G/9GjBggNWlAgCQq1ytLgAAAGTNpEmTVLFiRd24cUN79+7VokWLtHPnTh05ckSenp5Wl3dPKlu2rKZOnZpuup+fnwXV5H+7du3SQw89JEkaNGiQatasqejoaC1atEgPPvigZs+eraeeesriKm8aOnSo2rdv73h9+vRpjRs3TkOGDNGDDz7omF65cmU1btxY169fl7u7uxWlAgCQq2yGYRhWFwEAADK2aNEihYWFaf/+/WrYsKFj+gsvvKDXXntNy5cv16OPPmphhfem1q1b648//tCRI0esLqVAuHTpkmrWrCnDMLRr1y5VrlzZMe/69esKCQnRrl27tGPHDjVr1izX6rpx44bc3d1lt2d+IcCBAwf0wAMPKCIigrOYAAD3NC6dAwAgn0o7a+LkyZNO03/44Qd1795dRYsWlaenpxo2bKhVq1Y55h84cEA2m02LFy9Ot8wNGzbIZrNpzZo1jmm//fabHn/8cQUEBMjDw0O1atXSwoULnd6Xdg+aTz75RK+88orKli0rT09PtWvXTj/99JPT2AoVKtz2F/HWrVurdevWTtMSEhI0fvx4ValSRR4eHgoKCtLo0aOVkJCQ6b4JDw9X4cKFFR8fn25e7969FRgYqJSUFMf+CAkJUfHixeXl5aWKFSvq8ccfz3T5WXX9+nVVr15d1atX1/Xr1x3TL168qFKlSqlZs2aOOgYMGKDChQvr1KlTCgkJUaFChVS6dGlNmjRJf/27YGpqqmbNmqVatWrJ09NTAQEBGjp0qC5duuQ0rkKFCurSpYt27typRo0aydPTU5UqVdIHH3zgNC4pKUkTJ05U1apV5enpqWLFiqlFixaKjIx0Gvd3x1Z2lvVX8+fPV3R0tF5//XWnkEmSvLy8tHjxYtlsNk2aNElSzh7Hy5Yt00svvaQyZcrI29tbcXFxmdb+d253j6bWrVurdu3a+u6779SqVSt5e3urSpUqWrlypSRp+/btaty4sby8vFStWjVt2rQp3XKzsk0AAOQ2giYAAPKpn3/+WZJUpEgRx7SjR4+qSZMm+v777/XCCy9oxowZKlSokLp166bPPvtMktSwYUNVqlRJn3zySbplLl++XEWKFFFISIgk6fz582rSpIk2bdqk8PBwzZ49W1WqVNHAgQM1a9asdO+fNm2aPvvsMz333HMaM2aM9u7dq759+97R9qWmpqpr165644039PDDD+utt95St27dNHPmTPXs2TPT9/bs2VPXrl3T2rVrnabHx8dr9erV6t69u1xcXBQTE6OOHTvq559/1gsvvKC33npLffv21d69e7NUY0pKiv744490X9euXZP0v4Dkp59+0osvvuh43/DhwxUbG6tFixbJxcXFaXmdOnVSQECApk+frgYNGmj8+PEaP36803qHDh2q559/Xs2bN9fs2bMVFhamJUuWKCQkRElJSU5jf/rpJ3Xv3l0dOnTQjBkzVKRIEQ0YMEBHjx51jJkwYYImTpyoNm3aaO7cuXrxxRdVrlw5HTx40DEmK8dWVpd1O6tXr5anp2eGZ+dVrFhRLVq00JYtW3T9+vUcPY4nT56stWvX6rnnntOrr76aY5e8Xbp0SV26dFHjxo01ffp0eXh4qFevXlq+fLl69eqlhx56SNOmTdO1a9fUvXt3XblyxfHe7G4TAAC5xgAAAHlaRESEIcnYtGmTceHCBePs2bPGypUrjRIlShgeHh7G2bNnHWPbtWtn1KlTx7hx44ZjWmpqqtGsWTOjatWqjmljxowx3NzcjIsXLzqmJSQkGP7+/sbjjz/umDZw4ECjVKlSxh9//OFUU69evQw/Pz8jPj7eMAzD2Lp1qyHJqFGjhpGQkOAYN3v2bEOScfjwYce08uXLG6Ghoem2s1WrVkarVq0crz/88EPDbrcbO3bscBo3b948Q5Kxa9euDPdZamqqUaZMGeORRx5xmv7JJ58YkoyvvvrKMAzD+OyzzwxJxv79+zNcVkZatWplSLrt19ChQ53GjhkzxrDb7cZXX31lrFixwpBkzJo1y2lMaGioIcl46qmnnLajc+fOhru7u3HhwgXDMAxjx44dhiRjyZIlTu9fv359uunly5d32l7DMIyYmBjDw8PDePbZZx3TgoODjc6dO2e6vVk9trKyrNvx9/c3goODMx3z9NNPG5KM7777zjCMnDuOK1Wq5JiWVfv37zckGREREenmpS1369atjmlpx8/SpUsd03744QdDkmG32429e/c6pm/YsCHdsrO6TQAA5DbOaAIAIJ9o3769SpQooaCgIHXv3l2FChXSqlWrVLZsWUk3L8fasmWLHn30UV25csVxds2ff/6pkJAQnThxwvGUup49eyopKUn//e9/HcvfuHGjLl++7DhbyDAMffrpp3r44YdlGIbTGTshISGKjY1Nd5ZKWFiY09kfaZf3nTp1Ktvbu2LFCtWoUUPVq1d3Wnfbtm0lSVu3bs3wvTabTT169NC6det09epVx/Tly5erTJkyatGihSTJ399fkrRmzZp0ZwJlRYUKFRQZGZnua8SIEU7jJkyYoFq1aik0NFRPPvmkWrVqpaeffvq2ywwPD3fajvDwcCUmJjounVqxYoX8/PzUoUMHp/3SoEEDFS5cON1+qVmzptPNqUuUKKFq1ao5fSb+/v46evSoTpw4cduasnNs/d2yMnLlyhX5+PhkOiZtftqlbDl1HIeGhsrLyytb9d+JwoULq1evXo7X1apVk7+/v2rUqKHGjRs7pqf9O+0zu5NtAgAgt/DUOQAA8om3335b9913n2JjY7Vw4UJ99dVX8vDwcMz/6aefZBiGXn75Zb388su3XUZMTIzKlCmj4OBgVa9eXcuXL9fAgQMl3Qxhihcv7ghyLly4oMuXL2vBggVasGBBhsu7Vbly5Zxep13W99d7B2XFiRMn9P3336tEiRJZWvdf9ezZU7NmzdKqVavUp08fXb16VevWrdPQoUNls9kkSa1atdIjjzyiiRMnaubMmWrdurW6deumPn36OO3bjBQqVMjpyWMZcXd318KFC/XAAw/I09NTERERjhpuZbfbValSJadp9913n6T/XSp54sQJxcbGqmTJkrdd1999JtLNz+XWz2TSpEn6v//7P913332qXbu2OnXqpMcee0z333+/pOwdW3+3rIz4+Pg4XRp2O2nz0wKnnDqOK1asmGkdZilbtmy648DPz09BQUHppkn/66M72SYAAHILQRMAAPlEo0aNHE+d69atm1q0aKE+ffro+PHjKly4sFJTUyVJzz33nOPeNH9VpUoVx7979uypV155RX/88Yd8fHy0atUq9e7dW66uN388SFtev379FBoaetvl/TU8uPV+Q7cybrmZ9e0CFunm/YlufX9qaqrq1KmjN99887bj//rL+F81adJEFSpU0CeffKI+ffpo9erVun79utP9nWw2m1auXKm9e/dq9erV2rBhgx5//HHNmDFDe/fuVeHChTNdR3Zs2LBB0s2nmJ04ceKOw4zU1FSVLFlSS5Ysue38vwZzWflMWrZsqZMnT+qLL77Qxo0b9d5772nmzJmaN2+eBg0alK1j6++WlZEaNWro0KFDSkhIyDDk++677+Tm5qaqVas6puXEcZwbZzNJGX82f/eZ3ck2AQCQWwiaAADIh1xcXDR16lTHDZdfeOEFx5kwbm5uWTrLpmfPnpo4caI+/fRTBQQEKC4uzukynhIlSsjHx0cpKSlZWl5WFSlSRJcvX043/ZdffnE6m6dy5cr69ttv1a5duwzDqb/z6KOPavbs2YqLi9Py5ctVoUIFNWnSJN24Jk2aqEmTJnrllVe0dOlS9e3bV8uWLcs0GMmO7777TpMmTVJYWJi++eYbDRo0SIcPH3acqZImNTVVp06dcpzFJEk//vijpJuX6Uk398umTZvUvHlzUwORokWLKiwsTGFhYbp69apatmypCRMmaNCgQdk+tjJbVka6dOmiPXv2aMWKFerXr1+6+T///LN27Nih9u3bO223VcexlQriNgEACg7u0QQAQD7VunVrNWrUSLNmzdKNGzdUsmRJtW7dWvPnz9e5c+fSjb9w4YLT6xo1aqhOnTpavny5li9frlKlSqlly5aO+S4uLnrkkUf06aef6siRI3+7vKyqXLmy9u7dq8TERMe0NWvW6OzZs07jHn30Uf32229699130y3j+vXrjie7ZaZnz55KSEjQ4sWLtX79+nRPNLt06ZLTmT2SVLduXUlSQkJCVjcpU0lJSRowYIBKly6t2bNna9GiRTp//rxGjhx52/Fz5851/NswDM2dO1dubm5q166dpJv7JSUlRZMnT0733uTk5NuGeH/nzz//dHpduHBhValSxbEPsnNs/d2yMjJ06FCVLFlSzz//fLp7et24cUNhYWEyDEPjxo1zmmfVcWylgrhNAICCgzOaAADIx55//nn16NFDixYt0hNPPKG3335bLVq0UJ06dTR48GBVqlRJ58+f1549e/Trr7/q22+/dXp/z549NW7cOHl6emrgwIGy253/BjVt2jRt3bpVjRs31uDBg1WzZk1dvHhRBw8e1KZNm3Tx4sVs1zxo0CCtXLlSnTp10qOPPqqTJ0/qo48+UuXKlZ3GPfbYY/rkk0/0xBNPaOvWrWrevLlSUlL0ww8/6JNPPtGGDRsclxJmpH79+qpSpYpefPFFJSQkOF02J0mLFy/Wf/7zH/3zn/9U5cqVdeXKFb377rvy9fXVQw899LfbEhsbq48++ui289LOypkyZYq++eYbbd68WT4+Prr//vs1btw4vfTSS+revbvTejw9PbV+/XqFhoaqcePG+vLLL7V27VqNHTvWcUlcq1atNHToUE2dOlXffPONOnbsKDc3N504cUIrVqzQ7Nmz1b1797+t/VY1a9ZU69at1aBBAxUtWlQHDhzQypUrnW5MntVjKyvLup1ixYpp5cqV6ty5s+rXr69BgwapZs2aio6O1qJFi/TTTz9p9uzZatasWbr3WnEcW60gbhMAoICw4lF3AAAg6yIiIgxJxv79+9PNS0lJMSpXrmxUrlzZSE5ONgzDME6ePGn079/fCAwMNNzc3IwyZcoYXbp0MVauXJnu/SdOnDAkGZKMnTt33nb958+fN4YPH24EBQUZbm5uRmBgoNGuXTtjwYIFjjFpj29fsWKF03tPnz5920e+z5gxwyhTpozh4eFhNG/e3Dhw4IDRqlUro1WrVk7jEhMTjddee82oVauW4eHhYRQpUsRo0KCBMXHiRCM2NjYru8948cUXDUlGlSpV0s07ePCg0bt3b6NcuXKGh4eHUbJkSaNLly7GgQMH/na5aY+nz+jLMAwjKirKcHV1NZ566imn9yYnJxsPPPCAUbp0aePSpUuGYRhGaGioUahQIePkyZNGx44dDW9vbyMgIMAYP368kZKSkm79CxYsMBo0aGB4eXkZPj4+Rp06dYzRo0cbv//+u2NM+fLljc6dO9+29lv39ZQpU4xGjRoZ/v7+hpeXl1G9enXjlVdeMRITE53el5VjK6vLysjp06eNwYMHG+XKlTPc3NyM4sWLG127djV27NiR4Xty+jjOiv3799/2WL91uVu3bnVMa9WqlVGrVq10YzP6zCQZw4cPz/Y2AQCQ22yG8ZfzxQEAAJDrBgwYoJUrV+rq1atWlwIAAHDHuEcTAAAAAAAATEHQBAAAAAAAAFMQNAEAAAAAAMAU3KMJAAAAAAAApuCMJgAAAAAAAJiCoAkAAAAAAACmcLW6gIIiNTVVv//+u3x8fGSz2awuBwAAAAAAwBSGYejKlSsqXbq07PbMz1kiaDLJ77//rqCgIKvLAAAAAAAAyBFnz55V2bJlMx1D0GQSHx8fSTd3uq+vryU1JCUlaePGjerYsaPc3NwsqQHIy+gRIGP0B5A5egTIHD0CZKwg9EdcXJyCgoIc2UdmCJpMkna5nK+vr6VBk7e3t3x9ffPtwQvkJHoEyBj9AWSOHgEyR48AGStI/ZGVWwVxM3AAAAAAAACYgqAJAAAAAAAApiBoAgAAAAAAgCm4RxMAAAAAALgrKSkpSkpKsrqMPCkpKUmurq66ceOGUlJSrC7nttzc3OTi4mLKsgiaAAAAAADAHTEMQ9HR0bp8+bLVpeRZhmEoMDBQZ8+ezdLNtK3i7++vwMDAu66RoAkAAAAAANyRtJCpZMmS8vb2ztNBilVSU1N19epVFS5cWHZ73ruDkWEYio+PV0xMjCSpVKlSd7U8giYAAAAAAJBtKSkpjpCpWLFiVpeTZ6WmpioxMVGenp55MmiSJC8vL0lSTEyMSpYseVeX0eXNLQQAAAAAAHla2j2ZvL29La4EZkj7HO/2XlsETQAAAAAA4I5xuVzBYNbnSNAEAAAAAAAAUxA0AQAAAAAAwBTcDBwAAAAAAJjKNjF3L6czxhvZGj9gwAAtXrxYkuTq6qqyZcuqR48emjRpkjw9PXOixHsGQRMAAAAAALjndOrUSREREUpKSlJUVJRCQ0Nls9n02muvWV1avsalcwAAAAAA4J7j4eGhwMBABQUFqVu3bmrfvr0iIyMlSampqZo6daoqVqwoLy8vBQcHa+XKlY55ZcuW1TvvvOO0vEOHDslut+uXX36RJF2+fFmDBg1SQECAypUrp/bt2+vbb791jJ8wYYLq1q2rDz/8UBUqVJCfn5969eqlK1euOMZUqFBBs2bNclpP3bp1NWHCBMfrtPWUKFFCvr6+atu2rdN6chtBEwAAAAAAuKcdOXJEu3fvlru7uyRp6tSp+uCDDzRv3jwdPXpUI0eOVL9+/bR9+3bZ7Xb17t1bS5cudVrGkiVL1Lx5c5UvX16S1KNHD8XExGjt2rXaunWr6tWrp3bt2unixYuO95w8eVKff/651qxZozVr1mj79u2aNm1atmpPW8+XX36pqKgo1a9fP916chNBEwAAAAAAuOesWbNGhQsXlqenp+rUqaOYmBg9//zzSkhI0KuvvqqFCxcqJCRElSpV0oABA9SvXz/Nnz9fktS3b1/t2rVLZ86ckXTzLKdly5apb9++kqSdO3fq66+/1ooVK9SwYUNVrlxZr7/+uvz9/R1nRqW9b9GiRapdu7YefPBBPfbYY9q8eXOWt+Gv66latareeOONdOvJTdyjCQAAAAAA3HPatGmjd955R9euXdPMmTPl6uqqRx55REePHlV8fLw6dOjgND4xMVH16tWTdPPytRo1amjp0qV64YUXtH37dsXExKhHjx6SpG+//VZXr15VsWLFnJZx/fp1nTx50vG6QoUK8vHxcbwuVaqUYmJisrwNWV1PbiJoAgAAAAAA95xChQqpSpUqkqSFCxcqODhY77//vmrXri1JWrt2rcqUKeP0Hg8PD8e/+/bt6wiali5dqk6dOjkCn6tXr6pUqVLatm2bUlNTdfXqVRUuXFh2u13+/v6OZbi5uTkt32azKTU11fHabrfLMJyfqJeUlOT4963r+atb15ObCJoA5DjbRFu2HzcKAAAAALnFbrdr7NixGjVqlH788Ud5eHjozJkzatWqVYbv6dOnj1566SVFRUVp5cqVmjdvnmNe/fr1FR0dLVdXV5UrV05xcXHy9fWV3Z69OxiVKFFC586dc7yOi4vT6dOnb7ueChUqZGvZOYV7NAEAAAAAgHtejx495OLiovnz5+u5557TyJEjtXjxYp08eVIHDx7UW2+9pcWLFzvGV6hQQc2aNdPAgQOVkpKirl27Oua1b99eTZs2Vbdu3bRx40adOXNGu3fv1osvvqgDBw5kuaa2bdvqww8/1I4dO3T48GGFhobKxcUlw/X8/PPPd7QeM3FGEwAAAAAAMFV+vKLB1dVV4eHhmj59uk6fPq0SJUpo6tSpOnXqlPz9/VW/fn2NHTvW6T19+/bVk08+qf79+8vLy8sx3Wazad26dXrxxRc1cOBAXbhwQYGBgWrZsqUCAgKyXNOYMWN0+vRpdenSRX5+fpo8ebLTGU23ricsLOyO12Mmm/HXi/1wR+Li4uTn56fY2Fj5+vpaUkNSUpLWrVunhx56KN11noCV8sqlc/QIkDH6A8gcPQJkjh65N924cUOnT59WxYoV5enpaXU5eVZqauodXzqXmzL7PLOTeeTdLQQAAAAAAEC+QtAEAAAAAAAAUxA0AQAAAAAAwBQETQAAAAAAADAFQRMAAAAAAABMQdAEAAAAAAAAUxA0AQAAAAAAwBQETQAAAAAAADAFQRMAAAAAAABMQdAEAAAAAAAAU7haXQCAvM020SZjvGF1GQAAAADyk6FDc3d98+dna/iAAQO0ePHidNNDQkK0fv16s6q6JxE0AQAAAACAe06nTp0UERHhNM3Dw8OiagoOLp0DAAAAAAD3HA8PDwUGBjp9FSlSRNu2bZO7u7t27NjhGDt9+nSVLFlS58+flyS1bt1a4eHhCg8Pl5+fn4oXL66XX35ZhvG/q0ESEhL03HPPKSgoSGXKlFHTpk21bds2x/xFixbJ399fGzZsUI0aNVS4cGF16tRJ586dc4zZtm2bGjVqpEKFCsnf31/NmzfXL7/84pj/xRdfqH79+vL09FSlSpU0ceJEJScnS5IMw9CECRNUrlw5eXh4qHTp0nr66adzanc6cEYTAAAAAADA/9e6dWuNGDFCjz32mL799ludOnVKL7/8slasWKGAgADHuMWLF2vgwIH6+uuvdeDAAQ0ZMkTlypXT4MGDJUnh4eE6duyYli5dKl9fX23atEmdOnXS4cOHVbVqVUlSfHy83njjDX344Yey2+3q16+fnnvuOS1ZskTJycnq1q2bBg8erI8//liJiYn6+uuvZbPZJEk7duxQ//79NWfOHD344IM6efKkhgwZIkkaP368Pv30U82cOVPLli1TrVq1FB0drW+//TbH9x9BEwAAAAAAuOesWbNGhQsXdpo2duxYjR07VlOmTFFkZKSGDBmiI0eOKDQ0VF27dnUaGxQUpJkzZ8pms6latWo6fPiwZs6cqcGDB+vMmTOKiIjQmTNnFBgYqLi4OD377LPasGGDIiIi9Oqrr0qSkpKSNG/ePFWuXFnSzXBq0qRJkqS4uDjFxsaqS5cujvk1atRwrH/ixIl64YUXFBoaKkmqVKmSJk+erNGjR2v8+PGOdbdv315ubm4qV66cGjVqlDM78xYETQAAAAAA4J7Tpk0bvfPOO07TihYtKklyd3fXkiVLdP/996t8+fKaOXNmuvc3adLEcXaRJDVt2lQzZsxQSkqKDh8+rJSUFN13331O70lISFCxYsUcr729vR0hkiSVKlVKMTExjloGDBigkJAQdejQQe3bt9ejjz6qUqVKSZK+/fZb7dq1S6+88orj/SkpKbpx44bi4+PVo0cPzZo1S5UqVVKnTp300EMP6eGHH5ara85GQQRNAAAAAADgnlOoUCFVqVIlw/m7d++WJF28eFEXL15UoUKFsrzsq1evysXFRVFRUbLZbLp69aoKFy4su93udBaVm5ub0/tsNpvTfZ4iIiL09NNPa/369Vq+fLleeuklRUZGqkmTJrp69aomTpyof/3rX+nW7+npqaCgIB0/flybNm1SZGSknnzySb3++uvavn17uvWaiaAJAAAAAADgFidPntTIkSP17rvvavny5QoNDdWmTZtkt//vmWr79u1zes/evXtVtWpVubi4qF69ekpJSVFMTIyaN2+uuLg4+fr6Or0/q+rVq6d69eppzJgxatq0qZYuXaomTZqofv36On78eKZhmZeXlx5++GE9/PDDGj58uKpXr67Dhw+rfv362a4jqwiaAAAAAADAPSchIUHR0dFO01xdXVWkSBH169dPISEhCgsLU6dOnVSnTh3NmDFDzz//vGPsmTNnNGrUKA0dOlQHDx7UW2+9pRkzZkiS7rvvPvXt21f9+/fX66+/rqpVq+r69evaunWr7r//fnXu3Plv6zt9+rQWLFigrl27qnTp0jp+/LhOnDih/v37S5LGjRunLl26qFy5curevbvsdru+/fZbHTlyRFOmTNGiRYuUkpKixo0by9vbWx999JG8vLxUvnx5E/diegRNAAAAAADAXPPnW13B31q/fr3jfkdpqlWrpj59+uiXX37RmjVrJN28b9KCBQvUu3dvdezYUcHBwZKk/v376/r162rUqJFcXFz0zDPPOJ76Jt287G3KlCl6/vnn9dtvv6l48eJq0qSJunTpkqX6vL299cMPP2jx4sX6888/VapUKQ0fPlxDhw6VJIWEhGjNmjWaNGmSXnvtNbm5ual69eoaNGiQJMnf31/Tpk3TqFGjlJKSojp16mj16tVO94jKCTbj1ov/cMfi4uLk5+en2NhY+fr6WlJDUlKS1q1bp4ceeihHr7fEvcU20SZj/N39b8KMZZiBHgEyRn8AmaNHgMzRI/emGzdu6PTp06pYsaI8PT2tLidXtW7dWnXr1tWsWbP+dmxqaupdXTqXWzL7PLOTeeTdLQQAAAAAAEC+QtAEAAAAAAAAU3CPJgAAAAAAgGzYtm2b1SXkWZzRBAAAAAAAAFMQNAEAAAAAgDvGM8YKBrM+R4ImAAAAAACQbWlPGIyPj7e4Epgh7XO82ydHco8mAAAAAACQbS4uLvL391dMTIwkydvbWzabzeKq8p7U1FQlJibqxo0bstvz3vk+hmEoPj5eMTEx8vf3l4uLy10tj6AJAAAAAADckcDAQElyhE1IzzAMXb9+XV5eXnk6iPP393d8nneDoAkAAAAAANwRm82mUqVKqWTJkkpKSrK6nDwpKSlJX331lVq2bHnXl6XlFDc3t7s+kykNQRMAAAAAALgrLi4upgUVBY2Li4uSk5Pl6emZZ4MmM+W9iwMBAAAAAACQLxE0AQAAAAAAwBQETQAAAAAAADAFQRMAAAAAAABMQdAEAAAAAAAAUxA0AQAAAAAAwBQETQAAAAAAADAFQRMAAAAAAABMQdAEAAAAAAAAUxA0AQAAAAAAwBQETQAAAAAAADAFQRMAAAAAAABMQdAEAAAAAAAAUxA0AQAAAAAAwBQETQAAAAAAADAFQRMKHNtEm9UlAAAAAABwTyJoAgAAAAAAgCkImgAAAAAAAGAKgiYAAAAAAACYgqAJAAAAAAAApiBoAgAAAAAAgCkImoDb4Ml1AAAAAABkH0ETAAAAAAAATEHQBAAAAAAAAFNYHjT99ttv6tevn4oVKyYvLy/VqVNHBw4ccMw3DEPjxo1TqVKl5OXlpfbt2+vEiRNOy7h48aL69u0rX19f+fv7a+DAgbp69arTmO+++04PPvigPD09FRQUpOnTp6erZcWKFapevbo8PT1Vp04drVu3Lmc2GgAAAAAAoACyNGi6dOmSmjdvLjc3N3355Zc6duyYZsyYoSJFijjGTJ8+XXPmzNG8efO0b98+FSpUSCEhIbpx44ZjTN++fXX06FFFRkZqzZo1+uqrrzRkyBDH/Li4OHXs2FHly5dXVFSUXn/9dU2YMEELFixwjNm9e7d69+6tgQMH6tChQ+rWrZu6deumI0eO5M7OAAAAAAAAyOdcrVz5a6+9pqCgIEVERDimVaxY0fFvwzA0a9YsvfTSS/q///s/SdIHH3yggIAAff755+rVq5e+//57rV+/Xvv371fDhg0lSW+99ZYeeughvfHGGypdurSWLFmixMRELVy4UO7u7qpVq5a++eYbvfnmm45Aavbs2erUqZOef/55SdLkyZMVGRmpuXPnat68ebm1SwAAAAAAAPItS4OmVatWKSQkRD169ND27dtVpkwZPfnkkxo8eLAk6fTp04qOjlb79u0d7/Hz81Pjxo21Z88e9erVS3v27JG/v78jZJKk9u3by263a9++ffrnP/+pPXv2qGXLlnJ3d3eMCQkJ0WuvvaZLly6pSJEi2rNnj0aNGuVUX0hIiD7//PPb1p6QkKCEhATH67i4OElSUlKSkpKS7nrf3Im09Vq1/rzCy+511/vAjGUUFAVpf9IjQMboDyBz9AiQOXoEyFhB6I/s1G5p0HTq1Cm98847GjVqlMaOHav9+/fr6aeflru7u0JDQxUdHS1JCggIcHpfQECAY150dLRKlizpNN/V1VVFixZ1GnPrmVK3LjM6OlpFihRRdHR0puv5q6lTp2rixInppm/cuFHe3t5Z3QU5IjIy0tL1W+3j+z++6/trmbGMgqIg7s97vUeAzNAfQOboESBz9AiQsfzcH/Hx8Vkea2nQlJqaqoYNG+rVV1+VJNWrV09HjhzRvHnzFBoaamVpf2vMmDFOZ0DFxcUpKChIHTt2lK+vryU1JSUlKTIyUh06dJCbm5slNeQFftP8FPtCrOXLKCgK0v6kR4CM0R9A5ugRIHP0CJCxgtAfaVdxZYWlQVOpUqVUs2ZNp2k1atTQp59+KkkKDAyUJJ0/f16lSpVyjDl//rzq1q3rGBMTE+O0jOTkZF28eNHx/sDAQJ0/f95pTNrrvxuTNv+vPDw85OHhkW66m5ub5QdOXqjBStdTr9/19puxjIKiIO7Pe71HgMzQH0Dm6BEgc/QIkLH83B/ZqdvSp841b95cx48fd5r2448/qnz58pJu3hg8MDBQmzdvdsyPi4vTvn371LRpU0lS06ZNdfnyZUVFRTnGbNmyRampqWrcuLFjzFdffeV0TWFkZKSqVavmeMJd06ZNndaTNiZtPQBwt2wTbVaXAAAAAAA5ytKgaeTIkdq7d69effVV/fTTT1q6dKkWLFig4cOHS5JsNptGjBihKVOmaNWqVTp8+LD69++v0qVLq1u3bpJungHVqVMnDR48WF9//bV27dql8PBw9erVS6VLl5Yk9enTR+7u7ho4cKCOHj2q5cuXa/bs2U6Xvj3zzDNav369ZsyYoR9++EETJkzQgQMHFB4enuv7BQAAAAAAID+y9NK5Bx54QJ999pnGjBmjSZMmqWLFipo1a5b69u3rGDN69Ghdu3ZNQ4YM0eXLl9WiRQutX79enp6ejjFLlixReHi42rVrJ7vdrkceeURz5sxxzPfz89PGjRs1fPhwNWjQQMWLF9e4ceM0ZMgQx5hmzZpp6dKleumllzR27FhVrVpVn3/+uWrXrp07OwMAAAAAACCfszRokqQuXbqoS5cuGc632WyaNGmSJk2alOGYokWLaunSpZmu5/7779eOHTsyHdOjRw/16NEj84IBAAAAAABwW5ZeOgcAAAAAAICCg6AJAAAAAAAApiBoAgAAAAAAgCkImgAAAAAAAGAKgiYAAAAAAACYgqAJAAAAAAAApiBoAgAAAAAAgCkImgAAAAAAAGAKgiYAAAAAAACYgqAJAAAAAAAApiBoAgAAAAAAgCkImgAAAAAAAGAKgiYAAAAAAACYgqAJAAAAAAAApiBoAgAAAAAAgCkImgAAAAAAAGAKgiYAAAAAAACYgqAJAAAAAAAApiBoAgAAAAAAgCkImgAAAAAAAGAKgiYAAAAAAACYgqAJAAAAAAAApiBoAgAAAAAAgCkImgAAAAAAAGAKgiYAAAAAAACYgqAJAAAAAAAApiBoAgAAAAAAgCkImgAAAAAAAGAKgiYAAAAAAACYgqAJAAAAAAAApiBoAgAAAAAAgCkImuDENtFmdQkAAAAAACCfImgCAAAAAACAKQiaAAAAAAAAYAqCJgAAAAAAAJiCoAkAAAAAAACmIGgCAAAAAACAKQiaAAAAAAAAYAqCJgAAAAAAAJiCoAkAAAAAAACmIGgCgHzENtFmdQkAAAAAkCGCJgAAAAAAAJiCoAkAAAAAAACmIGgCAAAAAACAKQiaAAAAAAAAYAqCJgAAAAAAAJiCoAkAAAAAAACmIGgCAAAAAACAKQiaAAAAAAAAYAqCJgAAAAAAAJiCoAkAAAAAAACmIGgCAAAAAACAKQiaAAAAAAAAYAqCJgAAAAAAAJiCoAkAAAAAAACmIGgCAAAAAACAKQiaAAAAAAAAYAqCJgAAAAAAAJiCoAkAAAAAAACmIGgCAAAAAACAKQiaAAAAAAAAYAqCJgAAAAAAAJiCoAkAAAAAAACmIGgCAAAAAACAKQiaAAAAAAAAYAqCJgAAAAAAAJiCoAkAAAAAAACmIGgCAAAAAACAKQiaAAAAAAAAYAqCJgAAAAAAAJiCoAkAAAAAAACmIGgCAAAAAACAKQiaAAC5zjbRZnUJAAAAAHIAQRMAAAAAAABMQdAEAAAAAAAAUxA0AQAAAAAAwBQETQAAAAAAADAFQRMAAAAAAABMQdAEAAAAAAAAUxA0AQAAAAAAwBQETQAAAAAAADAFQRMAAAAAAABMQdAEAAAAAAAAUxA0AQAAAAAAwBQETQAAAAAAADAFQRMAAAAAAABMQdAEAAAAAAAAUxA0AQAAAAAAwBQETQAAAAAAADAFQRMAAAAAAABMQdAEAAAAAAAAU+SZoGnatGmy2WwaMWKEY9qNGzc0fPhwFStWTIULF9Yjjzyi8+fPO73vzJkz6ty5s7y9vVWyZEk9//zzSk5Odhqzbds21a9fXx4eHqpSpYoWLVqUbv1vv/22KlSoIE9PTzVu3Fhff/11TmwmAAAAAABAgZUngqb9+/dr/vz5uv/++52mjxw5UqtXr9aKFSu0fft2/f777/rXv/7lmJ+SkqLOnTsrMTFRu3fv1uLFi7Vo0SKNGzfOMeb06dPq3Lmz2rRpo2+++UYjRozQoEGDtGHDBseY5cuXa9SoURo/frwOHjyo4OBghYSEKCYmJuc3HgAAAAAAoICwPGi6evWq+vbtq3fffVdFihRxTI+NjdX777+vN998U23btlWDBg0UERGh3bt3a+/evZKkjRs36tixY/roo49Ut25d/eMf/9DkyZP19ttvKzExUZI0b948VaxYUTNmzFCNGjUUHh6u7t27a+bMmY51vfnmmxo8eLDCwsJUs2ZNzZs3T97e3lq4cGHu7gwAAAAAAIB8zNXqAoYPH67OnTurffv2mjJlimN6VFSUkpKS1L59e8e06tWrq1y5ctqzZ4+aNGmiPXv2qE6dOgoICHCMCQkJ0bBhw3T06FHVq1dPe/bscVpG2pi0S/QSExMVFRWlMWPGOObb7Xa1b99ee/bsybDuhIQEJSQkOF7HxcVJkpKSkpSUlHRnO+Mupa33btbvZfeyrH6zmLENBWE/mKUg7U8zeuRuFKR9ebcKynYUJFb3B5DX0SNA5ugRIGMFoT+yU7ulQdOyZct08OBB7d+/P9286Ohoubu7y9/f32l6QECAoqOjHWNuDZnS5qfNy2xMXFycrl+/rkuXLiklJeW2Y3744YcMa586daomTpyYbvrGjRvl7e2d4ftyQ2Rk5B2/9+P7P9a6detMrCb3mbENBWE/mKUg7s+76ZG7URD35Z0qKNtREFnVH0B+QY8AmaNHgIzl5/6Ij4/P8ljLgqazZ8/qmWeeUWRkpDw9Pa0q446NGTNGo0aNcryOi4tTUFCQOnbsKF9fX0tqSkpKUmRkpDp06CA3N7c7WobfND/FvhBrcmW5y4xtKAj7wSwFaX+a0SN3I6KVn8K2F4x9ebcK0nFVUFjdH0BeR48AmaNHgIwVhP5Iu4orKywLmqKiohQTE6P69es7pqWkpOirr77S3LlztWHDBiUmJury5ctOZzWdP39egYGBkqTAwMB0T4dLeyrdrWP++qS68+fPy9fXV15eXnJxcZGLi8ttx6Qt43Y8PDzk4eGRbrqbm5vlB87d1HA99brl9d8tM7ahIOwHsxTE/WlVnxqJBW9f3qmCeFwVFHnh+xiQl9EjQOboESBj+bk/slO3ZTcDb9eunQ4fPqxvvvnG8dWwYUP17dvX8W83Nzdt3rzZ8Z7jx4/rzJkzatq0qSSpadOmOnz4sNPT4SIjI+Xr66uaNWs6xty6jLQxactwd3dXgwYNnMakpqZq8+bNjjEAAORltok2q0sAAAAAJFl4RpOPj49q167tNK1QoUIqVqyYY/rAgQM1atQoFS1aVL6+vnrqqafUtGlTNWnSRJLUsWNH1axZU4899pimT5+u6OhovfTSSxo+fLjjbKMnnnhCc+fO1ejRo/X4449ry5Yt+uSTT7R27VrHekeNGqXQ0FA1bNhQjRo10qxZs3Tt2jWFhYXl0t4AAAAAAADI/yx/6lxmZs6cKbvdrkceeUQJCQkKCQnRf/7zH8d8FxcXrVmzRsOGDVPTpk1VqFAhhYaGatKkSY4xFStW1Nq1azVy5EjNnj1bZcuW1XvvvaeQkBDHmJ49e+rChQsaN26coqOjVbduXa1fvz7dDcIBAAAAAACQsTwVNG3bts3ptaenp95++229/fbbGb6nfPnyf/vkotatW+vQoUOZjgkPD1d4eHiWawUAAAAAAIAzy+7RBAAAAAAAgIIl22c0JSQkaN++ffrll18UHx+vEiVKqF69eqpYsWJO1AcAAAAAAIB8IstB065duzR79mytXr1aSUlJ8vPzk5eXly5evKiEhARVqlRJQ4YM0RNPPCEfH5+crBkAAAAAAAB5UJYunevatat69uypChUqaOPGjbpy5Yr+/PNP/frrr4qPj9eJEyf00ksvafPmzbrvvvsUGRmZ03UDAAAAAAAgj8nSGU2dO3fWp59+Kjc3t9vOr1SpkipVqqTQ0FAdO3ZM586dM7VIAAAAAAAA5H1ZCpqGDh2a5QXWrFlTNWvWvOOCAAAAAAAAkD+Z8tS5lJQUMxYDAAAAAACAfCxbQdOOHTuc7r8UExOjFi1ayMPDQw0aNNCJEydMLxAAAAAAAAD5Q7aCpnHjxunnn392vB4/frwSExP1+eefq3Tp0nrmmWfMrg8AAAAAAAD5RJbu0ZTm+PHjatCggeP1qlWrtGTJErVu3VrBwcEKDg42vUAAAAAAAADkD1kKmsLCwiRJFy9e1KuvviofHx/9+eef+uOPP/TBBx/ogw8+UGpqqq5cuaLHH39ckrRw4cKcqxoAAAAAAAB5TpaCpoiICEnSgQMH1K5dOw0bNkzTp09XbGysI1D69ddftWHDBgImAAAAAACAe1S2Lp0bNmyYnnrqKc2aNUunTp3Sf//7X8e8jRs3qlGjRqYXCAAAAAAAgPwhW0HTk08+qerVq+vQoUNq2rSpmjVr5pjn7u6uMWPGmF4gAAAAAAAA8odsBU2S1LZtW7Vt2zbd9H79+plSEAAAAAAAAPIne1YGXbt2LVsLze54AAAAAAAA5H9ZCpqqVKmiadOm6dy5cxmOMQxDkZGR+sc//qE5c+aYViAAAAAAAADyhyxdOrdt2zaNHTtWEyZMUHBwsBo2bKjSpUvL09NTly5d0rFjx7Rnzx65urpqzJgxGjp0aE7XDQAAAAAAgDwmS0FTtWrV9Omnn+rMmTNasWKFduzYod27d+v69esqXry46tWrp3fffVf/+Mc/5OLiktM1AwAAAAAAIA/K1s3Ay5Urp2effVbPPvtsTtUDAAAAAACAfCpL92gCAAAAAAAA/g5BEwAAAAAAAExB0AQAAIDb4wEvAAAgmwiaAAD50rzVVlcAAAAA4K+yHTSdOXNGhmGkm24Yhs6cOWNKUQCAgo2QCAAAACiYsh00VaxYURcuXEg3/eLFi6pYsaIpRQEAAAAAACD/yXbQZBiGbDZbuulXr16Vp6enKUUBAAAAAAAg/3HN6sBRo0ZJkmw2m15++WV5e3s75qWkpGjfvn2qW7eu6QUCAAAAAAAgf8hy0HTo0CFJN89oOnz4sNzd3R3z3N3dFRwcrOeee878CgEAAAAAAJAvZDlo2rp1qyQpLCxMs2fPlq+vb44VBQBAbrBNtMkYn/4BF/nNvNWSxltdBQAAAJCNoClNRERETtQBAAAAAACAfC7bQdO1a9c0bdo0bd68WTExMUpNTXWaf+rUKdOKAwAAAAAAQP6R7aBp0KBB2r59ux577DGVKlXqtk+gAwAA+YvfND99fP/HVpcBAACAfC7bQdOXX36ptWvXqnnz5jlRDwAAAAAAAPIpe3bfUKRIERUtWjQnagEA/I15q62uAAAAAAAylu2gafLkyRo3bpzi4+Nzoh4AAAAAAADkU9m+dG7GjBk6efKkAgICVKFCBbm5uTnNP3jwoGnFAbAej00HgHxq6FBp/nyrqwAAAPeYbAdN3bp1y4EyAACAlWZ9Kel+q6sAAABAfpftoGn8eE5tAAAAyFGcjQQAAPKpbN+jCQAAAAAAALidbJ/RZLfbZbPZMpyfkpJyVwUBAAAAAAAgf8p20PTZZ585vU5KStKhQ4e0ePFiTZw40bTCAAAAAAAAkL9kO2j6v//7v3TTunfvrlq1amn58uUaOHCgKYUBAAAAAAAgfzHtHk1NmjTR5s2bzVocAAC4x9gmZnxpfpYNHXr3y0DBw3EBAECuMSVoun79uubMmaMyZcqYsTgAAAAAAADkQ9m+dK5IkSJONwM3DENXrlyRt7e3PvroI1OLAwAAAAAAQP6R7aBp1qxZTq/tdrtKlCihxo0bq0iRImbVBaAAmbda0nirqwCQ02wTbTLGG1aXAQAAAAtlO2gKDQ3NiToAAAAAAAAKnhEjpI4dra4i12Q7aJKky5cv6/3339f3338vSapVq5Yef/xx+fn5mVocAAAAAAAA8o9s3wz8wIEDqly5smbOnKmLFy/q4sWLevPNN1W5cmUdPHgwJ2oEAAD5wLzVVlcAAAAAq2X7jKaRI0eqa9euevfdd+XqevPtycnJGjRokEaMGKGvvvrK9CIBAAAAAACQ993RGU3//ve/HSGTJLm6umr06NE6cOCAqcUh9/HXaAAAAAAAcKeyHTT5+vrqzJkz6aafPXtWPj4+phQFAAAAAACA/CfbQVPPnj01cOBALV++XGfPntXZs2e1bNkyDRo0SL17986JGgEAyBGcxQkAAACYK9v3aHrjjTdks9nUv39/JScnS5Lc3Nw0bNgwTZs2zfQCAQAAYI35UQs0VPOtLgMAAOQj2Q6a3N3dNXv2bE2dOlUnT56UJFWuXFne3t6mFwcAAAAAAID8I9tBUxpvb2/VqVPHzFoAAAAAAACQj2U7aLpx44beeustbd26VTExMUpNTXWaf/DgQdOKAwAA9455qyWNt7oKAAAA3I1sB00DBw7Uxo0b1b17dzVq1Eg2my0n6gIAAAAAAPnV0KHSfO7zdy/KdtC0Zs0arVu3Ts2bN8+JegAAAAAAwJ0i4DEX+zPb7Nl9Q5kyZeTj45MTtQAAAACmmx+1wOoSAAC4Z2Q7aJoxY4b+/e9/65dffsmJegAAAICCaehQqyu4ewVhGwAAOSrbQVPDhg1148YNVapUST4+PipatKjTFwAAAAAAyMcIlXEXsn2Ppt69e+u3337Tq6++qoCAAG4GDgAAAAAAAEl3EDTt3r1be/bsUXBwcE7UAwAAAAAAgHwq25fOVa9eXdevX8+JWgAAAAAAAJCPZTtomjZtmp599llt27ZNf/75p+Li4py+AAAAgAJnxAirKwAAIF/I9qVznTp1kiS1a9fOabphGLLZbEpJSTGnMgAAAAAAAOQr2Q6atm7dmhN1AAAAAABwZ4YOlebPt7oKALqDoKlVq1YZzjty5MhdFQMAAAAAAID8K9v3aPqrK1euaMGCBWrUqBFPogMAAAAAALiH3XHQ9NVXXyk0NFSlSpXSG2+8obZt22rv3r1m1gYAAAAAAIB8JFuXzkVHR2vRokV6//33FRcXp0cffVQJCQn6/PPPVbNmzZyqEQAAAAAAAPlAls9oevjhh1WtWjV99913mjVrln7//Xe99dZbOVkbAABAtsyPWmB1CQAAAPe0LJ/R9OWXX+rpp5/WsGHDVLVq1ZysCQAAAAAAAPlQls9o2rlzp65cuaIGDRqocePGmjt3rv7444+crA0AAAAAAAD5SJaDpiZNmujdd9/VuXPnNHToUC1btkylS5dWamqqIiMjdeXKlZysEwAAAAAAAHlctp86V6hQIT3++OPauXOnDh8+rGeffVbTpk1TyZIl1bVr15yoEch181ZbXQEAAAAAAPlPtoOmW1WrVk3Tp0/Xr7/+qo8//tismgAAAAAAAJAP3VXQlMbFxUXdunXTqlWrzFgcAAAAAAAA8iFTgiYAAAAAAACAoAkAAAAAAACmIGgCAAAAkHuGDrW6AgBADiJoAgAAAAAAgCkImgAAAAAAAGAKgiYAAAAAAACYgqAJAAAgj5kftcDqEpAD+FwBAPcCgiYAAAAAAACYgqAJAAAAAAAApiBoQoEzb7XVFQAAAAAAcG8iaAIAAAAAAIApLA2apk6dqgceeEA+Pj4qWbKkunXrpuPHjzuNuXHjhoYPH65ixYqpcOHCeuSRR3T+/HmnMWfOnFHnzp3l7e2tkiVL6vnnn1dycrLTmG3btql+/fry8PBQlSpVtGjRonT1vP3226pQoYI8PT3VuHFjff3116ZvMwAAAPKfiEMRVpcAAEC+YGnQtH37dg0fPlx79+5VZGSkkpKS1LFjR127ds0xZuTIkVq9erVWrFih7du36/fff9e//vUvx/yUlBR17txZiYmJ2r17txYvXqxFixZp3LhxjjGnT59W586d1aZNG33zzTcaMWKEBg0apA0bNjjGLF++XKNGjdL48eN18OBBBQcHKyQkRDExMbmzMwAAAAAAAPI5VytXvn79eqfXixYtUsmSJRUVFaWWLVsqNjZW77//vpYuXaq2bdtKkiIiIlSjRg3t3btXTZo00caNG3Xs2DFt2rRJAQEBqlu3riZPnqx///vfmjBhgtzd3TVv3jxVrFhRM2bMkCTVqFFDO3fu1MyZMxUSEiJJevPNNzV48GCFhYVJkubNm6e1a9dq4cKFeuGFF3JxrwAAAAAAAORPlgZNfxUbGytJKlq0qCQpKipKSUlJat++vWNM9erVVa5cOe3Zs0dNmjTRnj17VKdOHQUEBDjGhISEaNiwYTp69Kjq1aunPXv2OC0jbcyIESMkSYmJiYqKitKYMWMc8+12u9q3b689e/bcttaEhAQlJCQ4XsfFxUmSkpKSlJSUdBd74c6lrfdu1m9z97KsfrOYsQ0FYT+YpSDtTzN65G4UpH15t/LKvmB/Oi9DsvZ7CJ/p/5iyHa6uEvtTUsHpkTzBhOPKlGUgz7H65yyOq1vklT4tKJ+JCduR5OJy87/5eH9kp3abYRhGDtaSZampqeratasuX76snTt3SpKWLl2qsLAwp0BHkho1aqQ2bdrotdde05AhQ/TLL784XQYXHx+vQoUKad26dfrHP/6h++67T2FhYU5B0rp169S5c2fFx8fr0qVLKlOmjHbv3q2mTZs6xowePVrbt2/Xvn370tU7YcIETZw4Md30pUuXytvb+673BwAAAAAAQF4QHx+vPn36KDY2Vr6+vpmOzTNnNA0fPlxHjhxxhEx53ZgxYzRq1CjH67i4OAUFBaljx45/u9NzSlJSkiIjI9WhQwe5ubnd0TIiWvkpbHusyZXlLjO2oSDsB7MUpP1pRo/cjYK0L+9WXtkX7M//WdQhUCVHLrT0ewif6f+Ysh0jRkizZllfRx5QUHokTzDhuDJlGchzrP45i+PqFnmlTwvKZ2LCdiQ9+6wi27Wzrj9MkHYVV1bkiaApPDxca9as0VdffaWyZcs6pgcGBioxMVGXL1+Wv7+/Y/r58+cVGBjoGPPXp8OlPZXu1jF/fVLd+fPn5evrKy8vL7m4uMjFxeW2Y9KW8VceHh7y8PBIN93Nzc3yA+duajASr1te/90yYxsKwn4wS0Hcn1b1aUHcl3cqr+wL9qfzMiRrv4fwmf6PKduRnCyxPyUVnB7JE0w4rkxZBvIsy34f4rj6n7zSpwXlMzFjO1JSJOWNvOBOZaduS586ZxiGwsPD9dlnn2nLli2qWLGi0/wGDRrIzc1Nmzdvdkw7fvy4zpw547jErWnTpjp8+LDT0+EiIyPl6+urmjVrOsbcuoy0MWnLcHd3V4MGDZzGpKamavPmzU6X0gEAAAAACqihQ62uACgQLD2jafjw4Vq6dKm++OIL+fj4KDo6WpLk5+cnLy8v+fn5aeDAgRo1apSKFi0qX19fPfXUU2ratKmaNGkiSerYsaNq1qypxx57TNOnT1d0dLReeuklDR8+3HHG0RNPPKG5c+dq9OjRevzxx7VlyxZ98sknWrt2raOWUaNGKTQ0VA0bNlSjRo00a9YsXbt2zfEUOgAAAAAAAGTO0qDpnXfekSS1bt3aaXpERIQGDBggSZo5c6bsdrseeeQRJSQkKCQkRP/5z38cY11cXLRmzRoNGzZMTZs2VaFChRQaGqpJkyY5xlSsWFFr167VyJEjNXv2bJUtW1bvvfeeQkJCHGN69uypCxcuaNy4cYqOjlbdunW1fv16p6fZAQAAAAAAIGOWBk1ZeeCdp6en3n77bb399tsZjilfvrzWrVuX6XJat26tQ4cOZTomPDxc4eHhf1sTAABAXjc/aoGGar7VZQAAgHuMpfdoAgAAAAAAQMFB0AQAAAAA+RU3sAaQxxA0AQAAAAAAwBQETQAAAAAAADAFQRMAAAAAAABMQdAEAAAAAAAAUxA0AQAAAAAAwBQETQAAAABgBZ4YB6AAImgCAAAAAACAKQiaAAAAAAAAYAqCJgAAAAAAAJiCoAkAAAAAAACmIGgCAAAAAACAKQiaAAAAAAAAYAqCJgAAAAAAAJiCoAkAAAAAAACmIGgCAAAAAACAKQiaAAAAAAAAYAqCJgAAAAAAAJiCoAkAAAAAAACmIGgCAAAAAACAKQiaAAAAAAAAYAqCJgAAAAAAAJiCoAkAAAAAAACmIGgCAAAAAACAKQiaAAAAAAAAYAqCJgAAAAAAAJiCoAkAAAAAAACmIGgCAAAAAACAKQiaAAAAAAAAYAqCJgAAAAAAAJiCoAkAAAAAAACmIGgCAAAAAACAKQiaAAAAAAAAYAqCJgAAAAAAAJiCoAkAAAAAAACmIGgCAAAAAACAKQiaAAAAAAAAYAqCJgAAAAAAAJiCoAkAAAAAAACmIGgCAAAAAACAKQiaAAAAAAAAYAqCJgAAAAAAAJiCoAkAAAAAAACmIGgCAAAAkGvmRy2wugQAQA4iaAIAAAAAAIApCJoAAAAAAABgCoImAAAAAAAAmIKgCQAAAAAAAKYgaAIAAAAAAIApCJoAAAAAAABgCoImAAAAAAAAmIKgCQAAAAAAAKYgaAIAAAAAAIApCJoAAAAAAABgCoImAAAAAAAAmIKgCQAAAAAAAKYgaAIAAAAAAIApCJoAAAAAAABgCoImAAAAAAAAmIKgCQAAAAAAAKYgaAIAAAAAAIApCJoAAAAAAABgCoImAAAAAFkyP2qB1SUAAPI4giYAAAAAAACYgqAJAAAAAAAApiBoAgAAAAAAgCkImgAAAAAAAGAKgiYAAAAAAACYgqAJAAAAAAAApiBoAgAAAAAAgCkImgAAAAAAAGAKgiYAAAAAAACYgqAJAAAAAAAApiBoAgAAAAAAgCkImgAAAAAAAGAKgiYAAAAAAIAcEnEowuoSchVBEwAAAAAAAExB0AQAAAAAAABTEDQBAAAAAADAFARNAAAAAADAVPOjFlhdAixC0AQAAAAAAABTEDQBAAAAAADAFARNAAAAAAAAMAVBEwAAAAAAAExB0AQAAAAAAABTEDQBAAAAAADAFARNAAAAAAAAMAVBEwAAAABYYH7UAqtLAADTETQBAAAAAADAFARNAAAAAAAAMAVB01+8/fbbqlChgjw9PdW4cWN9/fXXVpcEAAAAAACQLxA03WL58uUaNWqUxo8fr4MHDyo4OFghISGKiYmxujQAAAAAAIA8j6DpFm+++aYGDx6ssLAw1axZU/PmzZO3t7cWLlxodWkAAAAAAAB5nqvVBeQViYmJioqK0pgxYxzT7Ha72rdvrz179qQbn5CQoISEBMfruLg4SVJSUpKSkpJyvuDbSFvv3azf5u5lWf1mMWMbCsJ+MEtB2p9m9MjdKEj78m7llX3B/nRehmTt9xA+0//JK/uC/em8DImfsziuzGXKvnB1lfLA/rT65yxT9kMe2Zd3LY/siwLT6ybtC8nC/jBBdmq3GYZh5GAt+cbvv/+uMmXKaPfu3WratKlj+ujRo7V9+3bt27fPafyECRM0ceLEdMtZunSpvL29c7xeAAAAAACA3BAfH68+ffooNjZWvr6+mY7ljKY7NGbMGI0aNcrxOi4uTkFBQerYsePf7vSckpSUpMjISHXo0EFubm6W1ADkZfQIkDH6A8gcPYK8ym+an2JfiLW6DMt7xIz9kFf25d1iX5jLjH1hdX+YIe0qrqwgaPr/ihcvLhcXF50/f95p+vnz5xUYGJhuvIeHhzw8PNJNd3Nzs/zAyQs1AHkZPQJkjP4AMkePIK+5nno9Tx2TVvWIGfshr+3LO8W+MJeZ+yI/fw/JTt3cDPz/c3d3V4MGDbR582bHtNTUVG3evNnpUjoAAAAAAADcHmc03WLUqFEKDQ1Vw4YN1ahRI82aNUvXrl1TWFiY1aUBAAAAAADkeQRNt+jZs6cuXLigcePGKTo6WnXr1tX69esVEBBgdWkAAAAAAAB5HkHTX4SHhys8PNzqMgAAAAAAgMWM8YbVJeQ73KMJAAAAAAAApiBoAgAAAAAAgCkImgAAAAAAgAOXi+FuEDQBAAAAAADAFARNAAAAAJBPceYJgLyGoAkAAAAAAACmIGgCAAAAAACAKQiaAAAAAAAAYAqCJgAAAAAAAJiCoAkAAAAAAACmIGgCAAAAAACAKQiaAAAAAAAAYAqCJgAAAAAAAJiCoAkAAAAAAACmIGgCAAAAAACAKQiaAAAAAAAAYAqCJgAAAAAAAJiCoAkAAAAAcM8zxhtWlwAUCARNAAAAAAAAMAVBEwAAAAAAAExB0AQAAAAAAABTEDQBAAAAAADAFARNAAAAAAAAMAVBEwAAAAAAAExB0AQAAAAAAABTEDQBAAAAAPI1Y7xhdQkA/j+CJgAAAAAAAJiCoAkAAAAAAACmIGgCAAAAAKCA4DJCWI2gCQAAAAAAAKYgaAIAAAAAAIApCJoAAAAAAABgCoImAAAAAAAAmIKgCQAAAAAAAKYgaAIAAAAAAIApCJoAAAAAAABgCoImAAAAAAAAmIKgCQAAAAAAAKYgaAIAAAAAAIApCJoAAAAAAABgCoImAAAAAAAAmIKgCQAAAAAAAKYgaAIAAAAAAIApCJoAAAAAAABgCoImAAAAAAAAmIKgCQAAAAAAAKYgaAIAAAAAAIApCJoAAAAAAABgCoImAAAAAAAAmIKgCQAAAAAAAKYgaAIAAAAAAIApCJoAAAAAAABgCoImAAAAAAAAmIKgCQAAAAAAAKYgaAIAAAAAAIApCJoAAAAAAABgCoImAAAAAAAAmIKgCQAAAAAAAKYgaAIAAAAAAIApCJoAAAAAAABgCoImAAAAAAAAmIKgCQAAAAAAAKYgaAIAAAAAAIApCJoAAAAAAABgClerCygoDMOQJMXFxVlWQ1JSkuLj4xUXFyc3NzfL6gDyKnoEyBj9AWSOHgEyR48AGSsI/ZGWdaRlH5khaDLJlStXJElBQUEWVwIAAAAAAGC+K1euyM/PL9MxNiMrcRT+Vmpqqn7//Xf5+PjIZrNZUkNcXJyCgoJ09uxZ+fr6WlIDkJfRI0DG6A8gc/QIkDl6BMhYQegPwzB05coVlS5dWnZ75ndh4owmk9jtdpUtW9bqMiRJvr6++fbgBXIDPQJkjP4AMkePAJmjR4CM5ff++LszmdJwM3AAAAAAAACYgqAJAAAAAAAApiBoKkA8PDw0fvx4eXh4WF0KkCfRI0DG6A8gc/QIkDl6BMjYvdYf3AwcAAAAAAAApuCMJgAAAAAAAJiCoAkAAAAAAACmIGgCAAAAAACAKQiaAAAAAAAAYAqCJgAAAAAAAJiCoOkexIMGgdujNwAAAABYoSD9LkLQdI+Ii4vTpUuXFB0dLZvNptTUVKtLAvKM5ORkSf/7nzv9ATj76w8+BekHIQAAACulpKRIKlg/X7laXQBy3tGjRzVs2DBdvXpVv/76qz766CN17NjR6rKAPOH777/XW2+9pQsXLqh06dLq1auXmjZtanVZQJ5x/PhxLVmyRGfOnFGLFi3UokULVa9eXampqbLb+XsVcP78ecXGxuq+++6zuhQgzzl9+rQ2bNigH3/8Uf/4xz9Ur149FS9e3OqygDzjxx9/1DvvvKMzZ84oODhYjz32mCpWrGh1WXeNnxALuB9++EGtWrVSkyZN9Pzzz+uf//ynwsPDFRcXJ6lgpaZAdh09elTNmzeXYRgqUaKEzp8/r5YtW+q9997TtWvXrC4PsNyxY8fUuHFjHTt2TCdOnNB7772nDh06aPPmzbLb7XwPwT3v+++/V6NGjfTyyy/r6NGjVpcD5CmHDx9WixYttGrVKq1Zs0ZPPfWUFi5cqNTUVL5/ALrZI82aNdOlS5eUmpqqL7/8Uh9//LEMw8j3PWIz8vsWIEPJyckaOHCgJGnx4sWSpE2bNumdd95x/CJdtmxZK0sELJOQkKC+ffuqdOnSmjNnjiTp3Llzatu2rU6dOqWpU6dq1KhRMgxDNpvN4mqB3JeSkqIBAwbIMAx99NFHkqRvvvlGc+fO1aJFi/TFF1+oc+fOnNmEe9bvv/+uHj166Nq1a/Lw8FCdOnU0YsQI1a5d2+rSAMv98ssv6tChg3r06KEJEybIzc1NY8aM0cqVK3X48GF5enpaXSJgqVOnTqlt27bq16+fpkyZIkkaNGiQChUqpNmzZys5OVmurvn3AjR+MizAkpOTdfr0aVWqVMkxbefOndq6datatmyp2rVra+LEiUpISLCwSsAaSUlJOnHihGrVqiXpZr+UKlVKzZs3V/v27fXcc89p7dq1hEy4Z6Wmpurs2bMKCgpyTKtbt66mTp2qIUOGqHv37tq7dy8hE+5ZP/zwg3x8fLR48WI9+eSTOnTokGbNmqUjR45YXRpgqZSUFH3xxReqV6+ennrqKcf3iREjRigxMVEnTpywuELAWikpKYqMjFS7du307LPPOs5e8vLy0pEjR9S6dWuFhYVp9+7dFld65/JvRIa/5enpqXr16mnGjBkqUaKEjh07poULF2rhwoWqXr26jh07pn79+un+++/XP//5T6vLBXKVh4eHypcvr/3796t3797y9fXVL7/8oi+++EJLly5VyZIlNXXqVLVp00be3t5WlwvkOjc3N9WuXVvbt2/XpUuXVKRIEUlSiRIlNGbMGMXExGjy5Mn6+OOP5evra3G1QO5r1qyZxo8fr+DgYAUHBys1NVVz587VrFmz9Mwzz6hOnTqSxJmxuOe4uLjIz89PzZs3V2BgoGO6zWZTXFyc/vzzTwurA6zn4uKijh07qkWLFo6fryZNmqT33ntP48aN040bN3T8+HE99thj2rRpU768ZxN/hiyAbn1i1jPPPKP+/ftrz5492rNnjyZNmqRevXqpbt266tOnj5o1a6aNGzdaWC2Qu9L6w83NTe3atdPRo0fVpUsXjR07VrVq1VL37t3VoUMHhYSE6LffflNSUpLFFQPWadmypW7cuKGIiAhduXLFMT0oKEgPP/ywvvnmG8XGxlpYIWAdT09PNWnSxPE6LCxMTz/9tA4dOqTZs2c7zmyaPHmyvvvuO6vKBCwRGhqqp59+WtL/7gnr6+urwMBApz/grVq1SmfPnrWkRsBKFStWVM2aNSXdvKXHvn37tHLlSo0ZM0YTJ05UeHi4rl69qp9++sniSu8MZzQVIJcvX5a/v7/sdrtSUlLk4uKiSpUqae7cubpx44ZatWrl+KtCSkqKDMOQh4dHvkxIgey6tT/Srnl+5plnVKRIEW3ZskU//vijXnnlFT3zzDOSbp7xxFkauJf8/vvvOnjwoBITE1WuXDk1bNhQjz76qLZt26Z3331XXl5e6tmzp4oWLSpJeuCBB+Tt7e0UQAEF2a09Ur58eTVo0EA2m81x01a73a7Q0FBJ0pw5czR79mzFxcVp5cqV6t69u8XVAznrdt9DJDl+J5Eku90uu93uOMNv7NixioiI0L59+yyrG8gtGX0PSUlJkYeHh1avXi273e6492XRokUVEBDg+LkrvyFoKiC+//57de7cWf369dOkSZPk4uLi9D92T09P1alTR8uWLVOLFi3k4+Ojt956S8ePH9f8+fMtrh7IWX/tD1dXVyUmJsrd3V39+/dX//79lZSUJDc3N8d7Nm7cqMDAQLm7u1tYOZA7Dh8+rG7duql48eI6deqUKlSooGeffVa9evXSf/7zH4WFhemdd97Rjz/+qPDwcPn5+Wnx4sWy2+0KCAiwunwgx92uR/7973+re/fustlsstlsjl8OQkNDlZKSoieeeELe3t6Kiopy/NUaKIgy64+030UkKT4+XhcuXFBSUpKmTJmimTNnaseOHSpXrpyF1QM5Lys9khbApt3T7MMPP5Snp6fKly9vWd13g0vnCoCzZ8+qT58+cnV11WeffaZJkyZJunnt562X0bVp00ZXr15VtWrV1KVLF0VERGj16tWqUqWKVaUDOS6j/nB3d1dycrJjXNpTHXbv3q3w8HAtXbpUr7/+ury8vCypG8gtJ0+e1EMPPaTu3btr48aNWr9+vWrVqqXIyEjHwyIiIiLUvXt3RUVFqWrVqurUqZM++OADLVu2TMWKFbN4C4CclVGPfPnll44zxKWbvxwYhqGUlBR9++23Kly4sHbt2qW6detauwFADspqf0g3f9YqW7asXnzxRb3yyivauXOn48wnoKDKao+kBU1nzpzR6NGjNX/+fL333nsqXry4leXfMZtxa/cj3zEMQ6+//rq2b9+uESNGaNeuXVq+fLl69+6tcePGSZLTmRpHjhzR119/LX9/fzVs2JC/IKBAy0p/3HrmX2pqqtasWaNp06bpnXfeUXBwsJXlAzkuMTFRY8aM0a+//qoPP/zQcQbfwoULNXr0aB0/ftwpSPrzzz+1f/9++fj4qHz58ipbtqxVpQO5Irs9Ikn79+9X48aN9fXXX/NLNAq07PZHbGysgoODdeXKFW3ZsoWfs1DgZbdHDhw4oIiICO3atUuLFy/O1z3CpXP5nM1mU//+/RUQEKAOHTo4DsaPP/5YhmFo/PjxcnNzc4RNtWvXVu3atS2uGsgdWemPtDP/0u4b0LVrV7Vp00Y+Pj4WVw/kvNTUVJUtW1Y1atSQu7u74+lYzZo1U+HChR03w0/rkWLFiqlTp04WVw3knqz2yK0eeOABXbx4Uf7+/rlfMJCLstsffn5+Gjx4sB555BFVr17doqqB3JPdHmnYsKGuX7+ul156SaVKlbKoanMQNBUAgYGBjptPlixZUkOHDpUkLVu2TJIcYdPnn3+uhx9+2OlaaaCgy0p/2O12p/4gZMK9wtPTU926dUv3UAh/f3/HHymkm5cEHTp0SPXq1bOiTMAyWe0RSU494ufnl6t1AlbITn8cOHBADRs21IsvvpjbZQKWyU6PREVFqUGDBnrwwQdzu8wcQdCUD507d05nz57VpUuX1L59e6fLfmw2m0qVKqUhQ4ZIuvnLtGEYio2N1ezZs/Xrr7+qdOnSVpYP5Cj6A8hcWo9cvHhRHTt2dPzwc+tlpLGxsbp06ZLjPePGjdPcuXN14sQJFS1a1HEfAaAgokeAjNEfQObokZsImvKZ7777Tl27dpWHh4fOnz+vUqVKady4cQoJCVHRokUdN/8uXbq0hg4dKsMwNGnSJPn7+2v//v38Eo0Cjf4AMvd3PZJ2SrfNZpPdblfhwoU1ZcoUvfHGG9qxYwc3/kaBR48AGaM/gMzRI//DU+fykQsXLqhnz57q27evvvzySx07dkzBwcGaPHmy5syZowsXLjgehyhJpUqV0unTp+Xj46OdO3eqQYMGFlYP5Cz6A8hcVnok7S9o/v7+Klu2rIYNG6bJkydrx44d9AgKPHoEyBj9AWSOHnFG0JSPXLhwQTdu3NC//vUvVapUSaVLl9ayZcvUtWtX/fe//9WiRYsUHx/vOIDff/99rV69Wtu2bVPNmjUtrh7IWfQHkLms9oh08+ly33zzjVatWqV9+/YVuB9+gNuhR4CM0R9A5ugRZwRN+UhSUpKSk5MdB+j169clSdOmTVObNm30zjvv6KeffnKM79Kliw4ePMjNW3FPoD+AzGWnR4oUKaInn3xSBw8eVN26da0qGchV9AiQMfoDyBw94sxmGIZhdRHIukaNGqlw4cLasmWLJCkhIUEeHh6Sbj5Ot0qVKvr444+dbjYG3CvoDyBzWe0RSbpx44Y8PT0tqxWwAj0CZIz+ADJHj/wPZzTlYdeuXdOVK1cUFxfnmDZ//nwdPXpUffr0kSR5eHgoOTlZktSyZUtdu3ZNkvglGgUe/QFk7m56RFKB/uEHkOgRIDP0B5A5eiRzBE151LFjx/Svf/1LrVq1Uo0aNbRkyRJJUo0aNTR79mxFRkaqR48eSkpKctzgOCYmRoUKFVJycrI4UQ0FGf0BZI4eATJHjwAZoz+AzNEjf8/V6gKQ3rFjx9SyZUv1799fDRs2VFRUlMLCwlSzZk3Vq1dPXbt2VaFChfTkk0/q/vvvV/Xq1eXu7q61a9dq7969cnXlY0XBRX8AmaNHgMzRI0DG6A8gc/RI1nCPpjzm4sWL6t27t6pXr67Zs2c7prdp00Z16tTRnDlzHNOuXLmiKVOm6OLFi/L09NSwYcN4ehYKNPoDyBw9AmSOHgEyRn8AmaNHsu7eiNPykaSkJF2+fFndu3eXJKWmpsput6tixYq6ePGiJMkwDBmGIR8fH7322mtO44CCjP4AMkePAJmjR4CM0R9A5uiRrLu3tjYfCAgI0EcffaQHH3xQkpSSkiJJKlOmjOPgtNlsstvtTjces9lsuV8skMvoDyBz9AiQOXoEyBj9AWSOHsk6gqY8qGrVqpJuJp9ubm6SbiajMTExjjFTp07Ve++957iL/b148OLeRH8AmaNHgMzRI0DG6A8gc/RI1nDpXB5mt9tlGIbjwExLSceNG6cpU6bo0KFD98zNxIC/oj+AzNEjQOboESBj9AeQOXokc5zRlMel3avd1dVVQUFBeuONNzR9+nQdOHBAwcHBFlcHWIv+ADJHjwCZo0eAjNEfQObokYzduxFbPpGWjLq5uendd9+Vr6+vdu7cqfr161tcGWA9+gPIHD0CZI4eATJGfwCZo0cyxhlN+URISIgkaffu3WrYsKHF1QB5C/0BZI4eATJHjwAZoz+AzNEj6dmMtPO9kOddu3ZNhQoVsroMIE+iP4DM0SNA5ugRIGP0B5A5esQZQRMAAAAAAABMwaVzAAAAAAAAMAVBEwAAAAAAAExB0AQAAAAAAABTEDQBAAAAAADAFARNAAAAAAAAMAVBEwAAAAAAAExB0AQAAGCRAQMGyGazyWazyc3NTQEBAerQoYMWLlyo1NTULC9n0aJF8vf3z7lCAQAAsoigCQAAwEKdOnXSuXPn9PPPP+vLL79UmzZt9Mwzz6hLly5KTk62ujwAAIBsIWgCAACwkIeHhwIDA1WmTBnVr19fY8eO1RdffKEvv/xSixYtkiS9+eabqlOnjgoVKqSgoCA9+eSTunr1qiRp27ZtCgsLU2xsrOPsqAkTJkiSEhIS9Nxzz6lMmTIqVKiQGjdurG3btlmzoQAA4J5A0AQAAJDHtG3bVsHBwfrvf/8rSbLb7ZozZ46OHj2qxYsXa8uWLRo9erQkqVmzZpo1a5Z8fX117tw5nTt3Ts8995wkKTw8XHv27NGyZcv03XffqUePHurUqZNOnDhh2bYBAICCzWYYhmF1EQAAAPeiAQMG6PLly/r888/TzevVq5e+++47HTt2LN28lStX6oknntAff/wh6eY9mkaMGKHLly87xpw5c0aVKlXSmTNnVLp0acf09u3bq1GjRnr11VdN3x4AAABXqwsAAABAeoZhyGazSZI2bdqkqVOn6ocfflBcXJySk5N148YNxcfHy9vb+7bvP3z4sFJSUnTfffc5TU9ISFCxYsVyvH4AAHBvImgCAADIg77//ntVrFhRP//8s7p06aJhw4bplVdeUdGiRbVz504NHDhQiYmJGQZNV69elYuLi6KiouTi4uI0r3DhwrmxCQAA4B5E0AQAAJDHbNmyRYcPH9bIkSMVFRWl1NRUzZgxQ3b7zdtrfvLJJ07j3d3dlZKS4jStXr16SklJUUxMjB588MFcqx0AANzbCJoAAAAslJCQoOjoaKWkpOj8+fNav369pk6dqi5duqh///46cuSIkpKS9NZbb+nhhx/Wrl27NG/ePKdlVKhQQVevXtXmzZsVHBwsb29v3Xffferbt6/69++vGTNmqF69erpw4YI2b96s+++/X507d7ZoiwEAQEHGU+cAAAAstH79epUqVUoVKlRQp06dtHXrVs2ZM0dffPGFXFxcFBwcrDfffFOvvfaaateurSVLlmjq1KlOy2jWrJmeeOIJ9ezZUyVKlND06dMlSREREerfv7+effZZVatWTd26ddP+/ftVrlw5KzYVAADcA3jqHAAAAAAAAEzBGU0AAAAAAAAwBUETAAAAAAAATEHQBAAAAAAAAFMQNAEAAAAAAMAUBE0AAAAAAAAwBUETAAAAAAAATEHQBAAAAAAAAFMQNAEAAAAAAMAUBE0AAAAAAAAwBUETAAAAAAAATEHQBAAAAAAAAFMQNAEAAAAAAMAU/w/GxDY9iqXHi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-9150" y="1883143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Revenue and Expense analysis shows the operational performance of a company.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Expenses show strong financial management and good cash flow, leading </a:t>
            </a:r>
            <a:endParaRPr lang="en-US" dirty="0" smtClean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     to better </a:t>
            </a:r>
            <a:r>
              <a:rPr lang="en-US" dirty="0">
                <a:solidFill>
                  <a:prstClr val="black"/>
                </a:solidFill>
              </a:rPr>
              <a:t>credit ratings and investment </a:t>
            </a:r>
            <a:endParaRPr lang="en-US" dirty="0" smtClean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     attractiveness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If Expenses rise faster than Revenue, it signals cost inefficiency and future profit margin compression, which could lower stock valuation.</a:t>
            </a:r>
          </a:p>
        </p:txBody>
      </p:sp>
    </p:spTree>
    <p:extLst>
      <p:ext uri="{BB962C8B-B14F-4D97-AF65-F5344CB8AC3E}">
        <p14:creationId xmlns:p14="http://schemas.microsoft.com/office/powerpoint/2010/main" val="300756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09"/>
            <a:ext cx="8229599" cy="33679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Exploratory Data Analysis 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SCATTER PLOT</a:t>
            </a:r>
          </a:p>
        </p:txBody>
      </p:sp>
    </p:spTree>
    <p:extLst>
      <p:ext uri="{BB962C8B-B14F-4D97-AF65-F5344CB8AC3E}">
        <p14:creationId xmlns:p14="http://schemas.microsoft.com/office/powerpoint/2010/main" val="28848104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2575" y="317701"/>
            <a:ext cx="6544225" cy="42159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/>
              <a:t>CODING: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1197404"/>
            <a:ext cx="7321605" cy="357418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# Scatter Plot: Credit Score vs Loan Amount</a:t>
            </a:r>
          </a:p>
          <a:p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=(8,6))</a:t>
            </a:r>
          </a:p>
          <a:p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credit_data</a:t>
            </a:r>
            <a:r>
              <a:rPr lang="en-US" dirty="0"/>
              <a:t>['</a:t>
            </a:r>
            <a:r>
              <a:rPr lang="en-US" dirty="0" err="1"/>
              <a:t>credit_score</a:t>
            </a:r>
            <a:r>
              <a:rPr lang="en-US" dirty="0"/>
              <a:t>'], </a:t>
            </a:r>
            <a:r>
              <a:rPr lang="en-US" dirty="0" err="1"/>
              <a:t>credit_data</a:t>
            </a:r>
            <a:r>
              <a:rPr lang="en-US" dirty="0"/>
              <a:t>['</a:t>
            </a:r>
            <a:r>
              <a:rPr lang="en-US" dirty="0" err="1"/>
              <a:t>loan_amount</a:t>
            </a:r>
            <a:r>
              <a:rPr lang="en-US" dirty="0"/>
              <a:t>'], alpha=0.5)</a:t>
            </a:r>
          </a:p>
          <a:p>
            <a:r>
              <a:rPr lang="en-US" dirty="0" err="1"/>
              <a:t>plt.title</a:t>
            </a:r>
            <a:r>
              <a:rPr lang="en-US" dirty="0"/>
              <a:t>('Credit Score vs Loan Amount')</a:t>
            </a:r>
          </a:p>
          <a:p>
            <a:r>
              <a:rPr lang="en-US" dirty="0" err="1"/>
              <a:t>plt.xlabel</a:t>
            </a:r>
            <a:r>
              <a:rPr lang="en-US" dirty="0"/>
              <a:t>('Credit Score')</a:t>
            </a:r>
          </a:p>
          <a:p>
            <a:r>
              <a:rPr lang="en-US" dirty="0" err="1"/>
              <a:t>plt.ylabel</a:t>
            </a:r>
            <a:r>
              <a:rPr lang="en-US" dirty="0"/>
              <a:t>('Loan Amount')</a:t>
            </a:r>
          </a:p>
          <a:p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94832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INTERPRETATION: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AutoShape 2" descr="data:image/png;base64,iVBORw0KGgoAAAANSUhEUgAAA+UAAAIjCAYAAABlBbqXAAAAOnRFWHRTb2Z0d2FyZQBNYXRwbG90bGliIHZlcnNpb24zLjEwLjAsIGh0dHBzOi8vbWF0cGxvdGxpYi5vcmcvlHJYcgAAAAlwSFlzAAAPYQAAD2EBqD+naQABAABJREFUeJzs3Xd0VNUWwOHflPRKegIkofcuvXdpgopSRFHE8lRs74nP8hQL9i4KioKKgCKiYqFJld57rwktIb0nU+77485MZpJJJSEk7G8tVu7cem6YJLPvOWdvjaIoCkIIIYQQQgghhLjmtFXdACGEEEIIIYQQ4kYlQbkQQgghhBBCCFFFJCgXQgghhBBCCCGqiATlQgghhBBCCCFEFZGgXAghhBBCCCGEqCISlAshhBBCCCGEEFVEgnIhhBBCCCGEEKKKSFAuhBBCCCGEEEJUEQnKhRBCCCGEEEKIKiJBuRBCiBvSunXr0Gg0LF68uEqu/80336DRaDh79myVXF8IIYQQ1wcJyoUQQlwzBw4cYPTo0URFReHu7k7t2rUZOHAgn376qcN+b7zxBr/++mvVNLIUzp49i0ajsf3T6XRERkZy6623snfv3qpuXpW5ePEiEyZMoEmTJvj4+ODv70+nTp349ttvURSl0P4XLlzgzjvvxN/fH19fX0aOHMnp06dLdS3rQxXrPzc3N0JDQ+nTpw9vvPEGV65cqejbK7UrV67wxBNP0LRpUzw8PAgJCaFTp048++yzZGRk2Pa799570Wg0+Pr6kp2dXeg8J06csN3fe++95/Raf/31FxqNhoiICMxmc6XdkxBCiMqjr+oGCCGEuDFs3ryZvn37EhkZyQMPPEBYWBixsbFs3bqVjz/+mClTptj2feONNxg9ejSjRo2qugaXwrhx4xg6dCgmk4kjR44wc+ZMli1bxtatW2nbtm2xx959992MHTsWNze3a9PYayAhIYHz588zevRoIiMjMRgMrFq1invvvZdjx47xxhtv2PbNyMigb9++pKam8vzzz+Pi4sKHH35I79692bt3L4GBgaW65uOPP07Hjh0xmUxcuXKFzZs38/LLL/PBBx+waNEi+vXrV1m361RSUhI33XQTaWlpTJo0iaZNm5KYmMj+/fuZOXMm//rXv/D29rbtr9frycrK4vfff+fOO+90ONf8+fNxd3cnJyenyOvNnz+f6Ohozp49y5o1axgwYECl3ZsQQojKIUG5EEKIa2L69On4+fmxY8cO/P39HbbFx8dXTaOuUvv27ZkwYYLtdffu3bnllluYOXMmX3zxhdNjMjMz8fLyQqfTodPprlVTr4nWrVuzbt06h3WPPfYYI0aM4JNPPuG1116z3fPnn3/OiRMn2L59Ox07dgRgyJAhtGzZkvfff98hgC9Oz549GT16tMO6ffv2MWjQIG6//XYOHz5MeHj41d9cKX399dfExMSwadMmunXr5rAtLS0NV1dXh3Vubm50796dhQsXFgrKFyxYwLBhw/j555+dXiszM5PffvuNN998k7lz5zJ//nwJyoUQohqS4etCCCGuiVOnTtGiRYtCATlASEiIbVmj0ZCZmcm3335rG7p777332rbv2bOHIUOG4Ovri7e3N/3792fr1q2FzpmSksJTTz1FdHQ0bm5u1KlTh3vuuYeEhIQi25ibm8vw4cPx8/Nj8+bNZb5Ha6/smTNngPx54+vXr+eRRx4hJCSEOnXqOGwrOKd82bJl9O7dGx8fH3x9fenYsSMLFixw2Gfbtm3cfPPN+Pn54enpSe/evdm0aVOxbYuLi0Ov1/PKK68U2nbs2DE0Gg0zZswAwGAw8Morr9CoUSPc3d0JDAykR48erFq1qszfE4Do6GiysrLIy8uzrVu8eDEdO3a0BeQATZs2pX///ixatKhc17Fq06YNH330ESkpKbZ7Ajh37hyPPPIITZo0wcPDg8DAQO644w6H/4PTp0+j0Wj48MMPC5138+bNaDQaFi5cWOS1T506hU6no0uXLoW2+fr64u7uXmj9+PHjWbZsGSkpKbZ1O3bs4MSJE4wfP77Ia/3yyy9kZ2dzxx13MHbsWJYsWVJsr7oQQojrkwTlQgghromoqCh27drFwYMHi91v3rx5uLm50bNnT+bNm8e8efN46KGHADh06BA9e/Zk3759TJ06lf/973+cOXOGPn36sG3bNts5MjIy6NmzJ59++imDBg3i448/5uGHH+bo0aOcP3/e6XWzs7MZMWIEmzdv5u+//y7Uy1kap06dAig09PqRRx7h8OHDvPTSS/z3v/8t8vhvvvmGYcOGkZSUxHPPPcdbb71F27ZtWb58uW2fNWvW0KtXL9LS0nj55Zd54403SElJoV+/fmzfvr3Ic4eGhtK7d2+nAe+PP/6ITqfjjjvuAGDatGm88sor9O3blxkzZvDCCy8QGRnJ7t27S/V9yM7OJiEhgbNnz/Ltt98yd+5cunbtioeHBwBms5n9+/dz0003FTq2U6dOnDp1ivT09FJdqyijR4/Gw8ODlStX2tbt2LGDzZs3M3bsWD755BMefvhhVq9eTZ8+fcjKygKgfv36dO/enfnz5xc65/z58/Hx8WHkyJFFXjcqKgqTycS8efNK3dbbbrsNjUbDkiVLbOsWLFhA06ZNad++fZHHzZ8/n759+xIWFsbYsWNJT0/n999/L/V1hRBCXCcUIYQQ4hpYuXKlotPpFJ1Op3Tt2lWZOnWqsmLFCiUvL6/Qvl5eXsrEiRMLrR81apTi6uqqnDp1yrbu4sWLio+Pj9KrVy/bupdeekkBlCVLlhQ6h9lsVhRFUdauXasAyk8//aSkp6crvXv3VoKCgpQ9e/aUeC9nzpxRAOWVV15Rrly5oly+fFlZt26d0q5dOwVQfv75Z0VRFGXu3LkKoPTo0UMxGo0O57BuO3PmjKIoipKSkqL4+PgonTt3VrKzs5222Ww2K40aNVIGDx5sW6coipKVlaXUq1dPGThwYLHt/uKLLxRAOXDggMP65s2bK/369bO9btOmjTJs2LASvw9FefPNNxXA9q9///5KTEyMbfuVK1cUQHn11VcLHfvZZ58pgHL06NFir2H//1eUNm3aKLVq1bK9zsrKKrTPli1bFED57rvvbOus36cjR47Y1uXl5SlBQUFO35f2Ll++rAQHByuA0rRpU+Xhhx9WFixYoKSkpBTad+LEiYqXl5eiKIoyevRopX///oqiKIrJZFLCwsKUV155xfZee/fddx2OjYuLU/R6vTJ79mzbum7duikjR44stn1CCCGuP9JTLoQQ4poYOHAgW7Zs4ZZbbmHfvn288847DB48mNq1a7N06dISjzeZTKxcuZJRo0ZRv3592/rw8HDGjx/Pxo0bSUtLA+Dnn3+mTZs23HrrrYXOo9FoHF6npqYyaNAgjh49yrp160pM0Gbv5ZdfJjg4mLCwMPr06cOpU6d4++23ue222xz2e+CBB0qcP75q1SrS09P573//W2iIs7XNe/futQ1pTkxMJCEhgYSEBDIzM+nfvz8bNmwoNgP3bbfdhl6v58cff7StO3jwIIcPH2bMmDG2df7+/hw6dIgTJ06U+nthb9y4caxatYoFCxbYhl/bZxe3LjtLcme9d2fZyMvK29vbocfd2lMP6hD9xMREGjZsiL+/v8MogDvvvBN3d3eH3vIVK1aQkJDgkEPAmdDQUPbt28fDDz9McnIys2bNYvz48YSEhPDaa685zUIP6hD2devWcfnyZdasWcPly5eLHbr+ww8/oNVquf32223rxo0bx7Jly0hOTi62jUIIIa4vEpQLIYS4Zjp27MiSJUtITk5m+/btPPfcc6SnpzN69GgOHz5c7LFXrlwhKyuLJk2aFNrWrFkzzGYzsbGxgDqMvGXLlqVq05NPPsmOHTv4+++/adGiRZnu58EHH2TVqlWsXr2aXbt2ER8fz9SpUwvtV69evRLPZR36Xly7rUHyxIkTCQ4Odvj31VdfkZubS2pqapHHBwUFFZqz/eOPP6LX6x0eJLz66qukpKTQuHFjWrVqxTPPPMP+/ftLvAerqKgoBgwYwLhx45g/fz7169dnwIABtkDbGhzn5uYWOtY6J9q6z+XLlx3+lSVYz8jIwMfHx/Y6Ozubl156ibp16+Lm5kZQUBDBwcGkpKQ4fN/8/f0ZMWKEw1z++fPnU7t27VJlcw8PD2fmzJlcunSJY8eO8cknnxAcHMxLL73E119/7fSYoUOH4uPjw48//sj8+fPp2LEjDRs2LPIa33//PZ06dSIxMZGTJ09y8uRJ2rVrR15eHj/99FNpvj1CCCGuExKUCyGEuOZcXV3p2LEjb7zxBjNnzsRgMFRZIDFy5EgUReGtt94qc53nRo0aMWDAAPr160f79u2LLG9m30N7Nazte/fdd1m1apXTf/bltpwZO3Ysx48ft9VTX7RoEf379ycoKMi2T69evTh16hRz5syhZcuWfPXVV7Rv356vvvqqXO0ePXo0sbGxbNiwAYCAgADc3Ny4dOlSoX2t6yIiIgA1wLX/Z9/LXxyDwcDx48cdAtspU6Ywffp07rzzThYtWsTKlStZtWoVgYGBhf7v77nnHk6fPs3mzZtJT09n6dKljBs3Dq229B+dNBoNjRs3ZsqUKWzYsAGtVut0rjqoowZuu+02vv32W3755Zdie8lPnDjBjh072LhxI40aNbL969GjB0CR1xBCCHF9kpJoQgghqpQ12Zd9gFZwiDlAcHAwnp6eHDt2rNC2o0ePotVqqVu3LgANGjQoMaGc1ahRoxg0aBD33nsvPj4+zJw5szy3cdUaNGgAqMPJi+ohte7j6+tb7tJXo0aN4qGHHrIFt8ePH+e5554rtF9AQAD33Xcf9913HxkZGfTq1Ytp06YxefLkMl/T2rtt7Y3WarW0atWKnTt3Ftp327Zt1K9f39bDXTDje2lHMyxevJjs7GwGDx7ssG7ixIm8//77tnU5OTkOWc+tbr75ZoKDg5k/fz6dO3cmKyuLu+++u1TXdqZ+/frUqlXL6YMIq/HjxzNnzhy0Wi1jx44tcr/58+fj4uLCvHnzCk2L2LhxI5988gkxMTFERkaWu71CCCGuHekpF0IIcU2sXbvW6Xzav/76C8BhWLqXl1ehQEmn0zFo0CB+++03hxJWcXFxLFiwgB49euDr6wvA7bffzr59+/jll18KXc9ZG+655x4++eQTZs2axbPPPlue27tqgwYNwsfHhzfffLNQWStrmzt06ECDBg147733yMjIKHSOK1eulHgdf39/Bg8ezKJFi/jhhx9wdXVl1KhRDvskJiY6vPb29qZhw4ZOh5uX5vpff/01Go3GIZP46NGj2bFjh0NgfuzYMdasWWPLAg8wYMAAh3+lqTm+b98+nnzySWrVqsWjjz5qW6/T6Qr9/3/66aeYTKZC59Dr9YwbN45FixbxzTff0KpVK1q3bl3itbdt20ZmZmah9du3bycxMdHp9Aurvn378tprrzFjxgzCwsKK3G/+/Pn07NmTMWPGMHr0aId/zzzzDECxZduEEEJcX6SnXAghxDUxZcoUsrKyuPXWW2natCl5eXls3ryZH3/8kejoaO677z7bvh06dODvv//mgw8+ICIignr16tG5c2def/11Vq1aRY8ePXjkkUfQ6/V88cUX5Obm8s4779iOf+aZZ1i8eDF33HEHkyZNokOHDiQlJbF06VJmzZpFmzZtCrXvscceIy0tjRdeeAE/Pz+ef/75a/J9sfL19eXDDz9k8uTJdOzYkfHjx1OrVi327dtHVlYW3377LVqtlq+++oohQ4bQokUL7rvvPmrXrs2FCxdYu3Ytvr6+pSqJNWbMGCZMmMDnn3/O4MGDC9WOb968OX369KFDhw4EBASwc+dOFi9ezGOPPVbseadPn86mTZu4+eabiYyMJCkpiZ9//pkdO3YwZcoUhxEAjzzyCLNnz2bYsGH85z//wcXFhQ8++IDQ0FD+/e9/l/r79s8//5CTk4PJZCIxMZFNmzaxdOlS/Pz8+OWXXxyC2+HDhzNv3jz8/Pxo3rw5W7Zs4e+//y5Uws7K+rBm7dq1vP3226Vqz7x585g/fz633norHTp0wNXVlSNHjjBnzhzc3d2LfV9ptVpefPHFYs+/bds2Tp48WeT/Re3atWnfvj3z58+vsgdMQgghyqgqU78LIYS4cSxbtkyZNGmS0rRpU8Xb21txdXVVGjZsqEyZMkWJi4tz2Pfo0aNKr169FA8PDwVwKEO1e/duZfDgwYq3t7fi6emp9O3bV9m8eXOh6yUmJiqPPfaYUrt2bcXV1VWpU6eOMnHiRCUhIUFRlKJLak2dOlUBlBkzZhR5L0WVqSrIWvZsx44dRW6zlkSzWrp0qdKtWzfFw8ND8fX1VTp16qQsXLjQYZ89e/Yot912mxIYGKi4ubkpUVFRyp133qmsXr262PZYpaWl2b6333//faHtr7/+utKpUyfF399f8fDwUJo2bapMnz7dafk6eytXrlSGDx+uREREKC4uLoqPj4/SvXt3Ze7cuQ4l3KxiY2OV0aNHK76+voq3t7cyfPhw5cSJE6W6B+v/n/Wfi4uLEhwcrPTq1UuZPn26Eh8fX+iY5ORk5b777lOCgoIUb29vZfDgwcrRo0eVqKioIkudtWjRQtFqtcr58+dL1a79+/crzzzzjNK+fXslICBA0ev1Snh4uHLHHXcou3fvdtjXviRaUQq+16ZMmaIADmUBC5o2bZoCKPv27StVm4UQQlQtjaIUUZtDCCGEEOIG165dOwICAli9enVVN0UIIUQNJXPKhRBCCCGc2LlzJ3v37uWee+6p6qYIIYSowaSnXAghhBDCzsGDB9m1axfvv/8+CQkJnD59Gnd396pulhBCiBpKesqFEEIIIewsXryY++67D4PBwMKFCyUgF0IIUamkp1wIIYQQQgghhKgi0lMuhBBCCCGEEEJUEQnKhRBCCCGEEEKIKqKv6gZUNrPZzMWLF/Hx8UGj0VR1c4QQQgghhBBC1HCKopCenk5ERARabfF94TU+KL948SJ169at6mYIIYQQQgghhLjBxMbGUqdOnWL3qfFBuY+PD6B+M3x9fSvknAaDgZUrVzJo0CBcXFwq5JxCVDZ534rqRt6zojqS962obuQ9K6qj6vC+TUtLo27durZ4tDg1Pii3Dln39fWt0KDc09MTX1/f6/ZNIERB8r4V1Y28Z0V1JO9bUd3Ie1ZUR9XpfVuaKdRVmuhtw4YNjBgxgoiICDQaDb/++qvD9oyMDB577DHq1KmDh4cHzZs3Z9asWVXTWCGEEEIIIYQQooJVaVCemZlJmzZt+Oyzz5xuf/rpp1m+fDnff/89R44c4cknn+Sxxx5j6dKl17ilQgghhBBCCCFExavS4etDhgxhyJAhRW7fvHkzEydOpE+fPgA8+OCDfPHFF2zfvp1bbrnlGrVSCCGEEEIIIYSoHNf1nPJu3bqxdOlSJk2aREREBOvWreP48eN8+OGHRR6Tm5tLbm6u7XVaWhqgzjswGAwV0i7reSrqfEJcC/K+FdWNvGdFdSTvW1HdyHu29BRFwWQyYTKZUBSlqptzQzMajej1ejIyMtDrr31Iq9Fo0Ol06HS6IueMl+VnSqNcJ+8ojUbDL7/8wqhRo2zrcnNzefDBB/nuu+/Q6/VotVpmz57NPffcU+R5pk2bxiuvvFJo/YIFC/D09KyMpgshhBBCCCFqMK1Wi7+/Px4eHqVK3CVqPkVRyMrKIjU1FbPZXGh7VlYW48ePJzU1tcSE49d1T/mnn37K1q1bWbp0KVFRUWzYsIFHH32UiIgIBgwY4PSY5557jqefftr22pqKftCgQRWafX3VqlUMHDjwus/2J4SVvG9FdSPvWVEdyftWVDfyni2Z2WzmzJkz6HQ6goODcXFxkcC8iimKQmZmJl5eXlXyf6EoCgaDgStXrhASEkK9evXQah3TtVlHbJfGdRuUZ2dn8/zzz/PLL78wbNgwAFq3bs3evXt57733igzK3dzccHNzK7TexcWlwn/RVMY5hahs8r4V1Y28Z0V1JO9bUd3Ie7ZoOTk5KIpC7dq1ZeTtdcJsNmMwGPDw8CgUDF9Lrq6unDt3DkVRCv38lOXnqUqzrxfHOge84DdZp9M5HR4ghBBCCCGEEJWlKoM/cX2qqPdElfaUZ2RkcPLkSdvrM2fOsHfvXgICAoiMjKR3794888wzeHh4EBUVxfr16/nuu+/44IMPqrDVQgghhBBCCCFExajSoHznzp307dvX9to6F3zixIl88803/PDDDzz33HPcddddJCUlERUVxfTp03n44YerqslCCCGEEEIIIUSFqdKgvE+fPsWWEwgLC2Pu3LnXsEVCCCGEEEIIcWNxVgmrOujXrx9t27blo48+quqmXBWZGCGEEEIIIYQQNdTly5eZMmUK9evXx83Njbp16zJixAhWr15d1U2zmTZtGhqNBo1Gg16vJzo6mqeeeoqMjIxij1u8eDGvvfbaNWpl5blus68LIYQQQgghhCi/s2fP0r17d/z9/Xn33Xdp1aoVBoOBFStW8Oijj3L06NGqbqJNixYt+PvvvzEajWzatIlJkyaRlZXFF198UWjfvLw8AAICAmpEAr7qfwdCCCGEEEIIcQ0pikJWnrFK/hU3/begRx55BI1Gw/bt27n99ttp3LgxLVq04Omnn2br1q1FHnfgwAH69euHh4cHgYGBPPjggw691uvWraNTp054eXnh7+9P9+7dOXfunG37b7/9Rvv27XF3d6d+/fq88sorGI3GYtuq1+sJCwujTp06jBkzhrvuuoulS5cCak9627Zt+eqrr6hXr56tNF2/fv148sknbefIzc3l2WefpW7duri5udGwYUO+/vpr2/aDBw8yZMgQvL29CQ0N5e677yYhIaHU38/KIj3lQgghhBBCCFEG2QYTzV9aUSXXPvzqYDxdSw7jkpKSWL58OdOnT8fLy6vQdn9/f6fHZWZmMnjwYLp27cqOHTuIj49n8uTJPPbYY3zzzTcYjUZGjRrFAw88wMKFC8nLy2P79u1oNBoA/vnnH+655x4++eQTevbsyalTp3jwwQcBePnll0t9nx4eHrYecYCTJ0/y888/s2TJEtu1CrrnnnvYsmULn3zyCW3atOHMmTO2oDslJYV+/foxefJkPvzwQ7Kzs3n22We58847WbNmTanbVRkkKBdCCCGEEEKIGubkyZMoikLTpk3LdNyCBQvIycnhu+++swXzM2bMYMSIEbz99tu4uLiQmprK8OHDadCgAQDNmjWzHf/KK6/w3//+l4kTJwJQv359XnvtNaZOnVrqoHzXrl0sWLCAfv362dbl5eXx3XffERwcjNlsJi0tzeGY48ePs2jRIlatWsWAAQNs17aaMWMG7dq144033rCtmzNnDnXr1uX48eM0bty4LN+mCiVBuRBCCCGEqLESMnJJzTbQINi7qpsiahAPFx2HXx1cZdcujbIMc7d35MgR2rRp49C73r17d8xmM8eOHaNXr17ce++9DB48mIEDBzJgwADuvPNOwsPDAdi3bx+bNm1i+vTptuNNJhM5OTlkZWXZhp4XdODAAby9vTGZTOTl5TFs2DBmzJhh2x4VFUVwcHCR7d67dy86nY7evXs73b5v3z7Wrl2Lt3fh3wWnTp2SoFwIIYQQQoiKlmc00/XN1SgKbP5vP0J83au6SaKG0Gg0pRpCXpUaNWqERqOplGRuc+fO5fHHH2f58uX8+OOPvPjii6xatYouXbqQkZHBK6+8wm233VboOHf3on8GmzRpwtKlS9Hr9URERODq6uqw3dkQfHseHh7Fbs/IyLD19hdkfaBQVSTRmxBCCCGEcGrmulOMnLGR1CxDVTelXJbuu4jBpGA0K5xLyqrq5ghxTQUEBDB48GA+++wzMjMzC21PSUlxelyzZs3Yt2+fwzGbNm1Cq9XSpEkT27p27drx3HPPsXnzZlq2bMmCBQsAaN++PceOHaNhw4aF/hWXKd3V1ZWGDRsSHR1dKCAvjVatWmE2m1m/fr3T7e3bt+fQoUNER0cXaldJAX9lk6BcCCGEEEI49fbyo+w7n8q8rWeruillZjYrzFp/yvY6K89U5L7bTifyn5/2ccuMjWw4fuVaNE+Ia+Kzzz7DZDLRqVMnfv75Z06cOMGRI0f45JNP6Nq1q9Nj7rrrLtzd3Zk4cSIHDx5k7dq1TJkyhbvvvpvQ0FDOnDnDc889x5YtWzh37hwrV67kxIkTtnnlL730Et999x2vvPIKhw4d4siRI/zwww+8+OKLlXqv0dHRTJw4kUmTJvHrr79y5swZ1q1bx6JFiwB49NFHSUpKYty4cezYsYNTp06xYsUK7rvvPkymon8/XAsSlAshhBBCiEJM5vz5qEmZ1a+nfMvpRE7G55dwysgpXI4pMSOXV38/zJgvt7J413n2n0/lnjnbScjIvZZNFaLS1K9fn927d9O3b1/+/e9/07JlSwYOHMjq1auZOXOm02M8PT1ZsWIFSUlJdOzYkdGjR9O/f3/b/G5PT0+OHj1qK7H24IMP8uijj/LQQw8BMHjwYP744w9WrlxJx44d6dKlCx9++CFRUVGVfr8zZ85k9OjRPPLIIzRt2pQHHnjA1uMfERHBpk2bMJlMDBo0iFatWvHkk0/i7+9f5bXOr++JEEIIIYQQokrYB6Y5xqrtRSqPvbEpDq8zcx2D8hyDiTu/2MKpK4WH9Z5NyCTI2832OjEjl3NJWbSPrFUpbRWiMoWHhzNjxgyHpGkFFUwK16pVqyLLhIWGhvLLL78Ue83BgwczeHDpE+FNmzaNadOmlXn7mjVrHAJqd3d3PvjgAz744AOn52nUqBFLliwpdbuuFekpF0IIIYQQhVxMybYtH7qYVsye16djl9MdXmcUCMrfXn7UFpBHBnjy1+M9bdsuWO49x2Bi86kEBn64gds+38z2M0mV3GohxI1IesqFEEIIIUQh55Pzg/J9sSks2hnLnTfVrcIWlc3Ry+qDhFBfN+LSch2C8s0nE5i76SwA/xnUmHu718PbTc9t7WqzZM8FTsRlsOLQZZ6Zv4mu7Ge85gINXS7g/essjE2aYwhsgs7NG1Iv4OruCcFNIKIduPtV6D2YzQoGsxk3felKYAkhqicJyoUQQgghRCFnExyHdb/460Gah/vSsnbFBp6VIddo4rSlF/ymqAD+PHDJYfj6FxtOAzCuUySP9WtkWx8dpGZgnrH2JH20e1npMpswTXL+iVOB7Rucf4DW6KBeT+j7ItTtWCH3cPdX2zl6OY21/+lDoN1weiFEzSJBuRBCCCHEDSg9x4CXqx6tVlNoW1JmHrtj1GD06YGN2Rubwpqj8czZeIYPxrS9xi0tu1PxmRjNCr7uehqGeAP5w9eNJjM7z6rD0O/u4ph46p4ukei3fU6fnNU0154DIM8rApcGvZh73JXYdIUoTRx9tXvJwo0jShS9QnIIMsZBaiycXgeXD8Lju6+613zuprNst7Rzb2wK/ZuFXtX5hBDXLwnKhRBCCCFuMMcupzP0k3/o3zSEWRM6OATme2NTuGv2VjItJcQahXhTL8iLNUfjiU2uHrW+j8WpQ9ebhvni7aZ+3E3PMRKblMVby46SmWfCx11PkzCf/IMUBf/N03kkbw5owaRoWOZ5C8OfmAWunrhvi2HuLwcAmGZ3LZ8EPbe2r81/bnLB95cJkHAc1r4JQ94qd/szco18YVfObf3xKxKUC1GDSaI3IYQQQogbzKaTCZjMCisPx/HtlrO29dl5Jv71/S4y80xEB3oyqXs9+jYNIcLfHYAdZ5PZfDKhilpdekcvqUnemob7ULuWBwBL912k73vr+PPAJQA6Rgegsz6MuLALfroXNn0MwG+1JtIp93OSe78Grp4AjO1Yl0/HtWNKv4YO10rPNfLdlnO8vDEbbn5TXbltFhz5o9zt/3DVcZKz8svQfbflHBtPXP/fdyFE+UhQLoQQQghxgzl5Jb9+95vLjtoyle88l8Sl1ByCfdz4fUoPXhrRHHcXHeF+Hrb9x3+17Zq3t6yOWu6nSZgPLSPyh5Eb7Wqvd60fqC7smQ+z+8HhXwENDHmXIY9+xCeTBzGuY35iO61Ww4g2ETzevxFfT7yJZU/0pGejINv2vw5cgoYDoP1EQIEf71IDfVPZarwfupjK1xvPAHBzizDb+ul/HSlUtkoIUTNIUC6EEEIIcYM5Fa8G5f6eLuQZzcz+R018tuucOo+8e4NAfNxdbPuH+DgmGUu19uKmxMCJv2HvQki7eA1aXjrWzOtNw3ypG+BBmK/a09+mjh+1/T1oU8ePcZ0j4fwu+ONJ9aBmt8CDa6Hzg7jqtXRvGIReV/ijsotOS/9moTQL96VxaP7w91yjWa2NPuRt6PSQmvjt0C/w9zQAsvKMjPliC5+tPVlku+dvO8ewTzYC6rSBz+9qz8dj2wJw5FIa9Z77i8PVsDydEKJ4MqdcCCGEEKKcFEVBoymcKO16dyUjF4ABzUJZvOs8CRm5GExmW1DeIaqWw/56nZb372jDv3/aB0DmxSP4bX8Dji/L36lOR5j897W5gWKkZOURl6beX5MwHzQaDT8+1IUjl9Lo2zQEV50WxZCL9sB8WPsGmPKgyTC441vQlq2/KsDL1eH1N5vO8NHYdjD0HTUT+48TYMsMUMysNHVj+xnYdiaJR/s2LHSuN/86YssKD9C5fgBarYaRbWuzJyaFbzafBeDFXw+w5JHuZfyuCCGuZ9JTLoQQQghRDtP/PEzXN9cQn55T1U0pM2tPd21/dVj6umNXaPTCMv6xzFvuEBVQ6JjbO9ShlU8GH7p8RtjCAZaAXAMhLUDrAud3wMW91+oWnDp8MY175+4AoF6Qly3JW1SgFze3DMdNr0NjyEY7/zb4/XHIuAzBTeHWWWUOyAECCwTlZvvR5c1GQM//qMtbP2fUjgn84foCzTVnC53neFy6Q0AO4KrLr01+f496uGBkgm4V9yW8D789CuvfgZzUMrdZCHH9kaBcCCGEEKIcZv9zhstpOSzcFlvVTSkTRVFIzbYE5bU8Cm0P93N3zEpuZcjhQ9Nb3KrbhNaUy05zE5b3/QMe2QzNb1H32TW3Mpvu4EJKNuNnb+Xvw3EAHLyQytBP/mFvbAp6rYaXRjR3cg/Z6lzvc5vAzRcGvgb3rwR333K1wdvdcdDpyfgMxx36vQh3zuNK3cFkKm600J7jD9cXUGb3d0gEt8pyD32bBPNw7wa46rWM7WSZz56VRN1tr7LX7z+87jKXEebVsOd7WDsdvh8NxtxytV3cGGbOnEnr1q3x9fXF19eXrl27smzZMod9cnJyePTRRwkMDMTb25vbb7+duLi4Ys+7bt06NBoNGo0GrVaLn58f7dq1Y+rUqVy6dKkyb8nm22+/pV27dnh7e+Pv70+7du148803bdunTZuGRqPh5ptvLnTsu+++i0ajoU+fPoW2nT9/HldXV1q2bFmZzXcgQbkQQgghRBnlGEy25Z3nkqqwJWWXmWeyJTyr4+8YlM+a0IFfH+2en5Xc3j/v0dB8mkTFh1tzX2F03ks8vCyVhdtjoMN96j4HFkPc4cq+BQBe/f0Qm08lMvm7nQDM23LOtu2DMW3p2yTE8YCts+CjVnBqDbh4wl2LofvjV1VPXF/g+3TqSgYm++5yjYb4OoNY2fJdeud+xF+mTmg1CpoLO9WHAxveA5PBFpQPbB7Gszc34cirN6vz1XNS4btbYNtMvHLjSVD8+NQ4iottHgdXHzi/Hb4bCcdXgtmEEAXVqVOHt956i127drFz50769evHyJEjOXTokG2fp556it9//52ffvqJ9evXc/HiRW677bZSnf/YsWNcvHiRHTt28Oyzz/L333/TsmVLDhw4UFm3BMCcOXN4/vnneeyxx9i7dy+bNm1i6tSpZGQ4PhgLDw9n7dq1nD9/vtDxkZGRTs/9zTffcOedd5KWlsa2bdcmsaUE5UIIIYQQZXQ2MdO2/M+JBI5cqj7Jt1Ky8gBw1WsJ9M5P4Oam1zK4RSihlqRoDlIvwJbPAHjBcD97lEaAGpA+t+QAM06HQlhryMuA2X3h2LLC56hg55OzHV7vO58CwBd3d+CWNhGOO2+fDcufhcwr4Fsbxv8IkZ2vug1Nw/J72N30WnKNZmKT8mu5Z+YaGfzRBl745SAJ+PGI4Uk658wgvc396g5rXiNnehT3Xn6daM0l+jcLQaPRqA9FTEZYOB4uHwCvYLhzHq81WsT7xjt56PxglLHfq4F5zBZYcAcsffyq70eUgaJAXmbV/CtDFv4RI0YwdOhQGjVqROPGjZk+fTre3t5s3boVgNTUVL7++ms++OAD+vXrR4cOHZg7dy6bN2+27VOckJAQwsLCaNy4MWPHjmXTpk0EBwfzr3/9y7bPjh07GDhwIEFBQfj5+dG7d292795t2z5p0iSGDx/ucF6DwUBISAhff/210+v+/vvvjBo1ivvvv5+GDRvSokULxo0bx/Tp0wu1b9CgQXz77be2dZs3byYhIYFhw4YVOq+iKMydO5e7776b8ePHF3n9iiaJ3oQQQgghymB3TDL/+n6Xw7plBy/TLLx8Q6CvtRTLfHJ/Dxe83PLnLdeu5eE8ad3FvfDDXWDI4oxHC5bndARg5l3t2Xkuma83nuG9VSfoM2kuLbc/Cyf/hl8fgcd2gFdQ4fNVEK1dW88nZ3HCMnS8Ve0CPd9nN8Kyqepyr6nQeyroXKgI0UFe/PhgFwK9XXl84V4OX0rjRHwG0UFeAOw/n+pQbxwgjgCGnxxBV4OGqfofCDBnMEq3meG6beh/WqQGXBoNxB+B3DTQu8OEnyG8DY8HZ7D00HoOXEjllHdvGj64Tq2JvuMr2Ps9tL8bIrtUyL2JEhiy4I2IkverDM9fBFevMh9mMpn46aefyMzMpGvXrgDs2rULg8HAgAEDbPs1bdqUyMhItmzZQpcuZXs/eXh48PDDD/PUU08RHx9PSEgI6enpTJw4kU8//RRFUXj//fcZOnQoJ06cwMfHh8mTJ9OrVy8uXbpEeHg4AH/88QdZWVmMGTPG6XXCwsJYt24d586do169esW2adKkSUydOpUXXngBUHvJ77rrLqf7rl27lqysLAYMGEDt2rXp1q0bH374IV5eZf9+l4X0lAshhBBClMH0P4/Ysntb7YlJrqLWlJ11Prmfh4stERpAqI+THnJjHvwwHtLOQ2BDlkb/D9DQJNSHwS3C+N/w5nRroNb7PpzqBmMXQmhLyE7KD4Qrif3I8VGfbcZkVgjwciXcz+4+Lh+AxfeDYobWY6Hv8xUWkFt1rh9IwxAfGoV6A3AiPt227cCFFKfHnEvM4gdTP27KncVE7RusMbVFjwlit6lD0mO3qQG5Ry0Y8QmEtwGgQbA33RuoDzrWHYuHoIYw7D01GAdY9iyYzRV6f6L6O3DgAN7e3ri5ufHwww/zyy+/0Ly5mnPh8uXLuLq64u/v73BMaGgoly9fLtf1mjZtCsDZs2cB6NevHxMmTKBp06Y0a9aML7/8kqysLNavXw9At27daNKkCfPmzbOdY+7cudxxxx14e3s7vcZLL72En58f9evXp0mTJtx7770sWrQIs5P3//Dhw0lLS2PDhg1kZmayaNEiJk2a5PS8X3/9NWPHjkWn09GyZUvq16/PTz/9VK7vQ1lIT7kQQgghRCnlGEzstwyTXv9MHxIy8rh95mZ2nE0i12iqFr0dFyzDvsP9PfCyC8qDC9QiB+Dwr5B2AbxD4YE19Igz8Xf8YV4c1gytJSquY0kWdzktB/SucMun8FV/OPgzRPeEDveqPb8VYNPJBDacuMLwVhFcSs3Pep9gKfHWIsI3v7f/ynGYc7M6pD6oiVqmrBLL1zUKUYOHk3H5c1r3nS8+O/pzQ1twT7ehJGfeD1nHIekUGCz3FdgAItqDzvHjep8mwWw8mcD641eY3LO+urLf/+DgL3BpL2z/Arr8C1HJXDzVHuuqunYZNGnShL1795KamsrixYuZOHEi69evtwXmJWnRogXnzqk5G3r27FkoUVxBimV4vfVnMS4ujhdffJF169YRHx+PyWQiKyuLmJgY2zGTJ0/myy+/ZOrUqcTFxbFs2TLWrFlT5DXCw8NZuXIlMTExbNy4kc2bNzNx4kS++uorli9fjtaumoKLiwsTJkxg7ty5nD59msaNG9O6detC50xJSWHJkiVs3LjRtm7ChAl8/fXX3HvvvSV/o66CBOVCCCGEEKV0PC4dg0kh0MuVyABPIgM8CfJ2JSEjj70xKbSve/0PYY+xzHmODPDARZf/wbVHQydDzbd/qX7t9AC4+9EhCn6f0sNhlzDLHPTLaZZgsnZ7aD9RzcT+x5PqcPYx35c7IE7PMbD6SDwGk5lnFu8H4Iv1p53u2z7Srr76+rfUgLxuZ3UO+VUkdCuNBsFqUH7GLt+A9QHOt5M6EeLjxp6YFH7YEcPLI5o7lJ0L89OBX2sILxwoFNSnSTCv/3mEbaeTyMoz4umqB+8Q6DYF1r0By/+rTjkY+VmhgF5UII2mXEPIq4KrqysNGzYEoEOHDuzYsYOPP/6YL774grCwMPLy8khJSXHoLY+LiyMsLAyAv/76C4NBHWHj4VG4YkNBR44cASA6OhqAiRMnkpiYyMcff0xUVBRubm507dqVvLw82zH33HMP//3vf9myZQubN2+mXr169OzZs8RrtWzZktatW/PII4/w8MMP07NnT9avX0/fvn0d9ps0aRKdO3fm4MGDRfaSL1iwgJycHDp3zs83oSgKZrOZ48eP07hx4xLbU17ykyqEEEIIUUqXLb2zdQI8bb1AXRsE8fu+i2w+lXjdBuVpOQZ+3B7L6YRMYpLUoDEyQO1te3pgY05fyWBUu9qOByWfVWuPa7RqkF2EUMtw8Ti7nmuGvA0+YfDPB3D0D7XHvcWt5Wr7G38dYeH2wmXnGoV489ld7Rn04Qbb6/t7WuaWxh+Bg0vU5aHvqcPAK5mfpzosPiPHCMCZhExik7LRaqBtXX/8PFxoFu7L+M7OMz6XVoNgb2r7e3AhJZutpxPp1zRU3dDz32A2wj/vw/4f1ID8lhmVOjpAVE9ms5ncXHV0SYcOHXBxcWH16tXcfvvtgJpRPSYmxjbvPCoqqtTnzs7O5ssvv6RXr14EBwcDsGnTJj7//HOGDh0KQGxsLAkJCQ7HBQYGMmrUKObOncuWLVu47777ynxf1p7/zMzMQttatGhBixYt2L9/P+PHj3d6/Ndff82///3vQr3ijzzyCHPmzOGtt94qc5tKS4JyIYQQQohSiktXP8iG2g317tYgkN/3XWT98St0jPLDeB1O6f187SlmrT/lsM6aOfzx/o2cH3ToF/VrdA+1J7YIgV6uAKRk2yU007tBn/+qScvWvwWrXoLGQ8DFybz1EtgH5HfeVIdFO9XSRje3DKNxqA/jO0dyLjGTT8e1x9dNr/YS//UMoECzEaXqfa4IXq7qx+r0HCPpOQaWHVRrNfdsFIyfR8XNY9doNLSN9OdCSjanr2TSr6llg04P/V6AiHZqubU934NHAAyYBlpdcacUNdhzzz3HkCFDiIyMJD09nQULFrBu3TpWrFgBgJ+fH/fffz9PP/00AQEB+Pr6MmXKFLp27VqqJG/x8fHk5OSQnp7Orl27eOedd0hISGDJkiW2fRo1asS8efO46aabSEtL45lnnnHa4z558mSGDx+OyWRi4sSiHwSCGigHBgZy8803ExkZyaVLl3j99dcJDg62PUwoaM2aNRgMhkLz5wH27t3L7t27mT9/vm1OvNW4ceN49dVXef3119HrKyd8rg5Tn4QQQgghrgvxliHa9mXDrIm39samMGHOTtZcvP56Js8lOvYcje1Yl56NismMfvJv2PC+utyi+HrFesvcTYf63FbdHwefCEiJgTWvgTG38D7FUBTF1tGr0cBro1ry4Zg2DGgWyuQe6nzqN25txfzJXQhw18Kv/4Ive6vJ0vQe0PfFMl3valgz2V9Oy6HbW2tYd+wKUGBIfQUJsTwUupLh5PvZdCgM/1Bd3vyJWsc8p/i57aLmio+P55577qFJkyb079+fHTt2sGLFCgYOHGjb58MPP2T48OHcfvvt9OrVi7CwMIegujhNmjQhIiKCDh068NZbbzFgwAAOHjzoMF/966+/Jjk5mfbt23P33Xfz+OOPExJS+EHfgAEDCA8PZ/DgwUREFJ/Z3novY8aMoXHjxtx+++24u7uzevVqAgMDnR7j5eXlNCC3trF58+aFAnKAW2+9lfj4eP76669i23Q1pKdcCCGEEKKU4mxBeX5Ped0AD/w9XWylxg4lX399HkmZ+XM3J3WvxwvDmjkvfwaQdBoWjAWzQU3U1mZcsefW6dTzOA3KXb1gwMvwy0OwZYaa/O2WGdBoQOF9nTifnG0ryXzolcG46XXc2q4Ot7ar47hjdgr8/jgc/g00Omg6TJ1jHVL4A3ZlsU+al55jZPuZJADHbPAVJMSSKf9KehEPOTrcCzo3+PPfcPYf2PAeDHqtwtshrn+lqbPt7u7OZ599xmeffVbq8/bp08eW0K0k7dq1Y8eOHQ7rRo8eXWi/zMxMkpOTuf/++0s85+23387AgQPx9fV1SOpmb9q0aUybNq3Ic3z00Ue25U8//bTI/cLCwjCZTCW26WpIUC6EEEIIUUqJGWpwG+idH5RrNBrCfN1tQXlMhhqUBbhUbOmtq2ENyudP7kx3Zwnd7O1dqAbkkV1hwhI1o3ox9JYs7EZnQTlA6zGQm67OL0+/CL89Ak/sA5eSE0YdupgGqFnVPV2dfGzNTlFroh9fppY907nCHd+qvcXXmNP2AWGVEJRbM+UXGZQDtB2nzqVfOAa2z4auj4FPaIW3RYirZTabSUhI4P3338ff359bbrmlqpt0zV1/j3KFEEIIIa5T9jW+7dmXEzOjYce566tueXKWGpQHeBUfYKMosP9Hdfmm+0sMyAF0WmtPeRGT6TUaNXv743vAry5kxKnznVET532y+gQPfreTH3fEWM6jsOZoHLvOJfP1RjXLerNwJwn0TAZYdA8c+1MNyIMaw7gfqiQgB/B0dT5vu3J6ytX3W3xaCdMBGg+GOh3BmK0mgBPiOhQTE0NoaCgLFixgzpw5lTZv+3p2492xEEIIIUQ5peU4D8rt55gDbD2dxOCWxc+JvFbMZoVkSy9+iUF5zFZIOQeu3uoQ8FKwzik3mkoYyuriDt2fgL/+Axs/JDeqN7fPPc+FFLVu+vazSYzpGMmqw3E8/P0u22Ferjru6Vog+/OZDbDlMzizHly84J7foG7HUrW3stiXl2sc6k24nwfpOQaigyq+bFYtT/X/MdU+uZ4zGg30fQHmjVJL1EX3gOY3Xi+kuL5FR0eXeih8TSU95UIIIYQQpVRUT7n9HHOALaeTrlmbSnL4Uhoms4JOq8Hfs4Qh9ft/UL82uwVcPUt1fl1Jw9fttZsAvrUh7QK6Wd1ol7bGtikly4DBZOZkfLptXaMQbxb/qxut6/jnn2Pjh/DtCDi+HNDAbV9UeUBeUG1/D76d1Iklj3R3CNYrio+7NdN7CUE5QP0+0GgQmPJg0d3q/HILo8nMYwv3sixWQgIhqpL8BAohhBBClJI1KPd1L76n/OjldBKdZcauAu+tPAbA0FbhuOmLKY2VfA4OWsqgtRlb6vPrtcUkeivIxQMm/k5OVF/0ioG3Xb5kRN0cLKcgOTOPi5Z654/3a8iqp3urQ9cVBc5tht8ehb+nqTu3HgMPrFHLnl1nrInYKos1KM/MM5X8fddoYMz36igFwLzhPWJizgKw/0IqKw7Hs/y8loMX0iqzyTXCjd6bKwqrqPeEBOVCCCGEEKWQazSRY1DnTRfsKbcPwnQa9UPa1iruLc/KMzJl4R7WHbuCXqvh3wMbF71z8lmYOwRyUyG4qZp1vZTye8pLV6D9g11GOp97iG3mpnhpcnkz9w0GeRzDjTwSM/O4ZBnOHu5vlwhu2bNq+yxz0en9LNz2JdRuX+p2Xgu+lmB5WOvwSr2Oj91DoYwcY6Ht87acpcVLy9lyKlFdoXeDAa+g1L4JrTGb/bMf5vt/jjgkivtk7clKbXN15mJJ2piVlVXFLRHXG+t7wuUqE3vKnHIhhBBCiFJIy1aDH40mv6fSyqFEmheczYBzSY61wa+1N/46wu/7LgJwS5uI4uc2r3sL0i5AUBO4+xcoosSQM/riSqIVkJ1n4vN1pzCaFZ51fYLl7i/jnXaSWbzCEde6bDgQTWyyJSi3JkjbuwC2fwFo1PJsbcdBvV6lbt+1tPzJXpy6kkHPRsGVeh1XvRY3vZZco5m0HAN+dtMScgwm/vfbIQBe+u0gq57urW7QaDjfYSp1L9zJcN0W0v7uyxzNKEAdabD2WAKHL6bRPMIXs1khLceAv2fJif5uBDqdDn9/f+Lj4wHw9PQsuqSguCbMZjN5eXnk5OQUWRKtMimKQlZWFvHx8fj7+6PTFTMKqRQkKBdCCCGEKIXUbDWDuY+bHq3W8QO5/fB1fzcFMjQlJ+GqZD/uiLUt1w8uJiDPTVfrewOMnAG+ZUtQV2JJNDv7z6dgNCuE+Lix6r9jcUlsD+vfIuPwKpppYzn9z1ROGp5Aq9HQKtRdLc/2x1PqwX2egz7Plqlt11qEvwcR/iWXeqsIPu4u5Gbkkl6gp/z0lfyHQecSs1AUxRZAbjE352PDQzzh8it1NXE8yUK2aeuzxdwCgN0xyTSP8GXc7K1sO5PE/4Y35/4e9a7J/VzvwsLCAGyBuahaiqKQnZ2Nh4dHlT4g8ff3t703roYE5UIIIYQQpZCUWXQG8yC7uuUBlsW0qwjKU7Ly+H3fRUa0iSh3b6XBLhu6ffsKOfQrGLIgsKFaPquMdJZeKlMR2ddzDCZ+2hlLnQBPDlvqjneIqqUmQAtpCnd8w9ffzOdfZ6YwTLedBOUbtoffReCiW+DiHvUkjQZBr2fK3LaazNddT0JGLvHpOaxdG8/A5qE0DvUhNjl/iHWeyUxCRp6tZF9MYhaLTb3xuOkuWux+hbG61byo/55b8l7HhI5ziZmkZhvYdkadevHZ2pNM6BJZfC6CG4RGoyE8PJyQkBAMhqp94CbAYDCwYcMGevXqddVDx8vLxcXlqnvIrSQoF0IIIYQohaRMdf6ts6DcVa/lt0e7k5NnYNGqLdys3c59J96Gn5tAh3shqps67r2Unl60jzVH41l9NJ5v7ut01W0vMihXFNgxW11uN6FMbbQqrqc8O8/E0E/+4UyC41D+DlG1HF6bIm7irRPjecllHhP1q5h4ZZW6wd0Puk2BLo+WaUj9jcA6heLeuTsA+OfEFX54sCvnLcP/rS6kZNuC8rg0NYlemL8X37hPYEjeFlpozzHP/X0+zRvGucRQTsTlZ79Pysxj1rrTPDGg0bW4pWpBp9NVWCAmyk+n02E0GnF3d6+yoLwiSVAuhBBCCFEKiZnq8PUAL+cBbpu6/hgyU0jN+p1BrosgGziwDw4sgk4PwtB3S32tNUfVIbLrjl0pV1uNJseka37OSqEpCuz7AS7tA50btLunXNcqbk75S78dLBSQA3SuF+jwum6AJ8+YbiYNT+7Sraad1pJ0bPiH0PL2crWrpmsY4sO+86m219bEghcKBOUXU7JpW9cfgMuWoDzExw29bzDPXZrMDJdP6abZSzfXvXx6/jKHLj6unl9znvt0K2ix8QLK7gQ03qEw5K3rdj6/ENWZBOVCCCGEECU4ejmN5QcvAxDopKccgJit6BfcyaAcNVDa6tqFLi0bw+7vYPts6HAfhDav1HbGJmXx7M/76dbAMegt1GZDDvx8Pxz9Q33d7i7wcjymtIrLvv7PiQTb9Vf/uze/77tILS9XWtXxc9hvZNvafLnhNIvje7POfSA7x2rAmANNh5WrTTeCh3vX5+fd522vG4Z4A4Vrl286mcCCbTH4ebrYpg+E+bnj5arnL3MXRuSF8UHwXzRJ28gjuXNYs+YkH7sYGK7fgU6xnCsLyEqA70ZCvxehx9PlGlUhhHBOgnIhhBBCiGLEJGZxy4xN5BnVoDPAu4igfNVLaHJSSdGH8HH2YNZ7jmLNLQMgOwWOLIV1b8KYeZXa1ru/3sbZxCw2W0thAa+NbEH9YG/HHXd9owbkWhfo8RT0+k+5r6m3DCs3K2A2K2g08PwvBzmfnMXlNLUG+bpn+uDj7sLdXaOdnsNVr2XV073ZdS6ZyABP8ClmDrwAoFGoDw/3bsCs9acAbIkFs/JMAHi66sjKMzF/W0yhY8N83akb4Mm2M0kcUqI5Uu8BTh7xYVjeMgYa14MOUOBcQHfeu9wOl6B6vF9vJ5p9C2H1qxDaEhoPvmb3KkRNJ5NzhBBCCCGK8d7KY7aAHKBhwQAX4PIBiN2GotXzW9SLzDUNITnHckzf5wGNGpivegnOboSc1MLnKEJmbuE61EU5m+hYR7l+sFfhQNhsVoNygEGvQ78X1DrW5aSzy0RvNCtcSMlm4fYYWy9594ZBDnW1i9MhqpZt/rMo2X+HNOWfqX2B/MSCmXnq+6VRiJP3KVDL04UGwd5M7lmPMTfV5ZeHu6DRaljf8FkeznuSj4y3Mc/nfhj/E76TfmGltgdL4sNZ1Xga3DRJPcne+ZV+b0LcSCQoF0IIIYQo4NnF++n25mqmLT3EUkut70UPdWXpY925rX3twgfsnAuA0mQYJld/AHIMlqA8pBm0v1td3vQxfDMM3oqEGZ3Ucl/plwudzj7QXbi9cE+nM85KsAU4y9x+7C+4cgRcfaDN2FKduzh6u7aazAon4zMctv9nUJOrvoYomjVfQK7RTI7BRFau2lPeMMSn0L6tavvxxq2t0Go1NA3z5e3RrWlZ2xeA5hG+LDd34iPjaOj2ODQeRC1vN4a1CgfgwXm72B9mmd9/5A9IKd37UghRMgnKhRBCCCHsnE3I5MedsVxMzeGbzWdt6zvVC6B1HX/HmriKos4Xt/Q8m9tPxMXy6SrbYEJRLMnPhrwDA6ZBk6HgV1ddl3AMds6BrwdC2iWHNni65Gd3PnIpndI4fSWj0LqoQLv65GYTrHoZFt+nvu54P3j4l+rcxXHsKTc7BOWNQ71pU/fqryGK5u2qt03vXnU4ztZT3ji0cE/571N6MMQSZBc0sHkoLSJ86RBVi1va5j94ameXKf+VHVo10Ztigq2zKvAuhLixyZxyIYQQQgg7/5xMKLSuyCHVa6fDBktW9bYTUKJ64nZgmW1zjsGMh6sOXDzUudtWmQkQswVWvgjJZ2HerTD+B6gVjaIoZBtMtl1zjfnLxUnJcuwpb1PHj/8Mbqy+UBRY8QJsm6m+rtfbsT1Xwb6n3GhS+POA+oDB3UXLwge6VMg1RNG0Wg0+bnrScoxMWbgHV736VKhxaOGe8uKE+Ljx5+M9C623Hwav02qg2xNwZoP6IKpuR2g2UsrVCXGV5CdICCGEEMLOgfMpDq/b1PHjq3tuKryjyQBbPlOX+78MI2eARmPrKQccgmsHXkHQbATc8xv4hKvDyT/vCkd+Jz4916Hmd2JGXqnanWGZe14/yIv5kzvz66PdCffzUOeQr/pffkA+aqZ63QroJQfHnvIF22PYE5OCi07Dhmf6ElhUfXRRoTxc80dWWPMfFHyQ1LacIxY6RQfQxpIt/1JqNjTsD3U6giETfroXVk8r13mFEPkkKBdCCCGEsGM/XPyVW1rw22M9nA/BvrQPDFngUQu6P2krEaXVYOutdBaUH72cxr++36XW764VDZOWQ1QP9Vx/PcPBGMee+sTM3FK125oQrl6QF90bBqnD7OMOw+ddYPOn6k5D3oG24yu0nJVGo7EF5u+uOAbAvwc1IcTXvcKuIYqndfL/6WkXqAPMn9y5fOfWavhobDsAkjMN6ntnwhLoacnYv+UzSDhZrnMLIVQSlAshhBBC2IlNVjOYr3iyFxO7RRe947lN6tfIroWG73pYusuz8woH5ffN3cGyg5eZsnC3uqJWNNz9C3gFQ/olMg+qtcNbRKgJuM4mZDH52x28vfwoOUX0vMel5XAhJRsALzfL7MTcDPhxgjp33d0PBr8JnR8q6fbLxb63vHO9AB7oWb9SriOccxaUe7npmdyjHq46LQse6Jz/vigHPw81mVxGrhGDyQzuvtD/f9BoMJiN6kgMIUS5SVAuhBBCCGGRnmOwzc2uXcuj+J3PbVa/RnUvtMndkqitYBCdYzBxKTUHgIMX0ki1zgPXu0L7ewBoePYHAIa1DsfXXU+eyczfR+KZue6UrSa1vcSMXAa8v55P16i9ld7uenUO+V/PQNIp8K0NU3ZD10dK8R0oH/uQ8LVRLR2CdFE1PF11vDCsGbv+N4BuDYKu6ly+7vkBfZp9lv9Br4FGp2b0l95yIcpNgnIhhBBCCIvzyWpvcy1PF7yL61k0m+DcFnU5qluhzR6WoLzg8PXYJMc64jPtg+wO96JotDTP2UN9zUW61A9k7X/68O2kTtzSJgKARTti8zO6W+yJSSHdVstcoX/SD/BhC9i3ADRauG22Ooe9EuXa1XFv4KyOu6hUneoFOLxuF+mPt5sejUZT6hrxxdHrtPhYfh4cSu8FN4H6fdTlDe+oD4OEEGUm2deFEEIIISysNckbhpQQWF7cA7mpaq3vsNaFNlt7ygsOXz+TkOnweu6mM9zbLZowP3fwjyS33kDcT6/gU5dPaWhqiZt3V3o3DqZzvQCWH7rMxdQcTl3JsNWg3rBpI2kbZvOUXsNlJYDu2oP0j92mnlzrAoNeh+jCPfmVSXrJr72XhjfHz8OFqEBPejQMokGwt2Ppvgrg6+FCeq7RMSgH6PEknF4L+3+EoMbQ6z8Vel0hbgTSUy6EEEIIgZpZes7GMwA82KtB0TuazbDSMoe20UDQFe7jsCbZKthTfi5R7Skf3jqcm6JqkWs08/jCPZxLVIP1PfUfJF3xoIX2HG7zRsBZdd66u4uObg0CAZi94QwY88ha/gqdVo7ittxfeUL/C2+6fM1w3TbMGh0MeRf+GwNdHi7/N6QcQn0l23pVqOXlyrRbWnBf93o0CvVBWwkPRqzzygsF5fV6wVBLWcD174CxdIkJhRD5JCgXQgghhABmrjtFrtFMx+haDGgWUvSOe+ZBzGZw8YKBrzrdxd2S6K3gnPKzluC7XpAXI9uqQ9K3n02i97vrUBSFFUnh9M39gCM+3cBsgIVjYf8iMBl4vH8jAH7aFcvFH57Ac+sHuGsMHDFHssDYjzWmtmwwteKnZp9A5wfB1fNqvyVlVtu/hHn4otoqMigHuOl+8AwCU65alUAIUSYSlAshhBBCAOuPXwHg4d4Nih/6u2ee+rXPs+Bf1+kuXq5O5t+SH5RHBXrRqV6g42ljU1h9NI4E/Lg4cKaaQC43DZY8AO83pf3FH7mjsY6Rmn+IOLkAgCfzHmFI3ps8b5zMoT5fMc3vdXoOur3M915Rate69g8CxLVRbFCu0UBdS8k16/QJIUSpyZxyIYQQQtzw4tNzOJeYhUYDHQskzXJgMsLlg+pyk6FF7lbbX63RbU0cZ3U2QR2+Xi/Ik6hAxwD2P4v2EZuk7t++QQQ0/xX+eQ92zoXMeFj+LO8CuKr7zzUO5ldzDwAe6FmPKf0bMcXSm15VGgR7Ven1ReXx97QE5VlOgnKAup3g2J+WoHzKtWuYEDWABOVCCCGEuOHtOpsMQJNQH3yLy1adcByM2eDqDQFFzzuvG6AG3Na54gC5RhMXU9WgOyrQy5YMzuq0JQmcj5teDYA0Guj7PPR6BrbMgLVvopiNXDDXYqu5Oe8YxwCw/pk+RAVWbTD89MDGrD4az/096lVpO0TlKbanHOx6yrerWdgrONGcEDWZBOVCCCGEuOFtO5MEwE3RtYrf0TpfNqw1aIueBRgZoM6ttiZ2A7UcmqKAt5ueQC9Xh/1Dfd2IS1MTZIX5uTsOn9e5QI+noMsjnLqSyYCPt9g2+Xu6EBlQ9UPGH+/fyDbnXdRMviUF5RFt1Yz/GXGQcg5qRV+ztglR3cmcciGEEELckJYfvMS8recwmMz8sV8thdazUXDxB13aq36NaFvsbqE+6vD1hIw82zrr0PXoIE9b0P3tpE6MaBPB8id60aOhWku8bV1/5yfVu1HLx7FHvFVtvwovfSWEM9ae8pSignIXDwhvoy7Hbr9GrRKiZpCeciGEEELccAwmMw9/vxuAIC9XEjLy8HHX069pMVnXIb+n3Bp8FME2/zY7D0VR0Gg0DknerHo3DqZ3Y/VBwDf3dWTr6STa1PUr5ryOPexTBzctvr1CVJASh6+DOoT9wk51XnnrO69Ry4So/qSnXAghhBA3HPu53htOJADQINgbF10xH43MZri0X10uISj381D7PQwmhaw8tSyarRxaEfO/9TotPRoF4VPMnHadXf3pWRPa06pO0QG8EBXJ+qAprdigvJP69fQ69edFCFEqEpQLIYQQ4oZzIi7Dtrz+WDwA9YNKSJaWeBIMmaD3gKDGxe7q4aLD1RLgW4f7WueXF8y6XlYvj2jOyLYRDGgWelXnEaIsStVTXr8PuPmqPytH/7g2DROiBpCgXAghhBA3nHNJ+QnYLqbmANAs3Lf4g2xJ3lqBVlfsrhqNBj9Lz2JKljqv3NpTHl1S8F+C+7rX4+Ox7dAX16svRAWzzSkvqiQagIc/dH5YXV7/tvSWC1FK8ttcCCGEEDec5Kw8h9cdomoxvnNk8QfFWLKelzB03crfI7+uc57RzAVLzfLoKi5fJkR5WIPybIOJPKMabOcaTWRbpmfYdPkXuPpA3EGI2XytmylEtSRBuRBCCCFuOCmZ+b19A5uH8s19HfFyKyb/bfxR2P2dutxoYKmuYZ2Dm5SVR2xyFmYFvFx1BHm7lnCkENcf+1wHqdkGFEVh1Gebuen1VeyLTcnf0TMAGvZTly/uubaNFKKakqBcCCGEEDcca0/5a6NaMvuem4pNroaiwJ//BrMBGt8MjQaV6hphfmqt8osp2bbEclGBXlLCTFRLOq0GX3f1wVVqtoGULANHLqWRmWfi281nHXcOa6V+vXzg2jZSiGpKSqIJIYQQ4oZjnRdby7OYYNwq9Tyc2whaPQx9F0oZVNetpQbl55OzcXdR56BHBlxdkjchqpKfpwtpOUZSs/PIyDXa1mfmGR13DJWgXIiyqNKe8g0bNjBixAgiIiLQaDT8+uuvhfY5cuQIt9xyC35+fnh5edGxY0diYmKufWOFEEIIUWNYe8preZZiKPmFXerXkObgX8K8czt1LQF4bFIW6Tlq0OLrIf0hovqyz8BuX1YwuWDyN2tPecJxMORcq+YJUW1VaVCemZlJmzZt+Oyzz5xuP3XqFD169KBp06asW7eO/fv387///Q93d/dr3FIhhBBC1BSp2QYuWTKulyoov7hb/Vq7Q5muU7eWJShPzrYlw/J0laBcVF/elrwLGbkmziTYBeWZjokT8Y0Aj1pgNsKVo9eyiUJUS1X6l2HIkCEMGTKkyO0vvPACQ4cO5Z133rGta9CgwbVomhBCCCFqqPdXHiMj10j9YC8ah3qXfMAFa1DevkzXqWMbvp5lG+rr6Vp8KTUhrmfWoDwz18jRS+m29YV6yjUatbf8zAZ1CHtE2wprQ2q2gT/2X2RYq3D8S/NQTYhq4Lp9XGs2m/nzzz+ZOnUqgwcPZs+ePdSrV4/nnnuOUaNGFXlcbm4uubm5ttdpaWkAGAwGDIZi6iqWgfU8FXU+Ia4Fed+K6kbes6IynIjLYN7WcwBMG94UxWzCYDYVfYDZhP7iHjSAIaQ1lPB+tH/fBnvp0Wggx2DmXGIGAO56jbynxXWlLL9rPVzUQbZpWbkcvpRqW5+SlUdeXp5DEkNtSAt0ZzZgurQfcwW+5x9fsJv1JxLYfS6Jt25tWWHnFdVLdfiMUJa2aRRFUSqxLaWm0Wj45ZdfbAH35cuXCQ8Px9PTk9dff52+ffuyfPlynn/+edauXUvv3r2dnmfatGm88sorhdYvWLAAT09JriKEEEJUhbQ82BKvoUuIgl8Vdm5tvKzhpzM6GvuZebS5ucT9/bLO0ufYSxi0Hixr/TmKpmw93S/v0pGSpyHATSEpV8Nt0SZ6h18XH72EKLMfT2vZHKelX7iZNZccZ8G+3dGIu113X52kTXQ49wWJXo3Z2PjFCmvDE1vUi+g0Ch90KeaBmhBVLCsri/Hjx5Oamoqvr2+x+17XPeUAI0eO5KmnngKgbdu2bN68mVmzZhUZlD/33HM8/fTTttdpaWnUrVuXQYMGlfjNKC2DwcCqVasYOHAgLi6lyNoqxHVA3reiupH3bM1y+6yt7L+QxhVdLRbc37HK2nFwxXE4c5YuzaIZOrRpiftrt30Ox0BXvwdDho0ocf+C79vvL+1gx9lkknLVHsSb2rZmaIfaV30fQlSUsvyu3b/8GJvjzpHmGgCkEOLjRlqOgRyDmY49+9jyKACQ0BC++IKAvPMMvXmQWr3gKiVm5MKW9QA0Dfdl6NCuV31OUT1Vh88I1hHbpXHdBuVBQUHo9XqaN2/usL5Zs2Zs3LixyOPc3Nxwc3MrtN7FxaXC/8Mq45xCVDZ534rqRt6zNcP+C+qHkx1nk6v0//NimjrFLTLQq3TtiNkCgLZeL7RlaLf1fVs3wJMdZ5Nt6309XeX9LK5Lpfld6+uhfsbeFZMCqIHxibh0LqXmkJGnOB4f2gzcfNHkpuFy/E9oNfqq27gj5optWaPRyM+SuK4/I5SlXVWafb04rq6udOzYkWPHjjmsP378OFFRUVXUKiGEEEJcjVKW+K4Uczed4c/9lwCoU6sUU9riDsHpdepydI9yXbNuget4SfZ1UY15uanTN6yTX5uF+diSrSUVzMCu1ULnh9XlP5+GlNirvv7mUwm25aSMvGL2FKJ6qdK/DBkZGZw8edL2+syZM+zdu5eAgAAiIyN55plnGDNmDL169bLNKf/9999Zt25d1TVaCCGEEOXm6VJ12cdf+f2wbTncr4Tyqjmp8MNdYMyG+n0hol25rmmtVW7lIdnXRTXm5eYYOjQN9+HABTXhW0rBDOwAvafCqTVwYSf88jDc+8dVPZnbfCrRtpyYmYeiKA7J5YSorqq0p3znzp20a9eOdu3UP3RPP/007dq146WXXgLg1ltvZdasWbzzzju0atWKr776ip9//pkePcr3tFoIIYQQVcvT7froKQ7xLTzVzcG+HyH5DPhFwug55Q4kgrwds9p5VOFDCSGuVsGgvH1kLWp5qe/x5CwnPdc6F7h9Nmhd4NxGSD5b7msrisKF5Gzb61yjmVxjyckahagOqvQvY58+fSgp+fukSZOYNGnSNWqREEIIISqT13XSUxzkXUJQbh22ftN94BlQ7uv4uDvOKWxdx6/c5xKiqtmPMBnWOpyoQC9qearv8ULD160C6kNwE4g7CFeOQkC9cl0712jGaHaMG7LzTLjLgy5RA1y3c8qFEEIIUTPYP4D3qKI51QaTY4+ai66Yj0AmI5y1JJWt3+eqrutrVyPqgZ71ZKitqNbaR9ayLY/rGAlA/SBvAA5fLCbTdLCl0kH8kXJfOysvv/yZ1vJjlG2QkmiiZpCgXAghRI2XYzAxe8NpYpOybOv2xaZwPjmrmKNERUmwS8jk4+4YlOcaTXz1z2lOxmdUahtSs53Mdy3Kpb2QmwrufhDe5qqu6+uR31NesNdciOpGp9Ww4slefDSmLd0bBgLQIUoN1HfFJBc9AjbEEpRfOVrua2fmGgFwd9HahtHnSFAuaggJyoUQQtR4//p+F9P/OsLLSw8B8O3ms4z8bBP3zNlexS27McQkZRa57fO1p3j9zyMM++SfSm2DfRKqT8aVkLTNOnS9Xi/QXt3QWPuHEDqt9JKL6q9JmA+j2tW2jfpoFu6Lm15LSpaB0wlF/KwHN1O/XkVPeWaeGpR7u+ltuRmkp1zUFBKUCyGEqNEURWHtMbW27Zqj8QB8ueE0AKevZGI0SaKgynY2IX9EQl6BxEzrjqv/N5WdsMmahKpugAe3tIkofmdbUN77qq8rid1ETeeq19Kmjj8Au84lO98pxBKUJxwHc/kC6cxc9ThPV72tioH0lIuaQoJyIYQQNdp5u2y99YO9SMnK40JK/roikxOJCnMsLt22XDAoz7b0flV6Gy6rbahnmf9apLwsiN2mLl/lfHLAYQ55Sclthaiu2luGsO8uKiivFQ0unmDMgcSTzvcpQZbld4Wnqw53vaWnPE8eqoqaQYJyIYQQNdq+8ym25fQcI3M2nXXYHp+ee20bdANadyzetpxXYGSCffKmynToolpLuWWEb/E7bpkBpjzwrQ2BDSu0Df6eriXvJEQ11D7SHyimp1yrg9CW6vKl/eW6hrWn3MtNj7v0lIsaRoJyIYQQNdr+86m25SvpuXyy+oTD9isSlFeq88lZHI/LT+JWMAt6tl1QbjZXXk/ywQtqZuhWtYspSXbwZ1g7XV3uPbXctckLevv2VgxtFcYdN9WpkPMJcb1pFq4+7IpJKiZ5Zu0O6tedX4O57D3c1kRvXm56PFzUEEbmlIuaQoJyIYQQNdq+2JRC65qE+tCrcTAgQXllW2uZx2+dW20/fN1kVmxzvUEdyVAZ8oxm2/D1lkUF5VlJ8Od/1OWuj0GHeyvs+mM6RvL5XR1w08v8clEzWed45xrNRU/T6PoIuHhBzBbY812Zr2Edvu7lqpNEb6LGkaBcCCFEjWUyKxy8kFpo/WP9GlLLUy1PlZZThlJZosysSfZubhkGOAblF5Kzse8cL1PZsjI4EZ9OnsmMr7ueOrU8nO+08QPITlKzRA+YVintEKKmctPnhxRFJm30j4R+L6rLa6aXubc8My8/0Zu7iwxfFzWLBOVCCCFqrNNXMsjMM+HpqmPHCwMY1iqccZ3qMrRVuK1UVWX1zgpIyMhl44kEAAa3UIPyxMw8W0/aySvpDvvP336uUtphfTDTsrafQ+I1G5MR9v2oLvf/H+iknrgQZeFuV2Ug11BMsN1xsprwLTO+yJrlaTkGVhy6XCjgzsq1lkSz6ym/RjkphKhs+pJ3EUIIIaqnw5fUecTNw30J9nHjs7va27Z5u6mBlwTllefrjWfIM5lpU8ePFnYJ1hZsj2HBthgOXUxz2P+L9ae586a6NAguIUN6GVnnkxc5dP3sBjVI8AiARoMq9NpC3Aj0Wg1aDZgVyDWagCIebOldoW4ntezguU0Q2rzQLp+vPcWs9adoGubD71N64KJT+xAzrCXR3PQYLENsZPi6qCmkp1wIIUSNZa2PXT/Yq9A2a095Rq4MX68sf+6/BMDknvUdhre+8MvBQgG5VVHrr4Z1PnmzcJ/CGxNPwe9PqsstRkkvuRDloNFo7IaUlzAsPaqH+vXsP043741VM7gfvZzOa38ctq23n1Nu/f2dli0PVUXNIEG5EEKIGutcYiYAUYHFBeXyoa6yWOfrNw3zwdOt6MF5t7WrbVs+eqlig3JFUTgerwbljUIKBOXGPPj2Fkg5p9ZR7vnvCr22EDcS64M3tae8GNHWoHyT03nlrnYJEX/YEWvLQ2E/p7yWpbxgil2iSCGqMwnKhRBC1FjnLOV5ogI9C23zdpM55ZXNvoSRt5ueN25t5XS/B3rVZ2LXKACOVHBQnpiZR0qWAY2GwsPiT/4NaefBKwTuXwV+UrJMiPIqdU957Q7qvPKsBIg/XGhzul3yTfvKCZm2OeV6W6LOZAnKRQ0hQbkQQoga61yiGpRHO+0plznllSnXaMJgUud9elkegIzvHEnj0MLzxesFeTGiTQQARy6lF9p+Nawl7wK9XG1lm2wOLVG/thoN3iEVel0hbjS2oLyknnK9K0R1V5dPryu02fo7Wa9VkzJaH9RZg3JPNx3+lp7y5CyZfiRqBgnKhRBC1EgZuUYSMtSALLLYnnL5UFcZMnPzP5h72QXDbev6F9rX3UVH03BfQOHOzAWYPmoLexdWSDvSLGXWfN0LzBU3ZMOxZepyi9sq5FpC3Mhsw9dL6ikHqN9b/XpqdaFN1t/JjUPV6SZXLL/HsyzD173shq/vjU2RsmiiRpCgXAghRI0UY+klr+XpUjggQ+aUVzZrr5abXotel/9xo23dWg77zZrQAQDv1BN87/UxT7ssRpdyBn59GN5rDN/fDru+gaQzZa5rDPm9btb/b5uTqyEvA3zrQJ2bynxeIYQjt7LUDm98MwoaOLUGYrY5bLL+zNYLUkc4WUe7ZFoSvXm66mzD1wG+31o5pRSFuJYkKBdCCFEjnbAk94oOKjx0HeyCchm+Xiky7OZ/2mtTN78s2WN9G3JzyzDIToG5Q+hh2m7bpmi0kBGnzvv+/Qn4pC283xjWTAdT6Uc3WJPN+XoUeDBjHbreYhQ4q10uhCgT60/ROyuc1x+3UhSFqeuyWGy29JYv/6/tgZvRZLb1iFuDcuuIJ2umdS83PbVredjOt/JwXEXdghBVRoJyIYQQNcryg5f4cNVxnvhhL6DWKHfGN+cST+sX8aryKaZDv13DFtZ8JrPikOTNXpNQHzwsPWq23uutMyE7mVTPKIbkvkl0zgISHzsJk1fDgGkQ0Q50rpB5BTa8Az9OgLMbQVFs51Xslu0V6ilXFFj7Bhz8WX0tQ9eFqBB7Y1MAOB6XUex+x+MyWLTzPO/k3Umezgsu7oYz6wHHkUvRdkH56SsZJGTk4qLTEB3khaernm/u6wioFRvMZuc//0JUFxKUCyGEqDHOJmTy8Pe7+Xj1Cdu6hiGFE4sB+K16isf1v3K7biPaxfdV2BzmG9355Cw6Tv+bO77YAhQOyvU6La1qq73lvh4ukJcF22YC4D1kGkcUNQt7Fh7qsPIeT8GD6+C58zD0PdDq4fhy+GYYOX+9AMBna0/S4Pm/GPvlFlYfcew1KzSn/NASWP+2utzz31CnQ4V/D4S40WXnFT2E3Vqq8gr+nArqp660zC23PkRzd9ES4ecOqFORdp5Va5e3j6xlG33To2EQAa5GvHLiOH3mZP4FcjMgZqv6VYhqQoJyIYQQNcae2GSH190bBnJbOydlrpLOoD27AbOiIdYcjEYxqUMo87KuUUtrrm83nyUpM8/Wie3tpiu0z1MDG3Nbu9oMbB6q9ljnpIJ/FLoWowj0UhM4ZRkKTCvQu0GnB+C+ZSitxwLgvuMztq+Yz7srjmFWYOvpJJ74Ya9DQJCeW6CnfMvn6tfuT0D/lyrwzoW4sfVtEmxbtg45dyYuPX/bEa9O6sKh38Bssk038XF3oXVdf/w8XLiYmsPKw5cBCPJxsx2r3/YZ27X3scV9Cg3n3aSOoDm2HGZ2gzmD4Z16MLu/OgVGiOucBOVCCCGqvZSsPK6k57L/fCqgDpE+OX0I8yd3wc+zcJI39qm94ts1reid9yEG7wjISbENoRTlt+Os44ORgc1DC+3TtUEgH4xpS9D5v2H1K+rKjveDVounJYjPKqqnrW4ntrSezmzjUAAit7zESO1GanMFUIe/LtoZa9s9OVOtY+zr7gLnd8GFnepQ+K6PXdV9CiEcfTimrW05Pr2YoDw1x7a8zbULuPtDagyc/Nthuom3m542lmoNZy2JO61TXzi7CVb+Dz0mDIpl3ZHfYeEYSLEkfjPlqT/vP9wF6Zcr5B6FqCwSlAshhKjWzidnMeCD9fR7fx2rLAl/Hupd3yHjt4O0S7DnewBWug3AjJaU8B7qtnObr0WTa7TYJPXD8+d3teeLuzswuUd95zseXAI/jFfniQc3g/YTAfB0UXu0nQ1/Tc02cCk1myV7LjDDOIp4xZ8wEvjY9XM2uT/BG/rZRGsu8eWG0xhMauKoAxfUBzUNQ7xh2yz1RC1uk7rkQlQwf09X2kX6A/kZ052JS8sPyq/kaKDdBPXFjq/sgnL1Yaq1nKK1593TWl5x8yeAQlz922iU+x1TdVNRonupv0sa9IenDsGU3RDaCow5sPq1CrxTISqeBOVCCCGqtbmbzpKQkUd6jpHzydkAtK7j73znfT/CZ50g7QJ4BbPXqzsACQGWecVbZqgf3opIGiaKl5FrJNHSM92jURCDW4Sh1TrJbJ4SA0unqMsd7lXnjHv4A+DhWnRP+cQ52+n65hoW7zpPKt4Mz53Op8ZRHDOrUxTG69eyzu3fvJn5Est3nSAj18ixODULf2f3c3DoF/VEXR6usHsWQuQLsNQPT87KK3If++HryVl5cNMk9cWJVXieWwOAr2W6iTUnRUqWOqzdw1WnTnc5pe5Xa+B/8PNwZVFmWzZ1nwuPboW7l4BfHQhsAMPeU8+993u4fKDiblSICiZBuRBCiGpLURRb77i9+s7KoKXEqrWvc9Og9k0w8Xdc3dX9ToYNhbZ3gWKGf96DE6squ+k1krWXvKja8GQlwZ//hhkd1RrhdTrB0PfBxd22i6ctKHecU242K7bszqD2oMVTi/eNdzI47x1e8H0DGg7EjJZeugP4bprOlfRcFAUGuR0k4MeRYDZAvV5qNnchRIWzPlQrLtGb/fD1lCyDGjy3nQAodNz+OO00J2w5IAqWVPRw0amjbEx5ENQE1/AWDGkZBsDfR5yURovsAk2Hq8vzboVL+67i7oSoPBKUCyGEqLaOx2UQk5SFq15LVKAnAKPaRjjvnd01Vw26o7rD/SshpJltiGR6HjDqc+jyqLrv+relt7wcYixBeWSAp/Mdfv0X7PhKHU7qGQTD3ged44duzwI95VtOJfLq74e5UiBx1P096/PX4z1Z958+LHqoK/+67z6YsJiNXWYD0Dv1Nwyn/0GDmee136rXbDgQxnxfkbcshLBjnfOdbSgmKE/PD8qTLCNrGPER5kaDcFXy+Ld+EamWqgm24eoWTdI2w7Kp6ovWdwDQp4k6FWXr6UTyjGa++ue07QEhAMM/grDW6lSZRRNtNdGFuJ5IUC6EEKLa+nydWganZ8MgFj3Ulcf6NuR/w5sX3tFkhN3fqcudHwKtpU62pRcm3ZLxl+5PgN5dTQ50em2lt7+msX4QrussKL+wWy1lptHCmPnw9BEIb11oNw9X9f/EGpSPm72VOZvO0PmN1bZ99FoNt7WrTfMIX6KDvOhUL4A6tdRrZtXpzgJjXwCi1jzGdy5vEa1cAFcfuGMuuPtV6D0LIfJ5ltBTnmMw2YaiA6TlGDCZFdC5kDXgbcyKhh66Q/hlqcka7UsqupFHv8Mvqr3kzUdB9ycBCLOUTkvPMfLeymO8/ucRxs3emn9R72CY+Du4+UHyGTizruJuWIgKIkG5EEKIamndsXh+23sRrQaeGNCIUF93/jO4CYHeboV3PrtB7SXxCIAmQ22rrUMkMyxls/AJtSUcY9c3lXwHNc+ZBLX+sNOe8h1fq19b3QnNhoPe1ek5PK09bQWGr9tb9HBXop1NUUD9EP+m8S4uasNxy7lCT91BdUPb8eDmU8o7EUKUh7tr8T3llyxD1/WW0UyKgq1XPNerNuvN6oO6aXV2AY7D1wdqd+FmTAffOnD716BzseyjXjMzz8jSvRcBbPlFbDz8bT3r7Pr2am5RiEohQbkQQohqJzvPxP9+U4Ote7vVKzqxm9XBJerX5iNtH+QAvN2tPeV2AWAbtQY2J/6GjCsV1eQaLyvPyPKDatmhJmEFgl+TEY79pS63u6vY83iU8KEeoH1krSK3ebrqSceT+9w+YGPL1/nL1ImNPkOh34uluAshxNWwVU8o4ud3x9kkAFrW9rM9FE3MyGXH2SRSsg0sNPUDIOTYfNj/E75aNYj3IIf/uqilLGk73mHai7U3PTPXSKbdwzxrzXMb6wPXo39CZsJV3KUQFU9f8i5CCCHE9WXm+lPEJmUT4efOvwc1Ln7nI3/Y6pLT8naHTd5uljnl9kF5RDt1/uHl/ercxTvmVmTTq61Lqdl4u+lt8/AL+mP/JRIz84gM8GRoq3DHjTFbIDsJPGpBZLdir+OmV/sL8oxmjKbCcz9Hd6hT7PFell6zY8kKO/wG87GhPmOj69LD3bfY44QQV8/DVf35LWr4+uaTajDco2EQyVlq1YyZ606xZM8F6gZ4cNHcnmNKJE1yY2DJZG7RudPQNQwTOupoEsj2rI1HjycdzulpmfJiMCkYTPm/y49fTuem6ID8HcNbq7/fL+6BPfOgx1MVeOdCXB3pKRdCCFHt/LzrPADPDmnqMOewkIt74KeJYDZCqzsguofD5vzh63Y9KhoN3PIpaHRwaAmc/LvC21/dXEnPpeuba+j1TtHz7H/aqc4BHdOxLi72NeKzkuDPp9XlJsMKJXYryNUSlOcazbZhrQAvDW/O74/14PVRLYs93ss1//wfrz4BgJ+n8wcJQoiKZc0J4SwoVxSFTacSAejWMBB/S/m0JXsuABCblI0JHf/S/g+6TQH/KHSmHFppz9JWewqzouFcl1fB1XHqileBZHBWRy6nF17Z4V7165rXYeec8tyiEJVCgnIhhBDVSmxSFhdSstFrNQxoFlr8zv98oAbkjW+GUbPUgNuOj7Ph6wARbfNr5x5YXEEtr76spciSswwYnPRef/XPaXacTUarcdKTvXgSJBxX54H2fb7Ea9n3lG88mT/EdFKPerSq44e7i/MP4FYFH9LotRqGtgwvYm8hREWyZl/PcjJ8/UR8BlfSc3F30dI+shYBRTwsy9AHwKDXYcpueHgjB9u/yizvR3nQ4z3CbxpZaH+9Tou7S35IYw3Sj11OK3zythPUB7RmI/zxFJz5pzy3WaXWHovn83UnUaRCSI0iw9eFEEJUK8fj1N6PxqE+xfeSxx+BI7+ry/1fdtpDWyjRm73mt8CO2XBqjZqNSOOkzNoNwkWXf+9X0nOJ8PewvT54IZXX/zwCqKWJQn3za46TeErNYq/RwYTF4Fe7xGu52gXln61Vs+uX5VtfsITSyyOa06auf+lPIIQoN+vPX46lp9xoMqO3jJzZZHnI1jE6AHcXHbU8nSd7tP4OQKeHsFa0vKUVxY+PUUfI5BjU8mr3dItm5rpTXE7NLbyjTg+3zQadK+ydDxs/gHo9y3iXVeu+uTsAaFvHn24Ng6q4NaKiSE+5EEKIaiU+Xf2gFe7nXvyO698BFGh2C4Q6KZMGtl5Xp/Mf63QCrR4y4iA19mqaXO1l5uZ/fy6lOmY1/m3vBdvy1JubOB54yJJgr35vCGlWqmu5Wj7A59r1yA9vHVHqtlp72gF6Nw7m7q7RpT5WCHF17OuU/3vRPpq/vIKDF1IBOGYZTm5N1OhfVFCuK3t4Yn1A2zjUm7aWh3CJmU6CclCf8vX6j7p8eh2kXy7z9apKll0iuysZRdyfqJYkKBdCCFGtxKepH0SCfZyUPgMwm2HzDDj0i/q697NFnss699lodjIM0MUdQi39M+d3lru9NYF9FuNnfz7gsO3UFbUM2mujWtI0rEAytYOW/4MWt5X6Wq569UN9rsFsq1V+X/foUh+v0Whsgflbt7cq9XFCiKtnfdCZmWfk593nyTOaGf7pRs4nZ5GcpfZkB1l+dwd4OR++7qovf1Der2koQd5qsJ+YkVf0AQH1oW5nUMxw4KcyX6+q2Jd6M5pk+HpNIkG5EEKIaiU+XS2RE1JUUL76FVj5AqCoSX3Cih74aK2V62yeNJAflCedKmdra4Y0u4Rrp65kcD45i9RsAwcvpHL4ojpvs0HBuuFXjkH8IdC6qHXJS8k2p9xkJjVLva6/R9kStW36bz/W/qcP4X4eJe8shKgwdWqpP3OnLQ/rrFYciiPZ8vNcyzKXvMie8nIE5a1r+6HXahjZNoJAL/VvQ2JJPcnW8pd7F6pTlKqB2KQs2/I7K45WYUtERZOgXAghRLViHb4e7Otk+Hp2Mmz/Ul0e/CYM/6jYc+m16p9Bk7OecgBfy7DptIvlaWqNkWD34VZR4OddF5g4ZzvDP93I5TT1IUnDUG/Hg6y14Rv0U0uhlZL1A3l2npF0y1z/oj68FyXI2416BR8SCCEqXZ1aHk4fmCZk5JKcqfZcW+eSFzmnvBzD19+8rRW7/jeQZuG+BFp6yjPzTEWWZgOgxa2gc1MfHu76pszXrApH7TLKx6Xl2qYGiOpPgnIhhBDVwh/7L7Lh+BViEtWegtr+ToLy3d+BIQtCWkCXf5WYIUyvs/aUlxSUXyp3u6u788lZzP7nDAChvuqH7a/+OW3LyA7wYK/6hPjY/X/EbIOtn6vLLW4t0/WsQbn14QuAXxl7yoUQVUOj0dAhqvBDuLMJmbaecn9LT3mtIoavu5QjKNdqNbbfE95uelvCuQspWUUf5FEL+r2oLi//rzq65zp36KJjEB5neSgqqj8JyoUQQlz3TsSl89iCPdwzZzvH7LKvOzAZYftsdbkUATnkZxU3mosYvm4Lyi84317DGU1mnvpxr+31g70a4OOut/VgRwV6sn/aIJ4fapfELSUW5t0KuWkQ1R1aln4+OeQPX7d+2PR116PT3riZ74WobqyJ3Owdu5xOSlYpe8rLMXzdnkajoUmY+vfh8CUntcrtdX0M6vcFYw7snFviuS+n5pCUWcxc9Up28IJjmbeLKdlF7CmqGwnKhRBCXJcUReFoioaEjFy2n01y2Obtpqe2f4H5wnvmqVnSPQKg1ehSXcM6fL3IhDm+lhJeN2j29Y9Xn2DH2WQAJnWvx9iOdelcL8C2vUfDIHzdC/R27fsBDJkQ0Q7uWgz6Iub+F8H6gTzHoD4oCSspy74Q4rrS3klP+emETFtCTWswHuBVOUE5QLNwNenkkUtOapXb02qhzTh1+ULxCT1Tsw0M/GA9fd5di7GoPCQVaF9sisPw9NQsAzGWOeVB3urv1fMSlNcYEpQLIYS4Li3efYGZR3T0em8DL/xy0GHb3V2j0Nj3hC9/Dv54Ul3uOBlcSpfgy9oDW2RPea1o9Wt2MmQlOd/nOnAmIZNe76zl281nK+ycMYlZtjrhH41py0sjmuPlpneoUT6pRz3HgxQFDixSlzs9CK6eZb6uW4EP5NYP10KI6qFl7aJ/ZrUacHdRf8atw9gL0lfAyBjr7w1rIspi1blJ/XppHxiLTg53LjGT9FwjaTlGNlpqrleWrDwjIz/bxPBPN9rmxVuHrkcGePJw7/oAnE+SoLymkKBcCCHEdSEuLYff9l7AbOlNWXUkHig833v6rS2ZOtiuHval/Zb5yxro9jj0eqbU17SVRCuqp9zNG3wsQ9iTTpf6vNfaz7vOE5OUxctLD5WccbiUft17AbMCPRsFMapdbdt6T1e9bbl+wWRqF3dDwnE1eVLT0mdct+dmKYlmJUG5ENWLm15H94aBAMy+5yY6Ruf3nHu66m0PVO1/1u3zRlTEkOzmpe0pB7U8mkcAmPLg8sEid0u1q0Jhn3CtMrz4a347Dl9KJddoYuc5ddRSy9q+RAaoDzxjk4uZMy+qFQnKhRBCVLhLqdn879eDXCjDh6uJc7bzxA97+X7bOQwmM9vPqB9AxtxUx7bP0se6c1fnAr3kmz5Sv7a4FQa9BvrSZ+rW2+aUKyhFlcQJbKB+jT9c6vNeaxmWOd4Ah0rTM1QK1mGTfZqEOKyf3LMeLWv78tLw5o7/DwA7vla/Nh8J7uULpgsOXW0a5lPEnkKI69UXd9/EP1P7MrB5KC0i/GzrPVx1TvcPt5umUhEBb9MwHzQaNWFkiQ8qNRqo01Fdjtlc5G72c8mtNdcrQ0pWHkt25+cxWbAtliYvLueDVccBaFnbj8hANSiPSZKgvKaQoFwIIUSFe+C7nczbeo4pC3aXav/4tBzbB7Efd8SyLzaFzDwTXnqFB3tG2/aLCrTrmTXkwJ75+aW3ej5d5na6aPP/DBqLKotmHdp4rugPa1XtUmr+w4/TVzIq5JxHLqvBffMCPdVB3m78MaVn4aHrJ1bBgcXqcqcHy33dguWQCl5fCHH983bTU9fSm9vE7sGaV4GgfFynugR4ufLZXe1tgbm1F/hqeLnpibKc50hJyd4AGvRVvx79E1DLZK46HEdcWg65RhMrD13mfHL+79mUTIOzs1SIgkPuf9593uF153qB1K2l3ltKlsGhB19UX/qSdxFCCCFKT1EUW4bY3TEpJe4fl5bDuC+32l5fTMlml2WYXkNfhcgAT165pQUuOm3+EMeEk/DtcEi3lCprOhzCWpW5rTpdfk+vyazg4qwTp14v2PghnPlHnTNdiqzu19ql1PyyOKcTMq/6fIqicMHyAbR+cCnqfR9YDD9PBhRoOCD/QUY52PeUB3q5Euyk5rEQovqwD8o9XB1Djzdva82rI8246LQsfKALH/59nId7N6iQ6zYL9+VsYhaHL6XSo1FQCTvfopZFi9kKaZdYf1HLA9/tJMDL1Wm29crsKT9czJB7Pw8XW8m5IG9XEjLyiE3Kwq+2X5HHiOpBesqFEEJUqIupjnVTSxo6+MHK45xOyLTVwE7OMtiG7tX2UnuvJ3aLZnznSPUARVGTuqVfUud793sRbv2iXG21TyhkKCqbbt0uoHWBtPOQfKZc16lsF1Pyv+fWWsBXIzPPhHXgQKHs6gUZ82DVS4ACbcbD2AVX9eDCvkySl5u+8BB5IUS10sSufKWz37PW3B7RQV58PLZdheWRsA7xjkvL/xuUazQ5n6rkVxvqdAIUWDqFmDj1wXBR5c9SKuD3bFEK9pRPv7WlbfnBXvVty9aRCDKEvWaQoFwIIUSFOl5gPqC119sZRVFsWWzfGd2GIS3DAGy1yMPsk6hnJsCRP+CvZ+DsP6D3gEnL1MRubt7laquL3VBpa7K3aUsP8eiC3fkf3Fw983t+z/xTrutUplyjiQS7Bx/moobhl0F6jvqBU6/V2DIlF+noH2odd+9QGP5hmUugFWQ/5zRcyqEJUe15ueX3jqddw6HW1geKfx24xMELqcQmZdHu1VW88GsRydwGvqL+XTm5ipsOTAPAw+nwKUjJrryecmtekGbhvmx5rh93dY5ixZO9mHpzEx6yC8ojJSivUSQoF0IIUaE2FSgVs/bYlSL3PR6XwYWUbFx0GjpG1+K+7vVsnax1/N1p6KuowfjGD+GjVvDjXbBjtrpD/5fyS5aVk06rsV3PYDZjNit8s/ksf+6/xIl4u7nZ9XqpX89suKrrVYbLBUYmmCogKE/LVhPH+Xq4lNxTvXOO+rX9RHCpmCB63v2daFPXn+m3ln1KghDi+mWflLKyeVseBlxKzWH4pxt5Z8UxsvJMLNgW4/yAqG4wbiEAzRJW4ksG/+rTgPsL5s+g8nrKcwwmTlrygsy59ybC/dQn003CfHikT0P0dg+SoyQor1FkTrkQQogKczYhk++2nAPg/h71+HrjGf7Yf5GXRzTH3UmPw9J96jD13o1D8HTV06leAKuf7o1eqyWMBBK/uweXj/bkHxDUGAIaQJMh0P6eCmmztUN89obTPDGgcaH1gGVYIxB/pEKuWZEKZrg3FZVFvpQyco0ctSR583Ev4WNC3GF11IJGBx3uvarr2uvZKJiejYIr7HxCiOtDlqXm9rXg7eb4++v3fRdLPqhBXwhuhu7KEQZodxPs05V6BUs/AtmGyrmPE3EZmMwKAV6uhPkW/5DTOnw9VoLyGkGCciGEEFctK89IfFou0/86Qp7JTK/GwbwwtBnLD17mQko2YyyJ3GZNaG978q8oCkstH5JGto2wnat+zmE4shRl6yzCzZbeiJDm0G0KtBlXaYnWZv9zhgd65g8NdLiMt6UsWFZipVz7alxKqdie8vu/2cG2M0lACUH5lWOw4E51uckQdU6mEEJcJ7yL+f2lKAoajYZ/Tlwh12BmQPPQ/I3NR8L6I9yq20i211O20pn2ciopKLfWVW8W7lPiKCUZvl6zyPB1IYQQV23cl1vp8946Vh2OQ6fV8NLwZmi1Gm5vrwZq+2JT2Bebwg/bY23HJGcZiE1Se3n7NwuBtItqBu+vB8LmT9GYDaR4RGO8eyk8sgXajq/0zOeZdr04eUa7hESegerXrMQCXehVz1oOTWdJWnc1QXlGrtEWkAO4653Pp8RsggVjIDUWAhvCzW+V+5pCiJrv1nbq34Lb2l27h3c+BXrKbdU7gByDmVyjiQe+28mD83Y6lJWk9Z0Y0dFTd5Bua0bT4NhsvFED3zq11IfKBpOCsajkoFfhoqUdDuU/i2BNZHchOVtti6LAsWVwfmeFt0tUPgnKhRBCXBWzWWHf+VTb61Fta9MwRM22O7xNhMO+qw7H2RKoWT8EBXm74pl+Dr69BQ78pO7YZCjGYR+xvsk0lMhu1+AuVJl28x1znQXlZgPkFl2upipcsPSUWz8smq/iocHBC6kOry8VmK9uc/QPNRO9Ry2YtBL865b7mkKImm/6rS2ZNaEDr41qWfLOFcS+p7x7w0D2vjTQ9vAyLcfAheRscgxmzApsO53/MJLABnzmMhGjosU78QBRe95ljuu76DDRIsIXLWZAIcdY8UF5YoaaQC7Qy7WEPSHUxx1XnRajWSE+9oT6UHvhWPiqP/w9TR3NdJ09RBZFk6BcCCHEVYlNdhw6d3fXKNuydXid1eFLabZs7NYEZXe6b4PPOkPiCfAMgsmrYdxClLYTQHNt/0xlFdVT7uIOrpYM75kJXE+sDzfq1lK/19Ys8uVxxq7GubuL1qH8jo3JCGteV5c7TgavwHJfTwhxY/B01XNzyzCHTOyVzX5OuY+bmrTS1xKop2YbOJ+c3zu+7Yzj1KTvGUa33E+51OMNzC7edNIe4zX9XO5kFdvdHuFn12nkJsZS0awl2EoTlGu1GuoEeBCtuUTI/H5wcHH+xo0fwmedYEZHSD5X4e0UFU+CciGEEFfFOgfOqm6t/DpmzpK7zdl0BkwGUi+f4S7d3zyV+ZHaA12/D9y/Mr/8WBXIzMvvKc8rODTRM0D9mpXE9cT6cKO2v/p9v5pEb9ZzjetUlwPTBjOxW7TjDooC27+AhOPgEQDdHi/3tYQQojLZ95RbSy1ah7CnZhscHig79JSjPpSNpxaZrSeSMuA9AMbr19D/1FsEadLooD2B/3f94OymCm2ztbxloHfpSku6aeF9l1noDRnkBrVUH2qPmgXRPdUEnIknYOULFdpGUTkkKBdCCHFVdsekOLyu5en8Cb+rXv2T4394Phmv1uG29YOZ7jIHF8UAjYfAhCUQ2KCym1usbLue8tyCiXw8all2KrruelWwluYJ8lG/71dTpzw+XQ3KQ33dHWq4A2DIUYdGrnhefd17Krj7lvtaQghRmYK88gNba5UKW1Bul9ME4HRCJvFp+dN1rCOl3PRaNC1v5xnDg/xjakmOXwP+pCdHzXXR5STBr/8Cc8UNY0+09pR7l9xTDjA5cD8dtCdIVzyYXWe6+lC77Ti49w94YI2607Hl193DZFGYBOVCCCHK7d0VR/lyw2mHdVqt82Rsj7bR8XnEX7zh8jXemhwMio6LSgCXOr8IYxeAtoikYteQ/ZzyQj3lrj6WDRlcT1KyrcMd1Q+gxqsIyq095U5L8ez6Bo4vB60LdH8COj5Q7usIIURls/9bZM2W7msJyo/FpTNr/SmH/T9be5KnF+0lLi2HXKO6v5tei7e7np9Mfbjb8DzGR7bzuttT3Jr3CiYXb0g5B7FbK6zNyZagPKAUw9dJvcDIpDkAzDYOY2+qt+P2iLYQ2kodibZvYYW1UVQOCcqFEEI4UBTFNoTO6scdMUxdvI9Lqdl8v/Wcbd7bZ2tPOTuFg2X/6sCcRpt5/PBYhiZ9D8CXxmE0zv2W/9VbRPiQZ0B7ffw5KnJOOYCb5QPPdRSU5xhM5BjUdlp7Vq4m0dvlNPX/PdSvQFBuzIPNn6jLQ96Gga+CTqqqCiGubx+PbUuQtxsvDmsO5Afl7644ZtvH+hDy2y3nWLL7And+sQXrs01XvRYXnZaVT/VixZO98HbT4+6iIxt3kqKGqDvt+6HC2ptueTDs4+5S/I4JJ+DL3uhTzpDnHsRc083sOJvEtKWH2H8+JX+/dhPUr6tegiN/VFg7RcWTv6hCCCEcvLviGJ+vO8WsCR24uWUYiqLw7M8HAFi08zwA647FM/sex7nf3RsGcm+3euoLsxn2/wg7vqLZpb00M1t6oOt2Rml3Nz+vi8Q9OZvnhzW7ZvdVGuft5hjmFgzKXS0lanKvj6B8zdE4Plx1AlDLoVk/bF5NSbS4tCJ6yvcthLQL4B0Gbe8q9/mFEOJaGtm2NiPb5pdhsy+LZtUhuhZ/7r9ke30uMf/vgJulLGTjUB/bOmuulMt1hhB88ic4taZC2pprNNkeBnuXlBBvywzIvAIhzckZ9S3GmafJzjbwzeaz7DibxJ+P91T36/QAXNgFBxbBLw9BgxPg6ln8uUWVkKBcCCGEzaXUbD5fp/Z+v/HXEW5uGcZFJ2Wx/j4ST3y6Y2/6/Mld8l+s+p/6ocHKPwp6/hva34NGo+HHpnlkG0yE+3lwPdlwPD+zeqGecmv29bxMrgezN5zhgKWEmaerDhfLaANrUJ5nNNvm8RfnZHwGbnotIb5uthEQDkF52iXY+IG63G2KmoleCCGqIWdBed8mIQ5BuT1nv0M9XNR1cbXa0kqjg9RYSIkB/8iraltmbv5ILS/XYqZzmc35vd6Dp+Mb0ZhlT9Tmkfm7OXwpjRNxdg+OtToYNRPO/gPpl+DCTqjX66raKSrH9TFeUAghxHXhc7vh6FcsQffxy+mF9vNy1bHsQP6HmHn3d1IXks/B70/mB+R9X4QnD8CT+6HDRNCoc/z8PV2vm4D8+/s725ZjkvJ7SAoPX7fOKS/8/agKZxPzHw6k5xhtMwBMZoWfdsbS4uXl/H04zumxu84ls+5YPGcSMhn6yT/0fW8dfx+OB9QPof6elg+uF/fAzK6QfBa8QqDDvZV4R0IIUbkKBuVPDmhEhH/+g0YPu4ohOq3GVtfcnrWnPFNxh7qWv33r3oK0i1fVNmtOEw8XHfqCiTbtXdwNWQng5qtmWQeig7x47442APh5FnjwoNNDVHd1+dzmq2qjqDwSlAshhADU7LQ/7Iixvc42mMgxmGxlY7o1yK9HHeHvwdpjVwB4cVgzejYKhsxE+Hog7Jqr7tT9Sej9zFX3HlS25hH5GcSz7TKuWxP92FxHw9cVRSE122B7PbhFKDrLAw+TovDM4v0YTAqTv9tZ6FiTWeHeudu5d+4O7vxiC3lGM0azwlcb1YR9TXxy0BxfAYd/gyUPqtnmw1qp2XzdvAudTwghqgvfAnO1vd30Dg+I6wV52Zbdihhp5Gnpxc7MNeU/qNw7Hz5sAft/Knfb0nPUoNy+lJtTJ1aqXxv0BV3+/Vh79Qs9UAaI6qZ+laD8uiXD14UQQgDw5fpTGEwKXeoHsOtcMgaTQlJmHvGW5F8NQ7xpEOzNvK3n8HHXczJeDU5b1/EHkwF+mggZceAXCaM+h+geVXg3pafXOc8WX/Tw9aoPyjNyjbakdH8+3oN6QV4cvqjWiy9YEi0lKw9/uzJ1iRm5tg9/1tEQ3bQHufniDh5zSaBbzjFYmOVwDkbNguAmlXU7QghxTRQsNebpqicqwBN/TxdSsgz0bRrM4Uvq79Kipv9YA/v0HAN0GqPWA9/+JZzfriZUaz4S9KUraWYvw9JTXuJ8cmtQ3miQw2q30gTlsdvVxJ3laJ+oXNJTLoQQgtEzN/PtlnMAPNq3oa0cS1Jmni35V4iPG4NbhAGQkJFnq/va2D0VfrpXnbPm6g3jf4R6PW1D1a93LkVkfs8tWBLN7fqZUx5neVDi466nRYQfnq562zDLgiXRbpmxiS2nEm01yC+nOeYI6K3dxwLXN7hHv4r+uj14KFkQ0ADqdlF7yHv/F8JaXoO7EkKIytWlXiB6uyHpXm46tFoNq5/uzTu3t+b+HvVt24pKmmlNqpmWY1D/zrW+Qx1J5BMO6RfhQPl6yzNLE5Snx6nTigAaDnTYZH2IUGiUF0BQE/AIAGM2XNpXrvaJyiU95UIIcYPLyDWy81wyAK46LT0aBlHL05W4tFw1KLf0pob4uuPlpg7bs8697u0Vg//cB9XeY40WbpsNoc2r5kbKqaie8lxDET3luVU/p9z6oCTULiGbNSg3mxVqebqQnKUOb49JymLc7K1EBniyYWpfWy3yxqHeNA1y5eXzCyAXzgX2IMa/M13btUHffMR1U6ZOCCEqip+nC13qB7LxpJrU0xoAB3q7cWfHuih2JSUNBR/MWvhahpenZRvzV+rdoMu/1J7yDe+qI8VqRZWpbeklBeVmE6x4Tl0Obws+oQ6bXS3z0M0KGE1mx3npWq3aW370Dzi3Cep2LFPbROWTv7hCCHGDO5uQ3/P77aROaDQah57yeLsA0P7DQgQJfMI7akBeuwNMXg1Nh17bxlcAvZNEPgCJlkzkNtfR8HVnpcu0dnPK7YerW1kfpFgfskQFevFJ9GYCc2PBO5SoBxbS8+6X0LccKQG5EKLGGtwiP5j1dHUMgDV2I7ycDgMnv6c8PcfguKHDvWpCzOQzMKsnXNpfpnZZe8qtD78LWf0qHPwZtC4w4OVCm+2H2+c5e6BgHcIes6VM7RLXhvzVFUKIG9wZS1B+U1QtulqSuVl7YC+mZttKn4X6uuHlpqePdi/fuLzNarf/4GdKgpAWcM9vULt91dzAVdJoNLg46S2PKzDM+3oavm4dgh7i62ZbZ+3xN5kVsvKMTo8DOBmXzk2aozyb8Dysfk1dOfA1cPct8hghhKgpBjYPsy276oueZlXE6HV8rD3lOQV+z7r7weRVENEOclNh08dlaleOJdGom4uToNxkzE+iOnIGNOhXaBeHoNzpvHJLBvZTayH+aJnaJiqfBOVCCHGDs9a6bhSan1k7OlDNQHsiLsNWuzrExx2/ixuZ4/IufXT78NDkkRvQVJ1Dbi0XVk3pnfQMxxcMyq+j7OvW5Hv2PeXW7OsJGXm2OecFZeeZiDl3iu9d36Rh2jZAgTbjofWdld5mIYS4HoT5uXNX50jaR/rTsrZfmY+3JnpLyzYU3lgrGoZ9oC4f/QOyU0p93lxLIO2udxKUn98BOangUQta3eH0eL1Wg3Xgl9OgPLwNNBwAplz4eTIYnf+dEFVDgnIhhLhBXUjJpt/76/hyg1oKq2uDINu26CBPALafSQLARaehVuIePP94CK1GYZmpI0Ny38T1sc3gX/faN76C2c8rt5a7iUvLdZhfiOv1U6fc2ZxyrZNh+H893pOjr91se52clUf/xAW4awzkhLSFx/fArTOrTVI+IYSoCNNvbcWSR7rj5iQAHtBMHd7+zGDnFSccEr05E9EOgpuBMQf2/VDqNll7yt1dnIRnJ1aoXxsOAK3z4e0ajcYu2ZuToFyjgZGfg2cgxB2AI7+Xum2i8klQLoQQN6h3lx/l9JX8odj2dcgbhagBqJphXeED96/QzBmEJiuRg+ZonjQ8ykX3hmiK+HBQ3bjaJcSJDFAfSGQbTLYSNYDj8HWliHGN18hlJ0G5s7nx9YO9cHfR/b+9+w6Pqkz7OP6dlt4IJIFA6L03KTaKgCJiWXtZ27r23nV11X3XddW1113d1XXtvTfEhlIEpIP0FiCElt4mM+f940xNJsmkt9/nurxm5sw5Z56RAzP33M9z36TEm9Pc9+/eyunMBcA19c+Q3LvSMSIi7dmDpw7j3csncuXkPiGf97dEq2KZkMUC4y4x7//wd9jwVZWfGV+u3sO5Ly5kb14JJZ7iopV+KDAM+O0z836FNmgVeT/LQq4pB7M43DDPzKjMJdWeS5qWgnIRkXZq2wF/L+qBnePpFOdfnzyoSzzdOkQDcLrtB2a75pq9WEedR/EZb9ItpQP/vmBsk4+5sQRmypNjI3z9XnMDpyd6p6+7y5t92p93+npawJpya4Vs9+0zBxLlWZuYHBNBFKV0+epSIi1OfnEPJKb/lKYbsIhIK9ExLpKxPZODir4FSoj2Vl+vIlMOMOr3kDYUig/B62fAvyZD0cFKu13+6q/8vOkAD3y+rupMefY62L8BbJHQ/7hK5wgU4QnoqypSB5iZfIDdv1Z7LmlazRqU//jjj8yePZv09HQsFgsffvhhlftefvnlWCwWHn/88SYbn4hIW/Lxit2M/9s3LN5mfjEIDDgHdQku8mWxWDhpZDrdLNncY3/F3HjMn+GkZzhs6CDm3jSZsT2Tm2zsjS1wTXm0w0ZSjJkJySkKDMr9a+6bswK72234eo53TqzcEg3g+mn9uHySP8szpmcH/mJ/mZTcVRwy4njQcQUWVVgXEam1eE+mvLDMRXlVGWl7pFkAdeLV5mfHnuXw06NVnnPrgSJff/GoioXelr1q3vadVmNBTu8PytUG5d6irHtWmgXkpEVo1k/kwsJCRowYwTPPPFPtfh988AELFy4kPT29iUYmItL2XPvGMvbmlXLruyspLC1n+wH/1PWj+nWqtP85Set4M+KvxFlK2Bk/Ag6/pimH26QCq69HRdhIijZbigVlyq02cJhT25uzV/nBojKcLgOLhaDZDYHT1ytOfzxxcAdOtM0H4CrnteTF9mqawYqItDHe6utQzRR2gNhOcOz9cPrL5uNfXoDt/nZk3sw4gMvtptQzfT0oU774RVjoiZNGnFXj2Lxryqucvg6Q3MeskVJeDPtUhb2lqKI7fdOYOXMmM2fOrHafXbt2cc011/DVV18xa9asGs9ZWlpKaal/WmFeXh4ATqcTp7OaaSa14D1PQ51PpCnouhWvrfsLGX7f1752L3fOHMAJQ1ODrg3Lrl9J/+IiLBaDTKMTO496hM4uN1T3Qd/AmvKaDQpobRbio8yg9kB+cdDr2yNisTiLcBblQnzz/F3KzjWXHSRGOcDtwuk2v9i5AzIedqsRNO6MvGVEWZzsMZKZ7x7C2Gi7/i1oJPq3VlobXbO1FxNho6jMxYGCYuIiaiiU2WMSth5HYt3+E7x0HO5+x+I69WW2Hyzz7ZJb5PS1snRYPX8WuZnYP78VC+CaeC3uvsdBDX9GDs9nWVFJWbV/nrYuw7Fu/5nynUswOoYuaNfStYbrtjZja9agvCZut5vf//733HLLLQwZMiSsYx544AHuu+++Stu//vprYmJiGnR8c+bMadDziTQFXbft08ZcC+DPnro8EfnQDm7SctbwxRdrgvY/bOtTpGOwI24Ur3e4kkF7dvP5nt1NOWSfprhmiwttgPllJnt3JqVlAFZ+WrwMY4e/QM8xTgtxwMIfvuZg3PZGH1co2/IB7NjcZXz++ee+7YVOczvAhnVr+fyQ/8904M43AJjnGgZYKC84GHSsNDz9Wyutja7Z8DkwPzO+/OZ7MuJq3J2IhLMZ2sFN15xFWDd+xY+v3s+P1vF4P5d3HSoi1l0IWFm/dg2fH1hNr31zGG64OBjbl3nFY+CLL2p8He9n2c8LfyFnfdUFSQcXJ9IP2LnoI1bu7hDOW26xWvJ1W1RUVPNOHi06KH/wwQex2+1ce+21YR9zxx13cOONN/oe5+XlkZGRwYwZM0hIqH4dRricTidz5sxh+vTpOByOBjmnSGPTddu+lJW7fdPYth0o5K7nFwGVp9nNGjeQ44/sGbwxZzv2ZWZV1i7nPMVNKQMbebShNeU1++KOhewqMmdWDejbi5xiJ6sO7Saj9wCOn+SvUG7b8whkZTNx1BCMGqrgNpZ5m/bD6l9J6ZDA8cdP9G3PL3Fy55LvABg5fBjHj+1mPuEsxv7c7eax7mEA3HryeA7r2bq/iLVU+rdWWhtds7X39Oafyc0uZPjY8Uzs3bHmAwA4E+P7B+DnR4jN/Jb/lBzue8aNhVyigRIOGz2S40d0wfb6vwFInHAex0+oebYwwCu7fmFnYQ7DR47m2CFpVe5nWVsGH3xOj4gcuh1/fJjjb1law3XrnbEdjhYblC9dupQnnniCX3/9tcrqh6FERkYSGRlZabvD4WjwP7DGOKdIY9N12/ZtP1DIzCfmccbYDO49cQgfrsgiv6ScDjEODnkKl0XarYzqnsTph3WvfD2sfB0woPcUHOnDmv4NVNAU16wjoCVabFQEVk8RtLxSF3a73f85FJ0EgL28EJrp75F3CWNCVPD/l0h3wBT8CM9z5WXw3V8gfzf7rSl87R7LPbMHc3i/1KYedrujf2ultdE1G76E6AigkCKnUbv/Z+P+gDH/cQ4z1tLfspMNRobvqT25ZgHP2KgIHK4i2P4zALbBJ2IL8zWiI8zQrtywVD+uLkMBsB7YhNVuN9u4tVIt+bqtzbhabOnVefPmkZ2dTffu3bHb7djtdrZv385NN91Ez549m3t4IiIt1uuLdlBU5uLl+dsA2JNjftBfenQfjhvSGYDnzxvDm5dODCoUBkB+lr/S65gLm2jEzS8wKDerr5uF3l6Yt5U/vrLUv2NUonlbktuUwwtS4InK46KCf1cPrL7usFmgrAj+PR0WvwBAxPF/5b1rpnLRESryJiJSHwlR3rZotaxentiVPV2OAeCPts9C7hLlsMLGOWb7zU79oWPofulVHktwEbmQknuDxQqleVCwN+zzS+NpsZny3//+90ybNi1o27HHHsvvf/97LrroomYalYhIy9chNsJ3v8TpIivP2z4rkssnjWZvXmlQKy2ffRvglZPMD+iEbjCgdU5pq4vgoNyKPeDxN+sCvrD4gvKcJhpZZfmlnqA8MvgjPLBPucNmhRVvmG14opLg+H+QMPx0hjbhOEVE2qqEaDMDmldS+yJjP3Q8k7N3f83p9h85QCIfJl/Cb9n+biiRdhus8qwfH1B9QeyKvO3UimsKyu2RZmB+YBNs+wmGnVar15GG16xBeUFBAZs2bfI93rp1K8uXLyc5OZnu3bvTsWPwGg2Hw0Hnzp0ZMKB1VgkUEWkKMRH+gm6PfL2eX3ccAiAtIQqLxRI6IAf44hbI323+Mn/2m2CPCL1fG2QPaIkWHWEjJiL449EwDHMKewvOlAdWkLdbMNvvAEy6DYaf3lTDExFp8xKivEF57TLlbrfBUxs6sMd5Gjc63uVy+ycMjUrgxvjfkZ1vdo/q4iiAjV+bBwwIby25V3S4QTnA0FPhhwdhwTPm/VY8hb0taNbp60uWLGHUqFGMGjUKgBtvvJFRo0bx5z//uTmHJSLSqhWV+T+MX5i3lRJP79O0hCqCcYBtP8OW78HqgHPfrdV0ubbAbvV/HEY5bCTFBK8DKy33tIKLSjJvS8Iv3tLQCkrNzEx8xUx5QFCecmAJ7FsHjlgYdW6Tjk9EpK1LiPZOX69dpjy32Mnu3BKedP2Om52XAXB49uv8vsch3z49Ft1jTitPHQLdxtbq/N5Mufdzv1qH/RFskbD7V9ixoOb9pVE1a6Z88uTJGEbV5for2rZtW+MNRkSkjfAG5VEOK+Uug3K3wdCuCfRIrqItpGHAd/eb90f/Hjr0aKKRthyOwEy5w0ZSdPAsgVKn2/yy0wKmr+d4ivXFRlb9Ed5t8+vmneGn+8csIiINIj6q5unr8zbu48Nlu7ntuAGken4UP1Rk9iaPi7ST2fUUPt65khNtC7jU8SXrhl3JxSkbscz/ACw2OPkZsNqqPH8o0RHeoDyMTHlcCow8G5a+DEv/Cz0Or/EQaTwtdk25iIjUjffD+PyJPZk2KI09ucWcOCI9dCeL4hz46VGzyqstAo66qWkH20IErSmPqJwpLyl3kYgD4j0tZnIzm3J4QZZsNzMq/dPiKz1nxc119vfotMOzHnHsH5pyaCIi7YJv+no1hd6e+34z8zcfYHdOMa9eMh6ny02OJ7OeFOPgxQsOY/OK2+Dzk4lc/xHPXnUnfPGOefD4yyF9VK3H5VtTXhZGUA7Qd7oZlO9fX+vXkoaloFxEpI0pKjO/JEQ5bIzrlVz1juWl8NLxkL3GfDzxKkjs1gQjbHnsFTLliRWnr3unAnbsZ97u32TOMKjHGrxyl5tv1mUztmeHylXwq3CgoJSt+wuxWOCIvhV645YV8nnHJxlY+Iv5ePzl0GV4nccnIiKheaev53sy5Rv35nPvJ2u47pj+vs/dXE8AvmDLAfrc+TkdYhxc7Ol+kRTjIC7SzohxU2DVBNi5EJ4a7X+BcZfUaVy1WlMOkOzpxnFoW51eTxpOi22JJiIideOdvh5Y8C2kHx40A/KYTnDmqzC1/dbzcFRYU15xvXZJuecLjq+NTC4UZNfrNf+3cDuXv7qUk57+OexjvFMfE6IcvumTPktf9gfks5+AmQ/Wa3wiIhJaxUJv/12wjZ83HeC9pZkcKizj7cU7OVBQFnTMoSInj8zZAECHmIAlUqf9B7qN8z/uNcn8rKmDsFuieSV5lqsVHzJnzkmzUVAuItLGFIcTlGcuhZ8eN++f8BgMmg3W9vuRULH6esWp/r4vOI4o/5eY/Rvq9ZreVmu7copr3PetxTu4/7O1vuq8idGOyjtt8wT3fae3qx7zIiJNzdcSzZMN/2XrQcDMUE979AdufW+lrx1pqAlVQf/uJ3aFiz6HIb8zP1/q8YOqN1P+6co9lJaHEZhHxkFsqnlf2fJm1X6/gYmItEKl5S7cbrNA5uZ9BSzbcajSPt5MuffDOUhZEXxwBfx7OhguGHIKDD6xUcfcGgT3Ka/8/81XfR2gk2cK+4GN9XrNin3Gq3Pbe6t4Yd5WbnxrBUClNe8YBuxcZN6fdFu9xiUiItWL97Sk3JVTTFZuCRv2FgDw5eosDhQGZ8g7xvqXJ2UkRwMwrmeFpWU2B5z+Ely3AlIH1XlcUQGfX68u3BHeQR16mrcKypuVgnIRkRYsK7eE/QVmdjTzUBEj75vDNW8uwzAMjnnkB055dj7Znl/jvbxrySr22qa8FN46D1a8bgbkvafA8Y80yfto6SpWX68oaCpgp/7m7f76BuUhst0hBL62N/NSKVN+YDMU7Tfb22gduYhIo0oIWD404YG5vvtlrsqtyDrF+aeqf3rNUdx23EBunN4/9Inr2Svc+30BYM3u3PAO8q0r31qv15b6UVAuItJCFZaWM+GBuRz54Le43Aa/bD1IsdPFZyv38MGyXb79Kk5/zvW0zPL+kg+A2wUfXwub54IjBs7/GM7/EGIrFAtrp+wVqq9XVBrY87VjX/O2ntPXA/98XG5/e9CC0nJ+3rTf1zLU2wItUELFoHzdR+Zt19FgD69onIiI1E3Q52sNZo9IByA2wkZitIMrJvfxtUhraIHFXVdlhhmUK1PeIigoFxFpoTbszQegxOlmd04xhwKCsxvfXuG773QZQcftyTWD9C6Jng/9g1vhX5Ng5Zvm4zP/B70nNeLIWx+H1Z+diLRX/mgsKW/4THlspD/4965LBDjznws498VFfLUmC/AXdwsUlCnP3QU/emY8jL6gXmMSEZGaRYVaHubhnaIOZiD+x6N6c8/swXxyzZGNPq7h3ZL478Vm0biN2QUcKqz8+VGJNyg/qEx5c1JQLiLSyA4WlvHrjkMUllbdzzSUHQeLfPc37SsImpYWyNuSBczsurcabJekaHOt8cfXQNYqiEw0q3L3nVaHd9G2edeURzv8Rd5euugw3/NBmXJvUJ6zA5w1F2mrihHwW8pBT+Bd4nSxZnceAF+sDg7K+6TEcnT/FADS4gOyLN/+HzgLIWM8DD+zzuMREZH6G9vDn62Oi7ITYbdy0RG96J0S1ySvP6l/Cn1TzddavO1gzQd0UFu0lkBBuYhII3r4q98Y/X9z+N2z87ntvZW1OnbzvkLf/S37CtmXX1VQ7g/29+Saa47jI+1mIbE1H8C2eWCPgst+UFXuKninrwdOXZ8yIJUZg9OACpny2E7giAUMyNtd59d0Bqw99P5gs2DLAd+29CQz2/Lpyj0AxEc5eOT0Edxy7AB+P9FTAd4wYP0X5v1p97brCvoiIi1B706xvvshC642gcM8heTCC8p7mre5meCqvFxKmoY+vUVEGsm2/YU8891m3+OfAtYJh2P1Lv96sM37CnxB+Z+OH0REwBro/BInbrdB5qEi9noKgaUlRsHOX+Czm8ydjrjOX8xFKvEWeqv4BcrhmcruDKy+brFAdAfzfj36ugYuOygsNYP+uZ42aeCf0v76IrOCbpTDSkp8JFdN6UtyrKdw0KGtUJIDtgjoOrbOYxERkdoZ26OD737ngDXiaQH3bdb6FW6rq/GeteXeVm3Viu9s/nBvuCB3ZyOPTKqioFxEpJFsO2Bmunt2jMFhs5BT5CTzkDnd2TCM4IreFRiGEdTubHN2AVmeLHj/zvG8ddkEX0utvJJy7v1kDUc++B3v/ZoJwE3lL5ptz4oPQtowOOrmRnmPbYXd88UpyhH8sWj1TGWv9FNKdJJ5W1K5JV24Aqv05haXsXDLAb5c7Q/Kc4qdQdfIeRN6VD7J7mXmbdpQsEdUfl5ERBrFvScO8d0PbFMZF1AErrmC8sM8Qfnq3XnkFjm575M1PPDFutA7Wywq9tYCKCgXEWkkuZ5MZ3pSNCO6JQEwZ60ZdL29ZCcD7/6SLz3rhitaszsvqLDb8p05rPcUfuuaFM2o7h04Y2wGAA9/tZ5XFmwH4P1fdzHYso2ZRR8DFhh5Hpz7jgK2Gngz4hUrr3u/T7krRuUNkSkPyL7f/dEazvrXwqC6AXnFTt9yhGiHjVnDulQ+ya5fzdv0UXUeh4iI1J4jYMZaYEeMwMrs0RVbkzaRrknR9E6JxeU2uPndFbz08zb++cOWqmvbeNeVq9hbs1FQLiLSSLxBeVKMg1nDzYDqG8/05NveWwXA5a8uDXns3HXZAEwblMphPTtQGhDAdfWsNU6KcWDDRQ9LFsdYl3Ki9WcyLHu5x/GKuePQU+HkZyAhRDAnQRxWf6G3QL5MecVlB1GJ5m1JTp1fM3BNeah6AbnFTnZ5ZlZ07RDtK0AXZPdy87br6DqPQ0REas+77AmC+5bHRtq58/iBxETY+EtANr2pnTfenF3lTQaAOQMrJG+mPLuKbLo0uub5+UZEpB3w9pdOjHYwobfZD3xlZi7lAcEYmAFfxYDr29/MD9EZgzvzu9FdufClxazetJXZtgVEz/kWyku4dO8mroxeit2o/CFbZo0mYsqdjfG22qREz9RD31ptD4svU14hKPdOXy+u+/R1Z6X0u6ljbAQHCsvILXaS5akR4GtvF8jtgj3LzfvpCspFRJpSYKY8sE1llN3GpUf34Q9H9m626esAGckxlbblFJX5ftgP0mcKLHoOVr4N0+6ByPgmGKEEUlAuItJI/EF5BP1S44h22CgoLWfCA3OD9jtQWEanuEjf4+z8ElZkmkXepnS3Yv/8Rl4u+B57lGda2WLzxhem2aPZH9kNV8E+0iw57DMS+GXYA8zq2Kcx316bMnlACn85aQhH9UsJ2u7NlFeKn6OSzNsGmr4eqH9aPAu2HKCs3E2Bp91dYBbG58AmKCsARwykDKjzOEREpPYi7IHT1+2VtjdnQA7QMa7ysrWcoioy5X2nQ8d+cGAjLHsVJlzRyKOTihSUi4g0ksDp63ablWFdE/ll20H2F5RhtfgDvR0Hi4KC8h/W7wNgSpdyUl6bDnm7/P9Ydx4O/WZARIzZlqv3JOg0gM8W7uCej9dgwY0F+Hu3kU32PtuCSLuN8yf2rLTdWlOmvIGmrwca2jWBBVsO4HQZFJaZhd5iI0O01fGuJ+8yAqzN03ZHRKS9CsyUx0bYmTowlbxiZ1BLtObUKTay0rYqg3KrFSZeCZ/eAAufg/GX+6eKSZNQUC4i0ki8RbuSPNPa+neO4xdPz9D/XHgYz32/mUVbD7LzYBERNis/bdrPGWMz2LArm/Nsc7ihaC6U7oLkPnDcA9B1jNkjO4QYT4EyAysG0Ce1ZXwpaO38a8orPNEQmXJX6OnrY3ok88K8rbjcbl8P+rjIEJny3d4ib5q6LiLS1AIz5Varhf9ceFjI5WjNJTlEpvyuD1f5atxUMvws+PwWyNlu9ixPymjkEUogBeUiIo2gxOni5037ARjUJQGAM8d256s1e7n0qN5MHpDKZyv3sGjrQbYfKOKDn1eRuOsH5n+zlJusvxLlcEIpENMRznuvxh7jMQEVXuMi7b5q71I/3i9X7orz173V10tyqauyEJnynh1j6JcWB0C5y/BVyo2rmCnP3wsr3zLvZ4yr8xhERKRuAgu9eWdVtZSAHCA2wkZ8lN334y7AoSInpeUuIu0hZldFxEDKINi7CvasaJKgfFN2AS/9vJWrpvQlPdRa93ZEQbmISAMqLC1n7m/ZvLpwO+Vug8RoB0PSzaB8WLdEFv9pmm/fHh1j6G3ZzdjVb/HHg18QHVHmey7T6ET52MvoOfXiKrPjgWICgrYJvTtit6m5RkOouiVaknlbr0y5Pygf3yuZmUM7c8HhPX297J1uNwXeoDyqwsf1V3eaPwh0GQGDZtd5DCIiUjferh3gn1XVklgsFp48exS7c4rpnhzD7//9CwB7ckroWdUU+y7DzaA8ayUMOqHRx3juiwvZm1fK+qx83r3i8EZ/vZZMQbmISAN6Yd4WHv9mIwBRDiuPnTkidIDsdnHS1r9wdeTHcAiwwDp3BvPdQ/nENZHlRh8WTZoGsSGqbocQG5ApP7Jvx4Z4K0JgobeKLdG8mfKcOp/bG5S/dNFhTBmQ6ttu92RfXG7DF5THRgZ8XB/cCqvfBYsVTnhc68lFRJqBNaCQW8sLyU2Bny29U2LZsq+Q3TnF1QTlI2D5a7BnZZOMb2+eucxvyfa6dzJpKxSUi4g0oM9X7fHdf/bc0UwdmBZ6x5Vvk7HzY9yGhbnu0bxYfjzLbYNJjI4g29OzOjW+cpGWqgRWeT2yX82ZdQmP939rpT7lDdESrdw8Z0SFH23snuyL02VQ4FtTHvBxnekpv991jPqTi4i0AC0wUV5J16RotuwrJDOnuOqdOg83b/esaJpBiY/mN4qI1IPLbfDaou3sPFgEQLTDzFpednTvqgPy4hz4/m8APFR+Jn903sQiYxBdk2KIdPj/Wa7N2rRenl+9I2xW+qTE1eGdSCiWmlqilRWAq4pqtjVwus1Mub1C25zAx3melmhBQfkuFXgTEWlJWtJa8qr06Gj2LV+9K5cdB4pC79R5KGCB/N1QsK/pBicKykVE6uPTlbv50wermfTwd7jcBrs8v0DPHpFeeefC/fDNffDiNMjZgZHQlf+6Zvie7pIUxbVT+wFwQlXVUauQHBvBD7dMZsEdU1vFl4PWwuJbU15x+nqi/34dsuVut8GBArOGQNDUdPzT18HfviYoKN+50LztdlitX1dERBpeS1xTXtHwrkkAvLJgO0c//B2LPd1ggkTGQ8c+5v0sZcubkqavi4iEsD4rn8XbDnLSyHTio4LbURWVlXPui4uY0Lsje/NKADOT+ubiHez3BFrdOlSoIrpzMbx5NhR6fnmOTMRyzlsUP77Dt0tClINTR3ejd0ocg7rE13rMPTqqDVpDs1aVKbfZzcr4RQfMP9O41MoHV2PzvgJyi51EOawM6Bz8Zx3Y+9bb694XuJcV+tf6dZ9Qq9cUEZHGYW35MTmje3QIerx6Vy6H9UyuvGOXEXBgk/lZ03da5eelUShTLiISwvVvLeeuD1cz7N6vfdlvr09W7GbZjhye+34z2wOmgP3pg9WAmbVOivH0By3cD1/fDa+cZAZvqYPhlH/CNUuh8zAm9PZ/IDpdBlarhTE9OgS1OJPm41tTToie4rGeQLxgb63P6y1qMzIjKSgIh+D6AN5Cb/He6uuZS8BwQUI39ZAVEWkhqiyc1oL0TY3jhfPHkpFsJg2ycktC79hE68rLyoPbgpaHaBPanigoFxEJ4HYbLNpygHV78nzbbnp7edA+ecX+np/LdlSeutw31bOm21UO/zsF5j8JzkLoPRku+QZGnAVxKQA8c45/XXCl7Lo0O2+mvOLsdcD3Z1iXdXfeaYOhshQV15iDJ1NeVgiL/mluUJZcRKTZvfHHCdwxcyAzBldRQ6aFmT44jQsm9gRgd1VBeZcR5m3mEnC7Gm0sm/cVBD0+VFS3+ixthYJyEZEA93++jjP/tTBo28ItB3EFzF/Ozvd/kHk3P37mSN82b19ylvzH7PUZlQhnvQHnvQ8Rwb+md4yL5N8XjGXm0M5cd0y/hn0zUm++Qm+V5q8DcZ4vYYXZtT7vkm3mjzljQwTlFoulUmAeV7bPrEWw/jOzFdrIs2v9miIi0rAm9unIZZP6tKpaLp0TzVare6qqwp4xzixmmpcJ6z5utHEsqbCm/WBhme9+fomT53/YzLb9hY32+i2NgnIRkQBLPdOKR3VP4u+/G+bbHpg531ahammnuAhOGpnO1VP6csqorlwztZ+ZPf32r+YOx/wZBh5fZT/pYwal8dx5Y+gQG9HA70bqy+or9BbiyTpOX9+bV8KOg0VYLTC6e1LIfQKnsNutFiLn/R2y15qvef7HWucnIiJ10j3ZrMK+eV9B5XafYCYPJlxh3v/xkSqmitXf5n3BAfc/f9jMyc/8zN68Eq587Vf+/sVv/PWztY3y2i2RgnIRkQDewm33zB7CWeO6M6m/OUU58Bfdiq1ERnRLwmKxcPOxA3jsjBEkr/kv/GsSlOaa08DGXNR0b0AalL/QW6hMuTcor930dW+WfGDnhEpFBL0C15knRFiwrH7ffHDGf6HXUbV6PREREa8BneNx2CwcKnKSeaiKbPm4S8ERC3tXwbafGmUcgZlxgPeX7WL5zhwe/2YD8zbuB+CbddmhZ6q1QQrKRUQ8XG6D7PxSADonmNO7DutpViu995O1rNuTh2EYvnVQn15zJC9fdBh/P3W4/yQ/Pw6f3wx5u8zpzSc+VWWGXFo+X6G36oLyWk5f968n71DlPoFt0YZF7DZrEkQmQIbWkouISN1F2m30SzW7fmzYmx96p5hk6O9p2br710YZx6GispDbf8sKHtOCLQca5fVbGpX3FRHxOFBQisttYLWYU9IheM3vLe+uYPbwdMrdBjarhf5p8QztmgguJ6z92Fx7teodc+fJd8AR14MjqhneiTQUS1Ut0SBg+nrtgvK1nqUQI6uYug7Bxd5G2baYd9JHgVW/pYuISP0ke5bL5ZeUV71T6hBY8wFkr6v1+R/5ej1uw+DmGQMqrbcvKC2noKScAwEtZAMz9vsLSoP2f/6HzRzRt1Otx9DaKCgXEfHwViJNjY/C7pk+PDIjyff89v1FLPT8YpsY7SDCboX9m+D10+HgFv+JptwFk25psnFL4wlv+nrtgvLiMrOabVJ01TUE7AHB91Bjo3mn65havY6IiEgocZFmCJhfWl1QPsi8za7duu4Sp4unvt0EwAnD0xnUJcH33LPfb+LxbzYGtUPrmxoXFJR7P/8Gdo5nY3YB8zbuZ/WuXDMJ0obpJ3cREY/MQ+Za8cDWZFEOGycM7wLAwC7x7PR8cDxxxjDYOAfeOMsMyGNTYPwVcNEXCsjbEG/C+vv1+yqva/MG5UX7oTz0NLxQSsvNoDzSXvVHcGCht/6uDeadbmPDfg0REZGqxEWZQXlBtZlyT1C+b32tWqOVBgTc8zYG11z5z09bK/Un75sSF/S4wPNDQZ/UOGZ7vn/95ZM1Yb9+a6WgXETaNcMw2LA3H5fb8P1SW7Ff+NnjugOQU+Qk81ARDsoZ+9Ml8NppcGAjxKfD5T/DzL9Dj8Ob/D1I47F6guNdOcW8/suO4CdjUyGmIxhuyFwc9jm9X0giHVV/BDs8a8qtuOlSnmluTBtai5GLiIiE5s2UF5RW0xu8Q0+wR0N5CRzaFva5y13+oHtrQEuzorJy9numrH9z4ySiHFZS4iODMukAecXmmCLtVm6aMYAeliz+uvsSCh4dDV/fZS4XbMT+6c1F09dFpF17bdEO7vpwNTdN789eT//xbh1igvZJjDYrZG/ZX4jLbXCz/X2id84DexSMPh8mXgXxaU0+dml8gUvhPlu5h/Mm9PBvsFqh9xRY/S5s/hZ6HhHWOb1ZhAhb1QUAvcsn0i37cRhOsEVAYrfavwEREZEK4sPJlFttkDoQdi8z/+vYJ6xzlwfMKss8VMzS7YdIiYukxDNLLD7KTt/UOObffgwWglvOgv8zMs2dTcayj/k84mliLaWQB8x/ytypz1Q48fnw3mwroUy5iLRbxWUu7vpwNQCPzNnAzoNmpjwjOThTnhRjBuWx7nwusn3BlfaPzCdOfg6Of9j8NVnaJGtAVB5yXXnfY8zbzd8Gbf73T1u56rVfcbrclQ4pDSNT7i301suSZW7o0EtV/EVEpEGEtaYcIGO8ebtzUdjnDvzcm7dxP6c+N5+zX1joWyKY4Ul8JMdG0CE2gs6JlQvidrPs45qNf4B5jxBrKWW3kcyL5TMpGXmRmb3f/C32/xyD3VVFS7dWSJlyEWl3tuwr4OKXF7OtQr9x/5ryCplyh5uH7P/kRNt8oiyeqV6jzoOhv2uS8UrzCVjaTaiYnN5TzNvdy6DooNlGBnjhxy1k5ZVw/sQejO/dMegQ3/T1ataUe1uijbP+Zm5IHVi3NyAiIlJBWGvKAbpPgEXPw44FYZ+73FX5w3JXTjH7882p66kJkUHP9U6J468nD+XDZbtYsv0QkZTxvOMxYlx5kDqEazOn8Ll7HOXYmXz40fSdcAm8/XvcA0+kvDi60mu1VsqUi0i789CX6ysF5OBf++RbU24YsPYj4t48hTPsPxBlcbLOncGHaVfBrMeacsjSTGrMlCd0gdTBgAFbvvdtLvNkCnYeqvwrvrfQW0R1QbnVChicYPV8ERo4u9ZjFxERCcW/prymTPkE8zZrNZTkhnXucnflGWIAmTnm52GSZ0lgoPMm9OC4oZ3pb9nJ847HGGrdRpE9Cc59m4/dh1PuySMfKCiDzkPh0u9xT7ojrPG0FgrKRaRdWbD5AF+uycJigU+vOZJPrj7S95zbMNcQd0n0BOWL/glvn48l8xdKiOCKsuuYWfZ3tva9EOxVt7OStilkUA7+VmX7N/o2eafv7TwY/OOPy23g9GQRIu3VrCm3Whhi2U4v617KrZEw4Lh6jFxERMQvNsIMcgtDBOWHCsv8wXpCF+jYFzDg+wfDOrczRKYc/ImPxBBBOUDvg/P4IuJ2pthWAPBz35sgsRvnT/TXcjlY6Ol0EpXY5pZ0KSgXkXblsW/M9lK/G9WNoV0TGdYtkeuO6ed7vnNClJnBzN8L3/7V3DjyPC6KfZov3OMBCxnJMSHOLG1RYKa8iu8Zwa3RPLzT93YeCg7KA1vB1DR9fZZtIQDZaUdDZHxthi0iIlKlKIcZ0JZWaE92qLCMqY98z1n/WoDh/SF6hue70MJnzFawNQg1fR3MpYNQRVBuGIzZ+CQ2i8E6d3ducV7K9vRZAPxp1iDiPZn9A4Xhtx9tbeoVlJeVlbF+/XrKy2uY+iAi0sxcboNyl9v3S23gL69H9evku+8tQMLcv0BZPqSPhhOfojS2W8A+bWcNk1QveE15FVF5bIp5W+jvx+qdvpd5MHj6+r78Ut/96oLyuEgHk6xmtuBgj5m1GbKIiEi1ojyFRkucwa3Fvt+QzaEiJ6t35ZGVZ3akYcBMGHepeX/+kzWee8Pe/JDbvd+/EkIF5ZlLSCzYRInh4IyyP/OOazKRnh8OIu02Th1jfger2Pe8LalTUF5UVMQf/vAHYmJiGDJkCDt2mL1br7nmGv7+97836ABFROqroLSciQ/M5ax/LfQFRYHZ7hEZSb5fYXsnGmYfzOWvmU/OfBCsVuKj/B8iypS3H9aAqLyqmNwflO/37Oefol4xUz7rqXm++962Z6EkRlnoY9ltPug6qpajFhERqZo3U17iDM6Ur97lb0+2MjNgDfn4y83b7fOhJLiFWSC32+Cmd1aEfK6ozPwBIGSmfPGLAHzqnkg+5neswCVe54zvjsUCX63Zy+pd4a1tb23qFJTfcccdrFixgu+//56oKH8Z+2nTpvHWW2812OBERBrCyswcsvNLWbL9EADRDhsdYvwfCg6blYl9zArZl2bf7+mDaZgfQhnjAMjKLfHtn5ZQuX2HtE2Wmgq9AcR6Zlp4gnJXQI/WrLwSX2G3P32wivyaKt169LDtJ8ripNRwEJUSXm9YERGRcHhnanl7h3sdKPDP5toVWKi0Yx9I7gPu8qCiphXtLyyt8jmvoKDcMGDFW7DmfQBeKZ/ueyqwGGr/tHhOHJEOwOPf+Ou3tCV1Cso//PBDnn76aY488sigLyxDhgxh8+bNDTY4EZGGkJ0X/CHROyU26N8ugNtnDuSeQbvpfegnsDrg7LfMLLlHkdMfTNmswcdK2xX4R+2uMVNuTqsrD9jRMGB3TgkfLtvFa4t2hP26GeU7AdhspNMhTj8CiYhIw/FnyoOD8uKAxxXXm9P/WPN241dVnnd3TkmVzwHERNgYmZHk3/DLv+CDS8FVRm63Kaw0/D9CV1zide0x/bBa4Jt1bTNbXqegfN++faSmplbaXlhYWOmLrohIc9uV4/+19+opfXnotOHBO7jK6V2wjIuyHzIfj7u0UrXr/ztpKB1jI3j+vDGNPVxpQQILvVW5pjy6g3lbkgOG4au87rU5u4C7P1pdq9dNLtoKwCYjvcpKtSIiInUR6VtT7g76bCsOmM5eWiGLTj9PFnvjHKjQ9uy79dn846v17DhYud2sl9UC//vDOFK9sw0NwzdtnYlXk3Dh24wICNi9Y/TqkxLH4X3MmWknPPUT5/x7cY3vszWx1+WgsWPH8tlnn3HNNdcA/ul9L774IhMnTmy40YmI1NGm7AJ+2XqQgV3iyfSs6732mH7cOL1/8I7Fh+ClWZC9xnycNhSmVO59OXlAKkvvnl5pu7RtwZnyKoLyqCTPDuVQVkC5KzLo6RWZOWFPW/dKLjaD8o3urtWuPRcREaktb6YczIy4L3Ne5g/EK643p8cR4IiFgr2QtRLSRwLmD9YXvRQ6QH7/ysNJinaQlVdC9+QYunUIqMmTvQ72bwBbBEy6FYs9gtuOHcA5Ly4Cgn8U90oMWHpY5Q/lrVSdgvK//e1vzJw5k7Vr11JeXs4TTzzB2rVrmT9/Pj/88ENDj1FEJCyGYTB3XTa/bDvIv37cUun5PimxwRvKy+C9P5oBeWQCDDgept2r9lPiE7ymvIqdHNHmlwpXGRTn4LSlBD29cW9BpUN6dKy+WGB6wVoANhgZtRuwiIhIDaICiqiVOv1BeeBSvUqZcnsk9JkCv30Ky/7nC8qry46P7m7OJOudElf5yVVvm7d9p5l9x4HD+3bi5JHp/LRpP8O7JVU6JCbgx4S2Vt+nTkH5kUceyfLly/n73//OsGHD+Prrrxk9ejQLFixg2LBhDT1GEZEa5RY7Oe25+WzMrhwAeQ3snGDeKToIX94Bv31mtj2zR8OFn0GX4VUeK+1TWNPXLRYzW16YDSU5lEd1Cnp6Y3bl9jDvXXF41S+am0nH4q24sNJ33HFV7yciIlIHDpsFq8X8sdkMvs0MdHFZNWvKAcZcaAbli1+EXpNg8In8luX/jJvUP4UfNoTRtqy0AJa8ZN4feU7QU4+dORLDCO5+4hUT4Q/KOydEQoghtlZ1CsoB+vTpwwsvvNCQYxERqbOv12RVG5DHRdrpnRILrnJ450LY6pnVE5cGJzymgFxCCu5TXs2O0UlmUF6cQ7kjeMfN+wor7Z5U3TrxnZ6pe12Gc8vJE2oxWhERkZpZLBaiHDaKylxB09SD77sqH9hvOky8GhY8DZ9cBwNmUlhqZtcn9u7Ify8eR8/bP6v+xQsPwEdXmXVYkvuYsxQrjK2qEmVRgUF5YhQcqv6lWpM6BeWff/45NpuNY489Nmj7V199hdvtZubMmQ0yOBGRcC3ZZv7LPHtEOpce1ZvZT/8EwBt/nMCa3bkM65qIwwJ8/WczIHfEwtlvQM+jwKo1uxKaNZyWaOAv9lZ8CGdczT/dV7tOfPcyACxdVVRQREQahy8oD5imXm31da9p98KKN6FoP2yfT1FZTwDio8IIK7N/g9dOg9ydZqebGX8Fq63m4zxiHP7XSIuPxGhDQXmdvonefvvtuFyVfz0xDIPbb7+93oMSEQlXdn4J932yhreWmC2kfje6K8O6JbLt77PY9vdZTOzTkUuO6s149zJ4ajQsfMY88ORnofckBeRSLUs4LdHAX+ytJIdyl7ljxXYuYSkvg9UfmPczxtf+eBERkTBEeXuVBwTiQdPXKxZ687I5/O3R1n/hOyZwanlIZUXw2ulmQJ7cB/74LQw8vvpjKoiO8H+uJsdG1OrYlq5OmfKNGzcyePDgStsHDhzIpk2b6j0oEZFwlLvc/N+n6/hkxW4AjurXiUn9UirvmLkU3jwPyoshIh6m3AlDTm7awUqrFH6mPMm8Lc7xtURLinGQW+z0TQcc06MDw7omMqxrYtXnWf4a5GVCfBcYfFJ9hy8iIhKSdyq4tzuIYRgVMuUhpq97DZhpfl5t+IKiwRcDEB1RTVhZmg9f/Qlyd0BiBlzyDcQk13rMga+RHBPBgVqfoeWqU1CemJjIli1b6NmzZ9D2TZs2ERsbG/ogEZF6MAyDgtJy3vxlJ9MHp9ElKYoZj/3I9gNm1c+7TxjMBRN7BBcGyd8LK9+EHx42A/K+0+CMVyBC/05JeIILvVWzY2Cm3JNSt1utxEc5KHGWAhDtsHHviUOqPoerHOY9at4/4npwtK3KsiIi0nIMSU9ky75C5q7L5oi+nSq1QKsyUw7Qe4rZdeTQNqLzzIRsxUy5DRfsWQHbfoKfHoNCTwG4GX+tU0AOwTPQOsRWU5ulFapTUH7SSSdx/fXX88EHH9CnTx/ADMhvuukmTjzxxAYdoIjIXz5Zy39+3up7/Mu2g9wwrb8vIAc4YXiX4HW6WavhvyeYfcjBXDt++ssKyKVWwupTDgGZ8kOUezLlDpuFSIedfflmUB7lqGE6+57lZhYhKgnGXFDnMYuIiNTk5JHpfLJiN5+s3M2fZg2isKw86PlqM+WRcWb19U1zGLz3E+CEoKD8COsqnnU8Af8MaJeW3Bum3lWvmYplAevcE6srmNoK1Skof+ihhzjuuOMYOHAg3bp1AyAzM5OjjjqKf/zjHw06QBFp33bnFAcF5ABz1u4lIiAA79UpltT4SP8O2b/B/042A/KUQTD+Uhh5rtljU6QWLGFXX/cWesvB6VlTbrdZiY30f8xGOmpYb7f9Z/O2xxFm73MREZFGcnT/FDrEONiXX8p7SzPJSI4Jer7KQm8expgLsWyaw5HZr3OlzUW04xYALLi5z/5fEi1FEJkA3Q6DnkfC+MvqnRgJXP/uqK5gaitU5+nr8+fPZ86cOaxYsYLo6GiGDx/O0Ucf3dDjE5F27qeN+333H/jdMO54fxUAn63a49v+xh8nYLFYID8LPr0BNnwFhgs6D4cLPvFnMUVqyRLumvKg6evmFxm71UJCQDXaKHsNQfmeleZtt7F1GaqIiEjYHDYrs4Z34dWFO7j1vZUc0bcjACnxkezLL6XE6WJVZi5Ltx/k3Ak9KgXBq+OOZEn5sVxk/4pbHW/xy55usP8c3o55mL7u3eQb0cTfsAaiEhpszKkJbXdZV537lFssFmbMmMGMGTMacjwiIkGWbD8IwBWT+3D2uO7sOlTMO0t3Eh/lYNv+Qp47b4zZqzJ3F/x3NhzcbB7ona6ugFzqIbjQWzU7BhR681Zfd9isQS1iapy+fmCjeZsyoA4jFRERqZ1LjuzNqwt3APDzJrNs2rieyXy2ag/FThe3vbeStXvy2LSvgL+ePCzo2IPFTu4rv4AsI5k7HG8wbsMjsOERDvM8Xzz6UuIbMCAHmDWsC2t25zK+V93WpLdkYQflTz75JJdeeilRUVE8+eST1e577bXX1ntgItI+lJW7iQjROuq9pZnER9mZ58mUj/P8A3zzsQO4+VgzaDEMA0t5KSz5D8x7zFPVszuc8yakVVNQS6QOjHAy5cWHfNXX7TYL8ZH+NW9R1U1fNww44PlBqWO/eo5URESkZj07xQbNQgSYMSSNz1btITu/lL15Zk2UD5ftrhSUF3iqtv/TdQIZlmzOs881i791HQtjLiR12GkNPl6b1cIdMwcB4HQ6G/z8zSnsoPyxxx7j3HPPJSoqiscee6zK/SwWi4JyEQnLA5+v45UF2/nkmiPomxrv275tfyE3vbPC9zjaYWNi746VjreUFcCrp8HOheaGDj3N6epJ3Rt76NJOBAbiYRV6C6i+7rAGZ8qjqwvKC/dDWQFgMa9jERGRJlCxavrk/qm+KexeDpul4mHkl3iDYgt3lf+Boefcz8i+3VVQt47CDsq3bt0a8r6ISF3988ctADz45Xoi7VbOHtedfqlxTP7H90H7XTG5T3CW0TDgwCb46CrYuQiiEmHSbWYxN01XlwYUGIZXO33dt6Y8F2e5mT2w2yykBBQg7JxYzVq4fE+NhNgUsEfUaawiIiK1FRdQkLRHxxgSYxwM7BwfFJQXlbnILXZS7nLTMc78XCsoNT/rDuvZgQsP78WIQZ2Dq6NKrdR6TbnT6WTgwIF8+umnDBo0qDHGJCLtgHeKL5jV1AE+XbmHk0amB+139rjuXDO1r39D5lJ472I4tM18HJUI538E6aMae8jSDtU6U264MUoLALP6eo+O/oxB1w7VVFQvMP8OEJ9W16GKiIjUWkyEPxwc1jURgEFdEnzLB8GsxH70Q98B8NNtU4iPcpDnmb4+oHM8s4Z3acIRt021riXvcDgoKSlpjLGISDuy42BRyO0fLd8NQHykncfOHMHfThnqr4BdWgDvXGAG5BYr9J4MF3yqgFwaTVAcXl2m3BENdjMTbis5ZG6yWujZyd9iJqO6oNybKY/XFxsREWk6gZny3p3MH5IHpMVX2i+32ElusZNN2eYPz9415XGRbatfeHOpU4O3q666igcffJDy8vKadxYRCcH7j3oo0walseq+YzllVDd/QO4shs9vhtydZjG3mzeaGfIuw5toxNIeBU9fry4qxzeF3VqaC5jT13sk+zPl6UnVBeWeTHmcMuUiItJ0YiL9ywO9S64GdqkclHst2HIAwzB8a8oDa6dI3dXp/+LixYuZO3cuX3/9NcOGDSM2NnhB//vvv98ggxORtulgYRmX/W9plc9fd0yF6tO5u+C/J8BBcw06sx+D2E6NOEIRU2Ac7qopKI9OgoIsbKW5QDx2m5XoCBsfXXUEbsMImiJYSWG2eRuXWt8hi4iIhC0wU97Js168b2ocNqsFl9vg2CFpHN0/hS9XZzFv434e+nI9hmF+lwMF5Q2lTv8Xk5KSOPXUUxt6LCLSTny6crfv/pgeHZjUP4Vv1u1lZWYu54zvzrBuif6dDQM+udYMyOO7wPEPQ99pzTBqaY+MgFy5q9pKb0B0BwAcpQeBeBxWc5bHiIykml+o6KDnHG2v96qIiLRcgdXXE6PNqeiRdhu9O8WyMbuAY4d05neju/HbnnzfOvNH52zwfSZ616FL/dQqKHe73Tz88MNs2LCBsrIypk6dyr333kt0dDVT8kREPB7/ZgOGAat25fq23TS9P4f37cS1x/QjK7eEtITI4IOWvw6bvgFbJJz/MaT0b+JRS3sWmBx3ugwMw/AvqagoZSDsWEBKznKgB3ZbLVaIFXuC8hgF5SIi0nRiA2ZxJcb414dfMbkP7/+6i8kDzBlc50/swcbsfBZuOegLyFPiIxkZzg/PUqNaBeX3338/9957L9OmTSM6Oponn3ySffv28Z///KexxicibcTqXbk8/s3GoG3Pnzeaw/v6p6EHtYw6sBnm3gdrPzIfT75NAbk0uYq5cZfbwB6iXysAfabC0pfodnARcFLIvq5VUqZcRESagdVq4YrJfdiXX8rgLgm+7b8b3Y3fje7me9wvLZ43L53Iu0szufmdFQD07BhT9Q/VUiu1KvT2yiuv8Oyzz/LVV1/x4Ycf8sknn/Daa6/hdrtrPlhE2rW3Fu8Mehxhs3LskM6hd963Hv5znD8gH3oaHH5dI49QpDKjwjry8uqmsPc6GixWkou30ZkD2K3KlIuISMt323ED+cfpI8IKsE8c4W9dW1auGLCh1Coo37FjB8cff7zv8bRp07BYLOzevbuao6r2448/Mnv2bNLT07FYLHz44Ye+55xOJ7fddpuvkFx6ejrnn39+nV9LRJpPidPFh8t3BW07aWR65X/8S/NhxVvw39lm4avOw+Dyn+G0f4NNhUSk6VWs7eZ0VfMFJDoJ0kcDcJRtVdUZ9VCKDnnOoaBcRERargi7P3zsEBvRjCNpW2oVlJeXlxMVFRW0zeFw4HQ66/TihYWFjBgxgmeeeabSc0VFRfz666/cfffd/Prrr7z//vusX7+eE088sU6vJSLN58vVWeR7+lkmxTgY1zOZO48fFLzT3jXwzHj44FIo2Atpw8w15J2HNsOIRUxGhQns5a4air31mQrAUdZVOMJdU150EMryzfuxHWs7RBERkSb12iXjGd8rmf87Sd/RGkqtUk+GYXDhhRcSGekvxFRSUsLll18e1BYt3JZoM2fOZObMmSGfS0xMZM6cOUHbnn76acaNG8eOHTvo3r17bYYuIs3o7SXm1PUbpvXnumn9Ku+QtdrMjhcfhMQMGHE2TLzSV81apLlUypQHLNfalJ3PE3M3ce3UvvRL8/R07TERgMGW7fxmDTNTvtHzWZc2VNe8iIi0eEf07cQRfdWatiHVKii/4IILKm0777zzGmwwNcnNzcVisZCUlFTlPqWlpZSWlvoe5+XlAeZ0+Lpm9CvynqehzifSFBrzul23J5+Hvt7AzdP7MSQ9Ieg5l9tg8TZzvezxQ1OCX78gG9tHl2Pd9iMA7i6jcJ39jjkN2Bxsg49VWo+W8G+ts7w86HFJqRNnlNk+5rwXF5GVV8pPG/fxyx1TzB0SeuAAMizZ2IzysMZu++0zrICr7wzcuuZbvZZw3YrUhq5ZaY1aw3Vbm7FZjIpVbJqJxWLhgw8+4OSTTw75fElJCUcccQQDBw7ktddeq/I89957L/fdd1+l7a+//joxMTENNVwR8ShxwW2/mL/v9Yo3OK+vi9WHLByeahBhgwMl8JdlduwWg4fHu/AmD63uMo7Y9HeSCzdhYCE7fhi/9ryMMnt8M74bkWDF5XDfrzaKXeaFe/eocjp5VnFdt8D/u/YTEz3Bu+Fm1vI/YMfF3cmPMbZH9dPRLe5yZq66Coe7mB/7/5lDsX0b5X2IiIhI0yoqKuKcc84hNzeXhISEavdtFZWTnE4nZ5xxBoZh8Nxzz1W77x133MGNN97oe5yXl0dGRgYzZsyo8X9GbcYzZ84cpk+fjsPhqPkAkRagMa7bZTtyuPGdlUAJAJbIWJ7bWM7+gjK69erNtVP7Mm/Tflj2Kz06xXHCrCPMAwuysX1xM9bCTRhRSZSf/ynJKQOZ1iCjkraipfxbe+IsNxP+/j15JeUcedQkeqeYy7WuW/C1b5/AIqgH1qaTVraTMV0jg7aHYtn2I/YVxRixKUw87Wqw1KrUi7RALeW6FQmXrllpjVrDdeudsR2OFh+UewPy7du38+2339YYWEdGRgatefdyOBwN/gfWGOeUxrUnt5hSp5uenWJr3rmNaqjrtsTp4orXl3OgsMy3bcv+It/9p77bwkmjMnj3V7NjQp+UOPN1l70Kn94ArjKwOrCc+SqO9GH1Ho+0Xc39b63Dgb9om9UWciyB2/Y7upJWtpOOzt01j3vvSgAsvY7GEVH5s0tar+a+bkVqS9estEYt+bqtzbha9E/y3oB848aNfPPNN3TsqKq0Uncut8HRD33H5H98z86DRTUfIFUyDIM73l/FgcIy0hOj+ObGSSH3u+x/S5i3cT8AZ4/vDlvnwcfXmgF517Fw3rvQ66imHLpInXjbm1XbEs1jr6MrAB1KMms+caH594OE9Or3ExERkTarWYPygoICli9fzvLlywHYunUry5cvZ8eOHTidTk477TSWLFnCa6+9hsvlIisri6ysLMrKyqo/sbRbmYeKuPjlxdz78Zqg7YZhcMl/F+P0tDM66qHvKCwtD3UKqcbKzBwyDxXxn5+38cEys+/4OeO70yclllNGdaVrUnTQ/pv3FfpaoY3rFgufXAuGC4afBZd8A70nN/VbEKkTu9X8uCx311yGZa/NDLCTirbWfGJvUB6bUuexiYiISOvWrNPXlyxZwpQpU3yPvWvBL7jgAu69914+/vhjAEaOHBl03HfffcfkyZObapjSitz67krmbz4AwI0z+pMQ5cDtNnhz8U6+W78vaN/PVu5h6qBUYiPsREfYmmO4rcrW/YWc8ux8XBWCknPG98BisfDYmSMBWLs7j+OfnBe0z4So7cS+PhsOboG4znD8w2AJs12USAvg8GTKy8PIlG+O6A9A6sGlUJIHUdUsuyr0/LukoFxERKTdatagfPLkyVRX/L2FFIaXFmTB5gP8+6etnD+xB0f3D/4SuzIzxxeQA8xdt5dTRnXj5ndW8L4nqxvo1vdWEmVx0j3JwatXTCE1QdX5q/Pdb9lBAfnvJ/TgvhOHYK3Qi3lwegJvXjqBb3/L5l8/bqELB/g3f4FdxeCIhROfrD5IEWmB7J415d7ZNtXZYOtHltGBzuWH4LnD4aSnq54VoqBcRESk3Wvxhd5EAj393UZ+3nSAb9bt5ZIje3HXCYMB8wecJ+duCtr3hrdWMLl/qi8gH9o1gVcuHMOc1x8jOnMe/SyZ9LPswl7shkeBmE4w8HgYcTZ0Hg6RcU399lost9vg/WX+9bH3zB7MhYf3xFJFtntC74707BjLiz9u4kHHv4ilGNJHw9lvQnxaUw1bpMHYrZXXlFstEGo2u9Nt4cqy6/hfhxeJzd0Jb5wDN6yGmOTKO3unr8eoZoqIiEh71aILvUn7VO5y88x3m7jopV+4+vVffWu/nS43i7cd8u334k9b+WHDPgzD4Ma3V/DNur1YLHDtVH+f30v/t4Ruln380f4ZH/f6gOSXjuDMPQ9xom0Bg6w7sVsCpqIW7YdfX4GXZsKjg2HlO032nlu6L1ZnsXpXHrERNpbeNY2LjuhVZUDu1dmZyasdXuRo2yrctig45Z8KyKXV8lZfL3f7/82wWUP/HSh3u/nV6M/P0z+ChG7gLISsVaFPXJJr3kZ3aNDxioiISOuhTLm0OD9vPsDDX633Pf505R7W3HcsC7ccoKzcTae4CE4Yns7L87dx5/uruGpKX1/RsWum9uPG6f3pZcvm0HdPM273bwyN3GaeaInnhFFJHBr+Bz7el0Z6/7G8tTqfZZt3c9nAEi6NnAO7foWCLHj/EsjdAUdcD9b2u+a83OXmka/NP49LjupNx7gw2jbtWQH/nsHh5Wb/cuvJz0BK/8Ycpkij8ldf96fGrRYLYD7+ZetBxvTogM1q8e1jiYyHLiMgLxOy10HvCl0K3C4zYAeI1JIOERGR9kpBubQ4mYcqtyv7LSufz1dlAXDiiK7cNKM/c9buZVdOMXd+4M9AXT6pN+z6lVOW/B7s/qy60WsSlm6HQad+MPAEOkTGcYHnueT0Q5z6XCEPbkhi5s3/JiMxAubeB/OfhLl/gcX/gdNfhozDGvNtt1hvL8lky/5COsQ4uOSoXuEdNPf/oLzEbHs2/S/Q84jGHaRII3N4q69XCspNZ/xzAffOHsyFR/TyTXG32yyQOgjWfwbZwR0hACjN99+PjG+cgYuIiEiLp+nr0uLsyy8F4LQx3XzbsnJLWLbTDLKP6teJ2Eg7N0wPzrw+d+5oYvK2wRtnQ/EhSB9N0UkvUH79OiwXfAzH3A0jzqq0VnxMjw4c3qcjLrfBxyt2g81uBpJH3wpRiWaW681zzMrh7YzT5eYfniz51VP7ER/lqPmgXb/CpjlgscGpLygglzbBmymvbvr6Kwu3m/t4AneH1QppZt0L9q6tfNLSPM/Jo8Ae0cAjFhERkdZCQbm0ONmeoLxrUjQnDO8CwCsLtrFlnznNc0RGEgCnju7KfScOoWNsBF1iDKauuwueHmtOPU8ZBBd8TMyoM7Anpdf4micMN/f57rdsc4PFAlP/BDeshdQhUJgN/5oMn1xnTkNtJzbuLeBgYRlxkXbOn9gjvIN+ecG8HXoqJPduvMGJNKFQ1dcrLinvEGMG1k53YKZ8iPlk9jpwV2in5s2UK0suIiLSrikolxalqKyczEPFAKTERxLlMNdyL9p6EIAh6Qkkx5pffC0WCxcc3pOFN43jp4zniVz7LmBA3+lwzlu1+qI7obdZFXnVrtyg6spExsF570H6KLMg09KX4T/Hhs56tUErM3MAGN4t0VfoqlprPoDV75n3x13aeAMTaWIOa+U+5RUz5R1iHJ59PJlymwU69gFbhLl2PGd78EkVlIuIiAgKyqUF2XmwiNH/N4cfN5h9e3unxHJYz+CKxGeP6+5/ULAP3r8Ux9OjsG2fBxHxcMGncN670CHMrK5Hz46xJETZKS13s2FvfvCTCV3gD3PgnHfMNdIlufDWuVBaUKf32Zpsyjbf46AuYRShWvwivHMhuEqh7zToNrZxByfShHyF3tyh15QHPvYG7narFWwO6DTA3KHiLBsF5SIiIoIKvUkL8u+ftlLiNL/MXnZ0byb27sjYHsnERNg5ql8nispcdEmMMnfO2Qn/OxkOeHqTx6bCOW9C1zF1em2r1UKvTrGsyMxld04JQ9ITg3ewOaD/DDPQfP5Ic335SzNh2j1mANpG7ck1q6d3TYqufsfyMvjhYfP+hCvNNfk1tEwTaU2809cDM+XWCpny/BJP+0ZP4O4N5EkbDHtXmcXeBh7vP8DbDk2V10VERNo1BeXSIuQWO3l7yU4AHjl9BKd6irxF2C3MHmGu906KAYoOwqLnzWnkBXshMQNOfg4yxte7UFInT6uv/QWlVe8Ukwy/+xe8dgZkrYRXT4PLfjDbHrVBu3LMpQTpSVHV77j6XXMtf3wXmHaf+SOGSBvin77uz5TbKvzwlF/q9OxjBu6+JR+pVRR7K/Z0iIiq8COgiIiItCuavt7Cbcou4MV5W8gpKmvuoTSqtxbvoKjMxYC0eH43umvonYpz4OVZ8MODZkDesR9c/CX0OqpBKhd7g/LPV+3hy9VZVe/Y80i4fiX0mwEYMOeeer92S7XbF5RXkyk/tB1+/Id5f9ylqiItbZKv0Fs11dfzis1MuTdwt3ufT/MWe6sQlOfsMG8TMxp4tCIiItKaKChvoXbnFPP3L35j2qM/8NfP1vHy/G3NPaRG9f16cx35OeO7Y6k47dntgl1L4X+nmF9q49Lgdy/CZT9CYrcQZ6ubTvFmMDlv434uf3UpW/cX+p57e8lOTn1uvn+9eWwnmPkQWO2w5TvIWhXqlK3W3R+uZuxfv/FVwu/WISb0jms/hueOgIObIaYjjL2oCUcp0nQctsqZcmuFT9CCUu/09QqZcm9Qvm89bJ3nP8AblCcF1MoQERGRdkdBeUthGL4+2Fv3FzLjsR95/ofNvqe3HyhqrpE1iuy8Eq57cxlLth3E7TZYmWmurRxbobAb+XvNVmQvTIXdv0J0slkNffjpEFFFoFhHHWMjgx4v3HIAML9o3/ruSpZuP8QZ/1zgn7WQ3AsGzjLv//q/Bh1Lc3K7Df63cLtvGn+k3eqreB/EWQIfXQVl+dB9IlwyF6I7VN5PpA1whFhTXnH6uvc5X6bcu6Y8IR1GngcY8N4foMDTelFBuYiIiKCgvGUwDEo+uZmyZ47gt8Xf8MGvmb6Mi7fA1gfLdpFb5GzOUdZLQWk5ZeVu8krM93D3R6v5aPluTnt+AWv35FFQWk5MhI0BaQFViJ3FZjG3rJUQEQcDTzCnq3ce1ihjnNinIzERNt/jNxfvxDAMft6037ctp8jJXz4JmII6+nzzdvlrsHNxo4yrqWXllQQ9njYoLfSOW76H0jyIT4cLPzN/pBBpo+xW7/R1f6a84qwewwDDMCj3FnoLTKUf/zCkDDKX3vzygueHWM8Pr7XsFiEiIiJti4LyFqC8rITVyxYR4Soi49Nz6PfTDUy3LuGvJw/libNG+vZ75vtNzTfIevhi1R4O++s39L/rC8b+3zd8vz7b13cczOniABN7d/St26TwAHx4hTldPTYVLp8HZ70GKQMabZyDuiSw8p4ZLLzjGKIdNlbszGFFZq4vY56RbP5AsnTHIf9BvadA98OhrABeORH2rGy08TWFwtJy3v81E4D4SDtXTO7DjTP6h95541fm7YCZYLWF3kekjfBPX/dnyqMdwde9KyAgDzwGMGf2HHmDeX/th5C/x6y+brGZ9TFERESk3VJQ3gLYI6P5ZeKzLHANJtZSymzrz7wQ8Sizsp4lo4O/6nXgGmefskL47XNY9S5s+BpcLSub/r+F27nitV8pdroAKHO5ufClxeQEZP2XbjeD3Il9Opob9m+Ep0bDmg8AC5zyHCT3bpLx2m1WOidGMXVgKgDf/pbNgs1mUH7ueDObtSenBLf3i7fVZvZF73kUOItg4bNNMs6GVuJ08ft/L2L4fV/zj683AHDCiC7cdtxA+qTEVT7AMGDjHPN+/2ObcKQizcPXpzxgTbnDbn6EXnq0+e+Ty20ErTn3/cjoNWAm2CJh/wZ4dJC5rWMfcNTQ3UBERETaNAXlLcQlU4cy4d55HDrzY3b2+z0AHZY/T9p/xvH3xPdIoJCDhWVM/cf33PjWcjZlF8D2+fDYUHjzbHOd4uunw2unQWkBhmHw3frs6tt7NbKdB4u456PVNe73zbq9AAztmgjZ6+CNs6AkB5L7wAWfNEsf8KFdzRZFT87dyG9ZZnG3E0ekY7WYPywE/X+NiIWpd5n3135s/lDSyizbkcO8jftxuQ26JkVzzvju/GnW4KoP2Pcb5O40A4yeRzXdQEWaiXcqenlA9XXvj3M9O8aajw0jqDq7vUJ1dqISoM/U4G1DftcIoxUREZHWRH3KW4gIuxWw0mHQJDoMmgTLj4DPboLcnZzFTqZFzuHtXZPJNFLIPNiJl1dmc1vk+8S7c83e0B37wq5fzXW+T41hb/o0bl15OGldu/PJ1UeycMtBbnhrOUVl5UwZmMoTZ40Ka1xl5W7sVgvWil8uq3GosIzXf9nBSz9vw23AuJ7J/LLNP119TI8OrM/Kp39aHMt35uA2INZWzoi978E7D0DxQYjpZGagmyhDXlFKfHDRtz4psaQnRdM5IYrduSVs3V9IakJAditjPHToCYe2wfovYNhpTTre+tp5yCwkeETfjrx2yYSaD/BmyXsd1eAF90RaolDV112eoNz7nNsIft5RMVMOMOA42PCFef+m9RDfuZFGLCIiIq2FgvKWauTZMPgk2PQNRV/eS6e8zVxp/zh4Hzesdvek7OQvGN0nHTKXmlnmgiw6b3iVHyPfZvW+nmz/7yiWH0onP28ohUTz0fLd3HLsgKrbXHlk5ZZw7OM/MqhLPC9fNI4oR83rhg3D4NwXF7F2Tx4AidEObps5kFOfmw/AYT078PZlEyktdxPlsLFlXwFzf1nOadvuJforT6G0TgPMwmFxKbX//9ZAOsX5q43brRY+ueZIAMb0TGb3it28szST8b07+g+wWGDoqTDvEVj3casLyjMPmkF59+TYmncuL4OVb5v3+81oxFGJtBy+PuUBQbfbMO9HeKaxm9PXzUy5xVK5jzkAI8+FA5ug2zgF5CIiIgIoKG/ZImJg8InsST6Kfz51P8MsWxmTmEd6wRq2GWl84RrPG66p5L2wjNPH7OPcCX0Yef0q2DaPPR/8iS5F6znMsgG2beAK4ILISDYZ6Sx2D+Tv71j52/nTyDxYzKAu8ZV7gwMfLd9FbrGThVsOcuu7K3nirJEh9wu0alcua/fkEe2wcd+JQ5g1vAuxkXZeuvAw/rdwO387ZRgWi4UoSzn88Ai9N35N76xVUF5iVlifcieM+r05zbMZdYrzZ8pnj0gnJsL8q/K70V35ZMVu3l2ayeJtBxnWNZEnzxplziQYeIIZlG/8xqwc74huruHX2s5DxYC/mF21vrkX9q6CqETzhyORdsA7FT1o+rpRucp6mScod1RsYu5lc8CMvzbSKEVERKQ1UlDeCvROS6LjUZfgio9k8BG92JVTzICYCH5ZuI28z38D4J2lmXy+ag/L75mBo9907u/agU2rF9PfspMB1p0cZ11MH+sehlu2Mty6laJd3/Lz/UM5YMSzqf/RnHj2lZWCyJ8CWoF9vGI3547vHpwdDuHl+dsAmDoolTMOy/BtnzIwlSnp5bDyebNH75bvzMrqXhkTYPbjkDqofv+zGkjg9PUTR6b77vcNKHq2/UAR2w8UcfXUvgzsnADpoyChK+TtMoNz7zrzViDTM329ptkT7F0LC58x75/8nDJ90m74+5RXnr5uD6iyXlrurrRNREREpDoKylsBi8XCbccN9D329i4/ZVQ3/uYJygEKy1xk5ZaQkRzD7txSfjO685vRHdzwMGey5qruxOZtZsdnD9G9aC3TbUvNA7d8j/HQP7B0Hg5jL4bhZ4DFwro9ZoGzrrGQVrSBvHWF0OMUM9MTQrnLzZerswC4+Iie/if2rITV78Gif0J5sX97dDIcc7cZkKcOMud7thApcZEc3qcj5S6Do/p28m1PT6qcSd6cXWgG5RYLHH0zfHoD/PgwRCXB4Vc34ajrbudBT6a8Qw2Z8q0/mLd9psLAWY08KpGWw199PTBTbt5GBKwdL/MG5bWowyEiIiLtm4LyViwlPpJLj+5NVm4JKzJz2H6giJ2HishIjuFAYRkAT509iq/WZPH7CT2IzegIDGdnxJHc9tJL9LbsoYvlACfbfqabcz/sXGj+t/5z8rtNZlzRFs6PmMNhrg3YIl2wGIylV+CK7MDyiNGkT76Y9OHTcFtsPPXtJhZvO0hRmYuEKDujMjqA2w2f3QBLX/YPOmM8dJ8Icakw7HTztgWyWi28/sfKBc9sVgtH909h8daDjMhIZOGWg2zeV+DfYezFUJwDc+8zA/PDLmnx7Y5Ky13szS8BICO5hkz5joXmbY/DG3lUIi2Lw1d9PbxMecgibyIiIiIhKChv5e483pzuff5/fmH7gSIyPWuDD3mC8kFd4pk9Ij3omAl9OvHNxFn0S43nu/XZPLL2dHpb9vDFMfuI+PkfsPZD4td+yLP+WmfsMxKIoJxEdxH24n2MLf4KPvoKvkzgYOoE1mwewiEjhd6WCGb1iMW69N+w+n3Y/jNYrNB/Jow8x8yutqCMeF3887wxFJWV887SzMpBOcAR18Hif0NeJvz2aYsv+rZtfxGGATERNjrGRlS9o2HAzkXm/e4Tm2ZwIi1E6Ex55TXlpU5X0P4iIiIiNVFQ3kZ080w7zjxUTLnLTV5JOQAdYioHWTarhXtmDwEgPsrOnLV72Wx05c5D4/nHH46DFW+wYd0KbHk7Kes4kJIjb+eUd/Zjw00ah+hq2c8ptp843raIpNI8Ou38mn9FfO1/ge2e/wDs0XDyM2Zl8jYiOsJGdISNPp715ZuyKwTlVhuMOg9++Dv8+t8WG5SXOF1EOWws2GzWDhjdvUP1hfxyd0L+HrDaIX10E41SpGWwh1hT7u1THmEPsaa8qkJvIiIiIhXoW0Mb4Q/Ki8gpdvq2J0aHXv/tdcLwLlw2yewF/u7STD4+0AVm/YPrHX/mmLJH2H7Mc4wcPR6w4MLGbjqRMnQyd5ZfwujSf3JT0uO8VH4sm91dKIxIMStyx6ZA32lw9C1w1aI2FZAH6ptqBuVb9hX6vpz7jDoXsMDWH2HfhqYfXA2++y2bgXd/yQs/bmFFZi4A43slV3/Qzl/M287D1Ztc2h1HiOrrLsPbpzwgU+6bvq5MuYiIiIRHQXkb4a2anXmwmJwic+p6YrTDl92pisVi4Y6Zg7h2al8AHvryN+Zv3s/GbLPI29CuiVgsFl44fywAZ4/rzrPnjuGSI3vhxsp7WancV34Bx5Q9wvIzFsLtO+CWTXDee2b18Q49GustNztvUbRip4tDnv/nPkndYcBM8/4rJ8GGr2kpduUUc9HLZk/4+z9fxw5Pj/Ia15N7p65njGvM4Ym0SKH6lHtnsgdNXy93Be0vIiIiUhN9a2gjvJnyX7YdZNqjPwLQIab6LHmgK6f0JTbCRuahYs55YRFOl8GAtHhfpffpg9P49qZJ3DN7MAB3nTCYVy4ODs6GpDdvb/GmZrdZiY80V4DkBsxO8Jn+F4hPh/zd8MaZsGNRE48wtH98vTHo8dLthwBIDWgDF5I3U97tsMYYlkiLFmE3Py69mXAAw5MptwVUWi91qvq6iIiI1I6C8jaie4gs54iMpLCPj3LY6JUS63s8fXAar/xhXNAa494pcUQ5bL7HR/dP4avrjwYgLSGSpBDr19u6BM/ygJBBead+cPViGHQiGG748AooK2riEVa241DoMaQmVBOUF+6HvavN+xnjG2FUIi1bbIT5b19xWblvm8sXlPsD8zKXqq+LiIhI7ehbQxvRKS44oJo9Ip0/zRpUq3P06OgPyi8+ohdpCTW38hrQOZ5PrzmSD686olav1VYkVheUA0TGwYlPmRnzg5vh81uaNTB3G7BlX+jXT4mv4s+7vAzePh/c5ZAyCBK7NeIIRVqmWM+smIJSl2+btyWa1WLB5vkBs8RTfV1rykVERCRcCsrboFHdk3jq7FGkVhVkVaF3J39QPqRr+FPRh3ZNpEtidK1eq61IiDa/qHur3YcUnWQG5gDLX4UnR8KelY0+tlCyi6GgtJxoh40rJ/fxbe+cEEVCVBXNGBY+a7a2i4iH019q9S3tROoiNsL8+1FY6v+77kmUY7NafH8tvM9HR9gQERERCYdaorUh//z9GB79egMPnzaiTsefO74H+SXlHD+sCwlR4a9Hb89qzJR79ZsGp/4b5t4HOTtwvXcpzj98S1R001Yx31ZgRg7Duibyx6N6Extpp2NsBJMGpFTdDm3Dl+bttHsgtXazL0TaithIz/R1pwuX28BmtQRnyj3T1/M9QXlMhD5eRUREJDz61tCGHDukM8cO6Vzn4zsnRnHviUMacERtnzcoz6spKAezX3nvybieHodt/zo+f/5mZt/wbCOPMNh2T1A+snsSHWIjuGpK3+oPKC2ATLNSO/2mN/LoRFou7/R1gKKycuKjHL415Varf/p6gWfWTKwy5SIiIhImTV8XqYcOnuJ2+/JLq9wnK7eEP32wip0HiyC2E9/1vR2AmTlv4PzqbijOaYqhArDDE5SP6JYU5gELzbXkSd2hQ89GG5dISxdpt/qy4YWedeVuT6bcZvFPX88v8U5f12/eIiIiEh4F5SL10CclDoBN2QVV7nP2Cwt5bdEOrn1zGQAbOk7lnfKjsVvcOBY8Sdkrp4HbVeXxDSnH0069V0D9gGpt/tZzwNGNMyCRVsJisfiy34WeCuxuX6bcX329oFSZchEREakdBeUi9dC/czwAa/fkUVQWutjb1v2FACzbkQNA5qFibim/jD+U3US+EU3EnsWw+MVGH6vbbVDkmWXfMS7M9nXe9eT9ZjTOoERaEe8U9sLScgzDwJMoD1pT7p2+HqOgXERERMKkoFykHgakxZMU4+BgYRmD//wVT83dGPT8rpzioMdZuSVsP1AIWIgacgIPlp9lPvHNfXBoe6OONa+kHDdm4JAUE0Yhv/0bzTZuVgf0ntKoYxNpDfxt0cp9ATmY09etnvnreSXmL18xkZq+LiIiIuFRUC5SD9ERNv5z4WG+xy/M2xL0/ILNB4Ien/WvBfy8ydx2zvjuvOY6hkXugeAshBemwpoPG22sBwvNuetxkXYi7TVk8VzlMOce837PIyEq/BZ5Im1VhM38yCx3Gb7K62AWevMG5Zq+LiIiIrWloFyknkZ378D7Vx4OeLLRAV/W52/eH7TvtgNFvvvjeiXTMS6am5yXU5TYF4r2wzsXws5fGmWcB4vMoDw5Nows+Ze3wfrPwBYBk25tlPGItFYG/vXkYK4nr7imXIXeREREJFwKykUawOAu/kxygWdt+arMXOas2QvA7TMH0j05hn6pcSTHRnDl5D44bFamDEgh00jlge4vwJBTAAM+vALy9zb4GFfvzgOgY2wN68lLC+DXV8z7p/0Hehze4GMRaY28FdbN9eQBmXKLWewN1BJNREREak8/5Ys0gCiHjQi7lbJyN3nFTr5YtYfb3lsFmFNeLzy8J5dP6lPpuEkDUnhnaSZrs0vggkfNFmQHNsEz42D0+TDlTnBEN8gYP1q+B4Bpg1Kr33HLd+AqM1ugDTyhQV5bpC3wBeUQPH09YE15uWd7tIJyERERCZMy5SINJCHKnBaeW+z0BeQAI7snEeUI/QU9o0MMAJmHiiAmGS76HDr1h5IcmP8kfHQ15GY2yPgyD5lF5yb161T9jms/Nm8HzPJHISKCBX9U7nb7t9usFmwV/q7EqtCbiIiIhElBuUgDSYg2v4TPevKnoO2juidVeUxGshmU780rpcTpguTecOVCmP2EucPqd+GxIfDECFj+Rp3HVlzmIqfYrArdJTGq6h3LS/1t0AafWOfXE2mLAuPuoDXlFgtWa3BQrpZoIiIiEi4F5SINJDE6dAG11Piqg+AOMQ7f2tPt3iJwVhuMuRBOfxnSR4HFCoe2wYeXw4Jn6zS23blmljzSahAfVUUGryQPPrgMSvMgrjN0G1en1xJp6wwMXAFBucVirisPFKNCbyIiIhImBeUiDcQ7fR3g46uPYGDneABmDE6r8hiLxcKIjCTArNRe7nLjdHnmxQ45BS79Hm7bDhOvNrd9dQe8dDyseKtWY9uTUwJAUqT5mpWU5sOLx8CaD8Bqh+n3+StXiQiAd/I6hoGvy4LVYv6dslacvq5MuYiIiIRJP+WLNJDOCf6MeL/UeN6+fCK5RU7fFPWqTOqfwvzNB3j4q/Xc98laenaM4e3LJpLqPV9UAsz4K0QmwPd/g+0/m/+V5cNhl4Q1tj2eTHmHCCP0Dqvegf0bIC4NznwVMpQlF6nEE3gbBr5MubcVmq1CqlyF3kRERCRcSoWJNJBh3RJ996MjbCREOWoMyAF+P7EHIzOSKCpzAWYv8zd+2Rm8k8UCk2+Da5fD8LPMbZ/dBD8/YUYINdiTa2bKE0N1QzMMWPpf8/7EqxSQi1TBlykHvMXXvTNPKgblmr4uIiIi4VJQLtJAzjwsgwsP78kTZ42s1XExEXZevuiwoG2b9xWE3jm5F5zyPBx1s/l4zp/h5VlQkF3ta/gy5ZEhntyxEPYsB3sUjDyvVmMXaU+C+pR7onJv1fXAZSFRDmulIF1ERESkKgrKRRqIw2bl3hOHcNLIrrU+NikmghfPH+t7vHV/YdU7Wyww9S6Y8iewR5tT2T+4LLhHUwDDMPgtK998nVDT1xc+Y94OPxNiO9Z67CLtRWCY7e1T7g2+S50u33PKkouIiEhtKCgXaSGmDU7j6xuOBmDLvgLKXaGDbMAMzCfdCn/81sxwb/4WFoauzP7m4p0s25GDw2ahb0JAUF54AN48F9Z9Yj6ecEVDvRWRNs2cvu4v9Ab4fvgCtUMTERGR2lFQLtKC9O4US2K0g8IyFysyc2s+IG0wHPs38/4391aqyp5TVMb/fboWgBun9SMlOuDJL26B3z4Fiw0m3Q6pgxrmTYi0UZaAQm++oDzENHUF5SIiIlIbCspFWhC7zcqR/ToB8MP66teJ+4y9GAaeAG4nfHApBV/ch+EJGNbuyaOozEXXpGguPryH/5is1bD6PfP+RZ/DlDsa8m2ItEn+8NvAO5HFFqLFoKavi4iISG0oKBdpYSb1TwHghw37eOa7Tcx47Ad+3XHI9/zLP2/lfwu3+w+wWOD0/5rZbiB64WO8/cEHAGQeMgu89U6JDc7ofXe/eTvkFOg+oRHfjUjb4S/05l9THipTHuXQR6uIiIiETz/ni7Qwkz1B+YrMXN8U9t89O58LD+/J8cO6cO8n5nT0Ywen+XuZ2+ww5Q4++PYnTrH9xJjlf4LZx7PLE5R36+Cft2757TNY/zlYrDD5ziZ8ZyKtmyUgV+6dvh4qU24NsU1ERESkKvo5X6SFSU2IYlCXhErbX56/jTP+ucD3eMn2Q5X2udd5PvuMRPpad8PLs4ja8T0W3HRNMoPyflkfY3/vAnPnUedBSv/GeRMibVioQm+BFJSLiIhIbSgoF2mBBnWJ992vairsvI37AbOY25n/XMD/Fmwjlzhudl5OsREBu5Zwxc5bmBd5PWdk3o/t/T8weM+75sHjL4fj/9Ho70OkTQlz+rpichEREakNBeUiLVBn77R04PQxGSH3eeOXHWzdX8irC7ezaOtB7v5oDQA/uEdwdOlj5A67mDwjhm6W/aRu+QDruo8AcI27DGY+CPbIxn8jIm2IN9Y2MPzT1z1B+ZgeHZppVCIiItLaKSgXaYHSAoLycb2SuXxSH9/ja6f29d2f8o/v2X6gqNLx++jA2pF3cVjps9wTdStMuxfX5D/xc9/bcU/7a+MOXqSNCiz05kmU+9aUv3zRYb79NH1dREREakOF3kRaoGiHv8/x+F7JzB6Rzu0zB7I3r4TU+Eh2HCziw+W7AXhnaWbIc2zZX0ApEazrMBWOnIjb6WT/559rbq1IHXkLvRn4p697/zrFRzn8++mvmIiIiNSCMuUiLdBhvZIBSImP9FdYx8ygWywW/jx7CAM7x1d1OAAb9xb4ziEi9RcYbLvdwdPXAylTLiIiIrWhoFykBerVKZY5NxzNl9cdFfL55NgI3rp0YrXn2LK/EICUOAXlIg3JMAxcvurrIQq9NfWAREREpFVTUC7SQvVLi6djNQF1YoyD22cOJDU+ksfPHFnp+a37zUx5aoKCcpGGEJQp964pD8iUXzO1L9EOG7fNHNjEIxMREZHWTGvKRVqxyyf18RWBu+mdFb51rgA7DxYDypSLNBTfmnLDP309MFN+04wBXDO1HxF2/d4tIiIi4dM3B5E24oFThoXcHrgmXUTqzld9HaPKPuUKyEVERKS29O1BpI04fWw3Pr3mSKYOTA3arky5SMPzrim3aQG5iIiI1JOCcpE2wmKxMLRrIh1jI4K2a025SMMyDLPYG6jSuoiIiNSfgnKRNiY6wt/jvFNcJB1iIqrZW0TCZbH415S73Oa2itPXRURERGpLQblIG5MWsIb82XNHh+yjLCK15/2bZBA4fV1/v0RERKR+VH1dpI0587AMSsvdnDginb6pcc09HJE2w1fozTB81df1o5eIiIjUl4JykTamU1wkN07v39zDEGlzAjPlbk+mXIlyERERqa9mnb7+448/Mnv2bNLT07FYLHz44YdBzxuGwZ///Ge6dOlCdHQ006ZNY+PGjc0zWBERadcsARG4S5lyERERaSDNGpQXFhYyYsQInnnmmZDPP/TQQzz55JM8//zzLFq0iNjYWI499lhKSkqaeKQiIiIehj9TrjXlIiIiUl/NOn195syZzJw5M+RzhmHw+OOPc9ddd3HSSScB8Morr5CWlsaHH37IWWed1ZRDFRGRds4/fd3AkyhX9XURERGptxa7pnzr1q1kZWUxbdo037bExETGjx/PggULqgzKS0tLKS0t9T3Oy8sDwOl04nQ6G2Rs3vM01PlEmoKuW2ltWto16+1NXl7uotwblRtGixmftAwt7boVqYmuWWmNWsN1W5uxtdigPCsrC4C0tLSg7Wlpab7nQnnggQe47777Km3/+uuviYmJadAxzpkzp0HPJ9IUdN1Ka9NSrtnsbCtgZeWqVbgMABv79mbx+eefN/PIpCVqKdetSLh0zUpr1JKv26KiorD3bbFBeV3dcccd3Hjjjb7HeXl5ZGRkMGPGDBISEhrkNZxOJ3PmzGH69Ok4HI4GOadIY9N1K61NS7tmPzm0jNWH9jFs2DBKnC7Yup6u6ekcf/zw5h6atCAt7boVqYmuWWmNWsN1652xHY4WG5R37twZgL1799KlSxff9r179zJy5Mgqj4uMjCQyMrLSdofD0eB/YI1xTpHGputWWpuWcs1arGZtVKvVhsVTJtVut7aIsUnL01KuW5Fw6ZqV1qglX7e1GVezVl+vTq9evejcuTNz5871bcvLy2PRokVMnDixGUcmIiLtUVChN8+acquqr4uIiEg9NWumvKCggE2bNvkeb926leXLl5OcnEz37t25/vrr+etf/0q/fv3o1asXd999N+np6Zx88snNN2gREWmXvPG3YYDLUFAuIiIiDaNZg/IlS5YwZcoU32PvWvALLriAl19+mVtvvZXCwkIuvfRScnJyOPLII/nyyy+JiopqriGLiEg7ZfHkyg3A5cmU21rsfDMRERFpLZo1KJ88ebKvxUwoFouFv/zlL/zlL39pwlGJiIhU5k2KPzZnA4f36QiATX3KRUREpJ70G7+IiEgYvEH5wcIyPl25x7NNQbmIiIjUj4JyERGROrIpKBcREZF6UlAuIiISBguVA3BNXxcREZH6UlAuIiISjhDxt6qvi4iISH0pKBcREQlDqPBbiXIRERGpLwXlIiIiYQhV1E3T10VERKS+FJSLiIjUkVVBuYiIiNSTgnIREZEwaPq6iIiINAYF5SIiImEIVdNNLdFERESkvhSUi4iIhCFkplypchEREaknBeUiIiJhCFnoTZlyERERqScF5SIiImFQplxEREQag4JyERGROrIqUy4iIiL1pKBcREQkHKEKvelTVEREROpJXydERETCYAkRlStTLiIiIvWloFxERCQMoeJvBeUiIiJSXwrKRUREwhAq/Lap0JuIiIjUk4JyERGROlL1dREREakvBeUiIiJhCDVTXX3KRUREpL4UlIuIiIQhdKG3ZhiIiIiItCkKykVERMIQstCbonIRERGpJwXlIiIiYdD0dREREWkMCspFRETCUjkAV/V1ERERqS8F5SIiInWkRLmIiIjUl4JyERGRMIScvq5MuYiIiNSTgnIREZEwhAq/taZcRERE6ktBuYiISBhCxd8WBeUiIiJSTwrKRUREwhCqT7mmr4uIiEh9KSgXERGpI5s+RUVERKSe9HVCREQkDKFmqls1fV1ERETqSUG5iIhIGEKF3wrKRUREpL4UlIuIiIQhVFE3rSkXERGR+lJQLiIiUkfKlIuIiEh9KSgXEREJQ6j4W5lyERERqS8F5SIiInWkmFxERETqS0G5iIhIGEL1KbcqKhcREZF6UlAuIiIShpDT17WmXEREROpJQbmIiEgYQoXfWlMuIiIi9aWgXEREJAyhkuJKlIuIiEh9KSgXERGpI2XKRUREpL4UlIuIiITBEiItrjXlIiIiUl8KykVERMIQKvx2G00+DBEREWljFJSLiIiEI0RU7nS5m34cIiIi0qYoKBcREQlDqD7lCspFRESkvhSUi4iIhCHU8vG4SHvTD0RERETaFH2bEBERqaU7Zg7EbUC/tPjmHoqIiIi0cgrKRUREwhCYKD9ldFdS46OabSwiIiLSdmj6uoiISBgCp69b1QpNREREGoiCchERkTAEFnpTSC4iIiINRUG5iIhIGAz8TcmVKRcREZGGoqBcREQkDG5/TB6yEruIiIhIXSgoFxERqSWLonIRERFpIArKRUREwmAEZMqtislFRESkgSgoFxERqSVlykVERKShKCgXEREJQ3Cht2YciIiIiLQpCspFRETCEVjoTU3RREREpIEoKBcREQlDQEyu6usiIiLSYBSUi4iI1JKCchEREWkoCspFRETCYBiBa8oVlYuIiEjDUFAuIiISBiNoTbmIiIhIw1BQLiIiUkvKlIuIiEhDUVAuIiISBhV6ExERkcagoFxERCQMQdPXFZWLiIhIA1FQLiIiEgYjKFcuIiIi0jAUlIuIiIiIiIg0EwXlIiIiYTCUKBcREZFGoKBcREREREREpJkoKBcREQmDoVS5iIiINAIF5SIiImFQSC4iIiKNoUUH5S6Xi7vvvptevXoRHR1Nnz59+L//+z9lK0RERERERKRNsDf3AKrz4IMP8txzz/Hf//6XIUOGsGTJEi666CISExO59tprm3t4IiLSjuj3YBEREWkMLToonz9/PieddBKzZs0CoGfPnrzxxhv88ssvzTwyERERERERkfpr0UH54Ycfzr/+9S82bNhA//79WbFiBT/99BOPPvpolceUlpZSWlrqe5yXlweA0+nE6XQ2yLi852mo84k0BV230tq0tGvW5Xb57reUMUnL09KuW5Ga6JqV1qg1XLe1GZvFaMELtN1uN3feeScPPfQQNpsNl8vF/fffzx133FHlMffeey/33Xdfpe2vv/46MTExjTlcERFpw97eYuXnvWYplicmljfzaERERKQlKyoq4pxzziE3N5eEhIRq923RQfmbb77JLbfcwsMPP8yQIUNYvnw5119/PY8++igXXHBByGNCZcozMjLYv39/jf8zwuV0OpkzZw7Tp0/H4XA0yDlFGpuuW2ltWto1e/fHa3lzcSYAG/9vRjOPRlqqlnbditRE16y0Rq3hus3Ly6NTp05hBeUtevr6Lbfcwu23385ZZ50FwLBhw9i+fTsPPPBAlUF5ZGQkkZGRlbY7HI4G/wNrjHOKNDZdt9LatJRr1mr1NyxpCeORlq2lXLci4dI1K61RS75uazOuFt0SraioKOhLEIDNZsPtdjfTiEREpL1qufPKREREpDVr0Zny2bNnc//999O9e3eGDBnCsmXLePTRR7n44oube2giItLuKCoXERGRhteig/KnnnqKu+++myuvvJLs7GzS09O57LLL+POf/9zcQxMRkXZGmXIRERFpDC06KI+Pj+fxxx/n8ccfb+6hiIhIO6egXERERBpDi15TLiIiIiIiItKWKSgXEREJg6E15SIiItIIFJSLiIiIiIiINBMF5SIiImHQmnIRERFpDArKRUREwqCYXERERBqDgnIREZEwKFMuIiIijUFBuYiISBhU6E1EREQag4JyERERERERkWaioFxERCQcSpSLiIhII1BQLiIiEgbF5CIiItIYFJSLiIiEwVClNxEREWkECspFREREREREmomCchERkTAoTy4iIiKNQUG5iIiIiIiISDNRUC4iIhIGLSkXERGRxqCgXEREJAxuReUiIiLSCBSUi4iIiIiIiDQTBeUiIiJhUJ5cREREGoOCchEREREREZFmoqBcREQkHEqVi4iISCNQUC4iIhIGQ1G5iIiINAIF5SIiImFQ8XURERFpDArKRURERERERJqJgnIREZEwdE6Mau4hiIiISBtkb+4BiIiItAbXT+vPwcIyTh7ZtbmHIiIiIm2IgnIREZEwJEY7eOKsUc09DBEREWljNH1dREREREREpJkoKBcRERERERFpJgrKRURERERERJqJgnIRERERERGRZqKgXERERERERKSZKCgXERERERERaSYKykVERERERESaiYJyERERERERkWaioFxERERERESkmSgoFxEREREREWkmCspFREREREREmomCchEREREREZFmoqBcREREREREpJkoKBcRERERERFpJgrKRURERERERJqJgnIRERERERGRZqKgXERERERERKSZKCgXERERERERaSb25h5AYzMMA4C8vLwGO6fT6aSoqIi8vDwcDkeDnVekMem6ldZG16y0RrpupbXRNSutUWu4br3xpzcerU6bD8rz8/MByMjIaOaRiIiIiIiISHuSn59PYmJitftYjHBC91bM7Xaze/du4uPjsVgsDXLOvLw8MjIy2LlzJwkJCQ1yTpHGputWWhtds9Ia6bqV1kbXrLRGreG6NQyD/Px80tPTsVqrXzXe5jPlVquVbt26Ncq5ExISWuxFIFIVXbfS2uialdZI1620NrpmpTVq6ddtTRlyLxV6ExEREREREWkmCspFREREREREmomC8jqIjIzknnvuITIysrmHIhI2XbfS2uialdZI1620NrpmpTVqa9dtmy/0JiIiIiIiItJSKVMuIiIiIiIi0kwUlIuIiIiIiIg0EwXlIiIiIiIiIs1EQbmIiIiIiIhIM2m3QfkDDzzAYYcdRnx8PKmpqZx88smsX78+aJ+SkhKuuuoqOnbsSFxcHKeeeip79+4N2ufaazepDcUAAAx2SURBVK9lzJgxREZGMnLkyJCv9dVXXzFhwgTi4+NJSUnh1FNPZdu2bY30zqStaspr9u2332bkyJHExMTQo0cPHn744cZ6W9LGNcR1u2LFCs4++2wyMjKIjo5m0KBBPPHEE5Ve6/vvv2f06NFERkbSt29fXn755cZ+e9IGNdU1u2fPHs455xz69++P1Wrl+uuvb4q3J21UU12377//PtOnTyclJYWEhAQmTpzIV1991STvUdqWprpmf/rpJ4444gg6duxIdHQ0AwcO5LHHHmuS91gb7TYo/+GHH7jqqqtYuHAhc+bMwel0MmPGDAoLC3373HDDDXzyySe88847/PDDD+zevZvf/e53lc518cUXc+aZZ4Z8na1bt3LSSScxdepUli9fzldffcX+/ftDnkekOk11zX7xxRece+65XH755axevZpnn32Wxx57jKeffrrR3pu0XQ1x3S5dupTU1FReffVV1qxZw5/+9CfuuOOOoGty69atzJo1iylTprB8+XKuv/56LrnkEn1ZlFprqmu2tLSUlJQU7rrrLkaMGNGk71Hanqa6bn/88UemT5/O559/ztKlS5kyZQqzZ89m2bJlTfp+pfVrqms2NjaWq6++mh9//JF169Zx1113cdddd/Gvf/2rSd9vjQwxDMMwsrOzDcD44YcfDMMwjJycHMPhcBjvvPOOb59169YZgLFgwYJKx99zzz3GiBEjKm1/5513DLvdbrhcLt+2jz/+2LBYLEZZWVnDvxFpNxrrmj377LON0047LWjbk08+aXTr1s1wu90N+yak3anvdet15ZVXGlOmTPE9vvXWW40hQ4YE7XPmmWcaxx57bAO/A2lvGuuaDTRp0iTjuuuua9BxS/vWFNet1+DBg4377ruvYQYu7VZTXrOnnHKKcd555zXMwBtIu82UV5SbmwtAcnIyYP7y4nQ6mTZtmm+fgQMH0r17dxYsWBD2eceMGYPVauWll17C5XKRm5vL//73P6ZNm4bD4WjYNyHtSmNds6WlpURFRQVti46OJjMzk+3btzfAyKU9a6jrNjc313cOgAULFgSdA+DYY4+t1bUvEkpjXbMijamprlu3201+fr6ubam3prpmly1bxvz585k0aVIDjbxhKCjH/Afl+uuv54gjjmDo0KEAZGVlERERQVJSUtC+aWlpZGVlhX3uXr168fXXX3PnnXcSGRlJUlISmZmZvP322w35FqSdacxr9thjj+X9999n7ty5uN1uNmzYwCOPPAKYayBF6qqhrtv58+fz1ltvcemll/q2ZWVlkZaWVukceXl5FBcXN+wbkXajMa9ZkcbSlNftP/7xDwoKCjjjjDMabPzS/jTFNdutWzciIyMZO3YsV111FZdcckmDv4/6sDf3AFqCq666itWrV/PTTz81+LmzsrL44x//yAUXXMDZZ59Nfn4+f/7znznttNOYM2cOFoulwV9T2r7GvGb/+Mc/snnzZk444QScTicJCQlcd9113HvvvVit+h1P6q4hrtvVq1dz0kkncc899zBjxowGHJ1IZbpmpTVqquv29ddf57777uOjjz4iNTW1zq8l0hTX7Lx58ygoKGDhwoXcfvvt9O3bl7PPPrs+w25Q7T4ov/rqq/n000/58ccf6datm297586dKSsrIycnJ+gXmr1799K5c+ewz//MM8+QmJjIQw895Nv26quvkpGRwaJFi5gwYUKDvA9pPxr7mrVYLDz44IP87W9/Iysri5SUFObOnQtA7969G+x9SPvSENft2rVrOeaYY7j00ku56667gp7r3LlzpU4De/fuJSEhgejo6IZ/Q9LmNfY1K9IYmuq6ffPNN7nkkkt45513Ki0dEqmNprpme/XqBcCwYcPYu3cv9957b4sKyttt2sswDK6++mo++OADvv32W98flNeYMWNwOBy+YARg/fr17Nixg4kTJ4b9OkVFRZWyizabDTCnaoiEq6muWS+bzUbXrl2JiIjgjTfeYOLEiaSkpNT7fUj70lDX7Zo1a5gyZQoXXHAB999/f6XXmThxYtA5AObMmVOna1/at6a6ZkUaUlNet2+88QYXXXQRb7zxBrNmzWqcNyRtXnP+W+t2uyktLW2YN9JQmrPKXHO64oorjMTEROP777839uzZ4/uvqKjIt8/ll19udO/e3fj222+NJUuWGBMnTjQmTpwYdJ6NGzcay5YtMy677DKjf//+xrJly4xly5YZpaWlhmEYxty5cw2LxWLcd999xoYNG4ylS5caxx57rNGjR4+g1xKpSVNds/v27TOee+45Y926dcayZcuMa6+91oiKijIWLVrUpO9X2oaGuG5XrVplpKSkGOedd17QObKzs337bNmyxYiJiTFuueUWY926dcYzzzxj2Gw248svv2zS9yutX1Nds4Zh+P79HTNmjHHOOecYy5YtM9asWdNk71Xajqa6bl977TXDbrcbzzzzTNA+OTk5Tfp+pfVrqmv26aefNj7++GNjw4YNxoYNG4wXX3zRiI+PN/70pz816futSbsNyoGQ/7300ku+fYqLi40rr7zS6NChgxETE2Occsopxp49e4LOM2nSpJDn2bp1q2+fN954wxg1apQRGxtrpKSkGCeeeKKxbt26Jnqn0lY01TW7b98+Y8KECUZsbKwRExNjHHPMMcbChQub8J1KW9IQ1+0999wT8hw9evQIeq3vvvvOGDlypBEREWH07t076DVEwtWU12w4+4iEo6mu26q+Q1xwwQVN92alTWiqa/bJJ580hgwZYsTExBgJCQnGqFGjjGeffTaoXXVLYDEMw6hbjl1ERERERERE6qPdrikXERERERERaW4KykVERERERESaiYJyERERERERkWaioFxERERERESkmSgoFxEREREREWkmCspFREREREREmomCchEREREREZFmoqBcREREREREpJkoKBcRERERERFpJgrKRURE2rgLL7wQi8WCxWLB4XCQlpbG9OnT+c9//oPb7Q77PC+//DJJSUmNN1AREZF2SEG5iIhIO3DcccexZ88etm3bxhdffMGUKVO47rrrOOGEEygvL2/u4YmIiLRbCspFRETagcjISDp37kzXrl0ZPXo0d955Jx999BFffPEFL7/8MgCPPvoow4YNIzY2loyMDK688koKCgoA+P7777nooovIzc31Zd3vvfdeAEpLS7n55pvp2rUrsbGxjB8/nu+//7553qiIiEgro6BcRESknZo6dSojRozg/fffB8BqtfLkk0+yZs0a/vvf//Ltt99y6623AnD44Yfz+OOPk5CQwJ49e9izZw8333wzAFdffTULFizgzTffZOXKlZx++ukcd9xxbNy4sdnem4iISGthMQzDaO5BiIiISOO58MILycnJ4cMPP6z03FlnncXKlStZu3ZtpefeffddLr/8cvbv3w+Ya8qvv/56cnJyfPvs2LGD3r17s2PHDtLT033bp02bxrhx4/jb3/7W4O9HRESkLbE39wBERESk+RiGgcViAeCbb77hgQce4LfffiMvL4/y8nJKSkooKioiJiYm5PGrVq3C5XLRv3//oO2lpaV07Nix0ccvIiLS2ikoFxERacfWrVtHr1692LZtGyeccAJXXHEF999/P8nJyfz000/84Q9/oKysrMqgvKCgAJvNxtKlS7HZbEHPxcXFNcVbEBERadUUlIuIiLRT3377LatWreKGG25g6dKluN1uHnnkEaxWs+TM22+/HbR/REQELpcraNuoUaNwuVxkZ2dz1FFHNdnYRURE2goF5SIiIu1AaWkpWVlZuFwu9u7dy5dffskDDzzACSecwPnnn8/q1atxOp089dRTzJ49m59//pnnn38+6Bw9e/akoKCAuXPnMmLECGJiYujfvz/nnnsu559/Po888gijRo1i3759zJ07l+HDhzNr1qxmesciIiKtg6qvi4iItANffvklXbp0oWfPnhx33HF89913PPnkk3z00UfYbDZGjBjBo48+yoMPPsjQoUN57bXXeOCBB4LOcfjhh3P55Zdz5plnkpKSwkMPPQTASy+9xPnnn89NN93EgAEDOPnkk1m8eDHdu3dvjrcqIiLSqqj6uoiIiIiIiEgzUaZcREREREREpJkoKBcRERERERFpJgrKRURERERERJqJgnIRERERERGRZqKgXERERERERKSZKCgXERERERERaSYKykVERERERESaiYJyERERERERkWaioFxERERERESkmSgoFxEREREREWkmCspFREREREREmsn/AxDtMgSEh/8ZAAAAAElFTkSuQmCC"/>
          <p:cNvSpPr>
            <a:spLocks noChangeAspect="1" noChangeArrowheads="1"/>
          </p:cNvSpPr>
          <p:nvPr/>
        </p:nvSpPr>
        <p:spPr bwMode="auto">
          <a:xfrm>
            <a:off x="155574" y="-144463"/>
            <a:ext cx="288937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786420" y="1655520"/>
            <a:ext cx="4061320" cy="31117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5574" y="196093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many high loan amounts are given to low credit score borrowers, it reflects a risky lending portfolio, requiring higher provisions for bad debts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From </a:t>
            </a:r>
            <a:r>
              <a:rPr lang="en-US" dirty="0"/>
              <a:t>a corporate finance view, riskier loans can increase credit loss expenses, reducing net income and affecting equity valuations.</a:t>
            </a:r>
          </a:p>
        </p:txBody>
      </p:sp>
    </p:spTree>
    <p:extLst>
      <p:ext uri="{BB962C8B-B14F-4D97-AF65-F5344CB8AC3E}">
        <p14:creationId xmlns:p14="http://schemas.microsoft.com/office/powerpoint/2010/main" val="26608564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83212" y="2110085"/>
            <a:ext cx="237757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</a:t>
            </a:r>
          </a:p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YOU</a:t>
            </a:r>
            <a:endParaRPr lang="en-US" sz="5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1346</Words>
  <Application>Microsoft Office PowerPoint</Application>
  <PresentationFormat>On-screen Show (16:9)</PresentationFormat>
  <Paragraphs>467</Paragraphs>
  <Slides>61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Algerian</vt:lpstr>
      <vt:lpstr>Arial</vt:lpstr>
      <vt:lpstr>Arial Unicode MS</vt:lpstr>
      <vt:lpstr>Calibri</vt:lpstr>
      <vt:lpstr>Office Theme</vt:lpstr>
      <vt:lpstr>COURSE INSTRUCTOR SIR DANIYAL HUSSAIN COURSE NO 617  FINANCIAL STIMULATION(I)</vt:lpstr>
      <vt:lpstr>Financial Forecasting Pipeline </vt:lpstr>
      <vt:lpstr>PowerPoint Presentation</vt:lpstr>
      <vt:lpstr>PowerPoint Presentation</vt:lpstr>
      <vt:lpstr>DATA COLLECTION</vt:lpstr>
      <vt:lpstr>DATA PREPROCESSING</vt:lpstr>
      <vt:lpstr>MODELING TECHNIQUES</vt:lpstr>
      <vt:lpstr>PowerPoint Presentation</vt:lpstr>
      <vt:lpstr>IMPORT LIBRARIES</vt:lpstr>
      <vt:lpstr>PowerPoint Presentation</vt:lpstr>
      <vt:lpstr>Data Acquisition &amp; Preparation python </vt:lpstr>
      <vt:lpstr>PowerPoint Presentation</vt:lpstr>
      <vt:lpstr>PowerPoint Presentation</vt:lpstr>
      <vt:lpstr>PowerPoint Presentation</vt:lpstr>
      <vt:lpstr>OUTPUT:</vt:lpstr>
      <vt:lpstr>PowerPoint Presentation</vt:lpstr>
      <vt:lpstr>PowerPoint Presentation</vt:lpstr>
      <vt:lpstr>OUTPUT:</vt:lpstr>
      <vt:lpstr>PowerPoint Presentation</vt:lpstr>
      <vt:lpstr>PowerPoint Presentation</vt:lpstr>
      <vt:lpstr>EXPENSES LINE GRAPH:</vt:lpstr>
      <vt:lpstr>STOCK PRICE PREDICTION:</vt:lpstr>
      <vt:lpstr>STOCK FORECASTING</vt:lpstr>
      <vt:lpstr>PowerPoint Presentation</vt:lpstr>
      <vt:lpstr>CODING:</vt:lpstr>
      <vt:lpstr>OUTPUT:</vt:lpstr>
      <vt:lpstr>PowerPoint Presentation</vt:lpstr>
      <vt:lpstr>PowerPoint Presentation</vt:lpstr>
      <vt:lpstr>CODING:</vt:lpstr>
      <vt:lpstr>OUTPUT:</vt:lpstr>
      <vt:lpstr>PowerPoint Presentation</vt:lpstr>
      <vt:lpstr>PowerPoint Presentation</vt:lpstr>
      <vt:lpstr>CREDIT RISK MODELING</vt:lpstr>
      <vt:lpstr>CODING:</vt:lpstr>
      <vt:lpstr>OUTPUT:</vt:lpstr>
      <vt:lpstr>PowerPoint Presentation</vt:lpstr>
      <vt:lpstr>REVENUE FORECASTING</vt:lpstr>
      <vt:lpstr>CODING:</vt:lpstr>
      <vt:lpstr>OUTPUT:</vt:lpstr>
      <vt:lpstr>PowerPoint Presentation</vt:lpstr>
      <vt:lpstr>CODING:</vt:lpstr>
      <vt:lpstr>PowerPoint Presentation</vt:lpstr>
      <vt:lpstr>PowerPoint Presentation</vt:lpstr>
      <vt:lpstr>CODING</vt:lpstr>
      <vt:lpstr>OUTPUT:</vt:lpstr>
      <vt:lpstr>PowerPoint Presentation</vt:lpstr>
      <vt:lpstr>BLACK-SCHOLES:</vt:lpstr>
      <vt:lpstr>FINANCIAL INTERPRETATIONS</vt:lpstr>
      <vt:lpstr>PowerPoint Presentation</vt:lpstr>
      <vt:lpstr>CODING:</vt:lpstr>
      <vt:lpstr>PowerPoint Presentation</vt:lpstr>
      <vt:lpstr>PowerPoint Presentation</vt:lpstr>
      <vt:lpstr>CODING:</vt:lpstr>
      <vt:lpstr>OUTPUT:</vt:lpstr>
      <vt:lpstr>PowerPoint Presentation</vt:lpstr>
      <vt:lpstr>CODING:</vt:lpstr>
      <vt:lpstr> </vt:lpstr>
      <vt:lpstr>PowerPoint Presentation</vt:lpstr>
      <vt:lpstr>CODING: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2025-05-01T18:17:22Z</dcterms:modified>
</cp:coreProperties>
</file>